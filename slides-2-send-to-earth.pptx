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9" r:id="rId7"/>
    <p:sldId id="270" r:id="rId8"/>
    <p:sldId id="261" r:id="rId9"/>
    <p:sldId id="271" r:id="rId22"/>
    <p:sldId id="262" r:id="rId10"/>
    <p:sldId id="263" r:id="rId11"/>
    <p:sldId id="264" r:id="rId12"/>
    <p:sldId id="265" r:id="rId13"/>
    <p:sldId id="267" r:id="rId14"/>
    <p:sldId id="266" r:id="rId15"/>
    <p:sldId id="268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70B1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3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22289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開場前播放。今天的任務：把上一節「拍」好的照片傳回地球。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回顧第一節：照片已用像素一格一格存好。拋出本節任務：照片還在火星上，要傳回地球。強調 19 分鐘與不能回問。（併入問題討論 6 分鐘）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開放腦力激盪，任何點子都先寫下來，不急著否定。約 3 分鐘收集想法。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帶全班逐一評估學生的提案，每張卡都讓學生自己說出為什麼不行，最後拋出「只送訊號」的方向。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收斂兩步：①照片已是一格格亮暗，可以像燈號一樣發送；②三億多公里外看不到手電筒，科學家用的是傳更遠的「無線電」。讓無線電是學生推理出來的結論。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收斂兩步：①照片已是一格格亮暗，可以像燈號一樣發送；②三億多公里外看不到手電筒，科學家用的是傳更遠的「無線電」。讓無線電是學生推理出來的結論。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6525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開放腦力激盪，任何點子都先寫下來，不急著否定。約 3 分鐘收集想法。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7012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全班一起約定四條規則並命名「通訊協定」。討論：為什麼用快速閃爍當記號（長亮混淆1、長暗混淆0，快速閃爍是資料中不可能出現的樣式）。（6 分鐘）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開啟「光訊號播送台」頁面。先試傳第 1 列練手，再播整張 5×5。人人一張接收紀錄單獨立抄收，播畢按揭曉答案全班比對。（8 分鐘）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分組傳輸 5×5 圖卡。遮光是成功關鍵（拉窗簾、關靠窗燈）。干擾太大改三組傳、三組觀察再交換。時間允許才輪替第二張；8×8 為選配進階。（12 分鐘）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兩輪對比就是教材：第一輪（電腦、完美節拍）是控制組，第二輪（人、會飄的節拍）是實驗組。讓學生自己說出差別。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收集剛才實際發生的狀況，幫它命名。錯誤是本節最珍貴的素材。（併協定破壞實驗共 6 分鐘）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投影對照表（詳見教師圖解「維京一號無線電傳圖」）。1976 年第一張火星照片正是這樣一列一列在控制室螢幕上長出來的。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投影「協定實驗室」：同一串訊號，寬度猜錯或 0/1 相反，照片立刻亂掉。歸納：代號、大小、順序、節拍缺一不可。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總結兩句話，拋出第三節懸念：只有黑白夠嗎？（2 分鐘）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kevin-tyc-dy.github.io/mars-first-eye/light-signal-broadcaster.html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kevin-tyc-dy.github.io/mars-first-eye/light-signal-receiver.html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MISSION 02 · 火星第一眼：1976 維京一號的拍照任務　1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0" y="105156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kern="0" spc="600" dirty="0">
                <a:solidFill>
                  <a:srgbClr val="5EC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 I S S I O N   0 2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0" y="1463040"/>
            <a:ext cx="121916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0" b="1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把照片傳回地球</a:t>
            </a:r>
            <a:endParaRPr lang="en-US" sz="6600" dirty="0"/>
          </a:p>
        </p:txBody>
      </p:sp>
      <p:sp>
        <p:nvSpPr>
          <p:cNvPr id="6" name="Text 3"/>
          <p:cNvSpPr/>
          <p:nvPr/>
        </p:nvSpPr>
        <p:spPr>
          <a:xfrm>
            <a:off x="0" y="269748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A9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火星第一眼：1976 維京一號的拍照任務・第二節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817724" y="3657600"/>
            <a:ext cx="384048" cy="384048"/>
          </a:xfrm>
          <a:prstGeom prst="rect">
            <a:avLst/>
          </a:prstGeom>
          <a:solidFill>
            <a:srgbClr val="0D1424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229204" y="3657600"/>
            <a:ext cx="384048" cy="384048"/>
          </a:xfrm>
          <a:prstGeom prst="rect">
            <a:avLst/>
          </a:prstGeom>
          <a:solidFill>
            <a:srgbClr val="FFB347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40684" y="3657600"/>
            <a:ext cx="384048" cy="384048"/>
          </a:xfrm>
          <a:prstGeom prst="rect">
            <a:avLst/>
          </a:prstGeom>
          <a:solidFill>
            <a:srgbClr val="FFB347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052164" y="3657600"/>
            <a:ext cx="384048" cy="384048"/>
          </a:xfrm>
          <a:prstGeom prst="rect">
            <a:avLst/>
          </a:prstGeom>
          <a:solidFill>
            <a:srgbClr val="0D1424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463644" y="3657600"/>
            <a:ext cx="384048" cy="384048"/>
          </a:xfrm>
          <a:prstGeom prst="rect">
            <a:avLst/>
          </a:prstGeom>
          <a:solidFill>
            <a:srgbClr val="FFB347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75124" y="3657600"/>
            <a:ext cx="384048" cy="384048"/>
          </a:xfrm>
          <a:prstGeom prst="rect">
            <a:avLst/>
          </a:prstGeom>
          <a:solidFill>
            <a:srgbClr val="0D1424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286604" y="3657600"/>
            <a:ext cx="384048" cy="384048"/>
          </a:xfrm>
          <a:prstGeom prst="rect">
            <a:avLst/>
          </a:prstGeom>
          <a:solidFill>
            <a:srgbClr val="0D1424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98084" y="3657600"/>
            <a:ext cx="384048" cy="384048"/>
          </a:xfrm>
          <a:prstGeom prst="rect">
            <a:avLst/>
          </a:prstGeom>
          <a:solidFill>
            <a:srgbClr val="FFB347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109564" y="3657600"/>
            <a:ext cx="384048" cy="384048"/>
          </a:xfrm>
          <a:prstGeom prst="rect">
            <a:avLst/>
          </a:prstGeom>
          <a:solidFill>
            <a:srgbClr val="FFB347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521044" y="3657600"/>
            <a:ext cx="384048" cy="384048"/>
          </a:xfrm>
          <a:prstGeom prst="rect">
            <a:avLst/>
          </a:prstGeom>
          <a:solidFill>
            <a:srgbClr val="FFB347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932524" y="3657600"/>
            <a:ext cx="384048" cy="384048"/>
          </a:xfrm>
          <a:prstGeom prst="rect">
            <a:avLst/>
          </a:prstGeom>
          <a:solidFill>
            <a:srgbClr val="FFB347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344004" y="3657600"/>
            <a:ext cx="384048" cy="384048"/>
          </a:xfrm>
          <a:prstGeom prst="rect">
            <a:avLst/>
          </a:prstGeom>
          <a:solidFill>
            <a:srgbClr val="FFB347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755484" y="3657600"/>
            <a:ext cx="384048" cy="384048"/>
          </a:xfrm>
          <a:prstGeom prst="rect">
            <a:avLst/>
          </a:prstGeom>
          <a:solidFill>
            <a:srgbClr val="0D1424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166964" y="3657600"/>
            <a:ext cx="384048" cy="384048"/>
          </a:xfrm>
          <a:prstGeom prst="rect">
            <a:avLst/>
          </a:prstGeom>
          <a:solidFill>
            <a:srgbClr val="FFB347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578444" y="3657600"/>
            <a:ext cx="384048" cy="384048"/>
          </a:xfrm>
          <a:prstGeom prst="rect">
            <a:avLst/>
          </a:prstGeom>
          <a:solidFill>
            <a:srgbClr val="FFB347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989924" y="3657600"/>
            <a:ext cx="384048" cy="384048"/>
          </a:xfrm>
          <a:prstGeom prst="rect">
            <a:avLst/>
          </a:prstGeom>
          <a:solidFill>
            <a:srgbClr val="0D1424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0" y="557784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任務控制中心・廣播即將開始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MISSION 02 · 火星第一眼：1976 維京一號的拍照任務　2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57200" y="4114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B3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【任務控制中心廣播】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234440"/>
            <a:ext cx="6949440" cy="4480560"/>
          </a:xfrm>
          <a:prstGeom prst="roundRect">
            <a:avLst>
              <a:gd name="adj" fmla="val 1633"/>
            </a:avLst>
          </a:prstGeom>
          <a:solidFill>
            <a:srgbClr val="0D1424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1554480"/>
            <a:ext cx="6232181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照片拍好了！
</a:t>
            </a:r>
            <a:endParaRPr lang="en-US" sz="26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2200" dirty="0" err="1" smtClean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可是它還存在維京一號的機器裡</a:t>
            </a:r>
            <a:r>
              <a:rPr lang="zh-TW" altLang="en-US" sz="2200" dirty="0" smtClean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</a:t>
            </a:r>
            <a:r>
              <a:rPr lang="en-US" sz="2200" dirty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
地球的科學家，還看不到人類第一張火星照片。</a:t>
            </a:r>
            <a:r>
              <a:rPr lang="en-US" sz="1700" dirty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
</a:t>
            </a:r>
            <a:endParaRPr lang="en-US" sz="2600" dirty="0"/>
          </a:p>
          <a:p>
            <a:pPr marL="0" indent="0">
              <a:buNone/>
            </a:pPr>
            <a:r>
              <a:rPr lang="en-US" sz="2200" b="1" dirty="0">
                <a:solidFill>
                  <a:srgbClr val="FFB3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本節任務：把照片傳回地球。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7772400" y="1234440"/>
            <a:ext cx="3977640" cy="4480560"/>
          </a:xfrm>
          <a:prstGeom prst="roundRect">
            <a:avLst>
              <a:gd name="adj" fmla="val 1839"/>
            </a:avLst>
          </a:prstGeom>
          <a:solidFill>
            <a:srgbClr val="0D1424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92440" y="1600200"/>
            <a:ext cx="33832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🛰  火星 ⇄ 地球
</a:t>
            </a:r>
            <a:endParaRPr lang="en-US" sz="1700" dirty="0"/>
          </a:p>
          <a:p>
            <a:pPr marL="0" indent="0">
              <a:buNone/>
            </a:pPr>
            <a:r>
              <a:rPr lang="en-US" sz="1900" b="1" dirty="0">
                <a:solidFill>
                  <a:srgbClr val="5EC8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距離約 3.4 億公里
</a:t>
            </a:r>
            <a:endParaRPr lang="en-US" sz="1700" dirty="0"/>
          </a:p>
          <a:p>
            <a:pPr marL="0" indent="0">
              <a:spcAft>
                <a:spcPts val="1000"/>
              </a:spcAft>
              <a:buNone/>
            </a:pPr>
            <a:r>
              <a:rPr lang="zh-TW" altLang="en-US" sz="1900" b="1" dirty="0" smtClean="0">
                <a:solidFill>
                  <a:srgbClr val="5EC8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維京一號飛行了</a:t>
            </a:r>
            <a:r>
              <a:rPr lang="en-US" altLang="zh-TW" sz="1900" b="1" dirty="0" smtClean="0">
                <a:solidFill>
                  <a:srgbClr val="5EC8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304</a:t>
            </a:r>
            <a:r>
              <a:rPr lang="zh-TW" altLang="en-US" sz="1900" b="1" dirty="0" smtClean="0">
                <a:solidFill>
                  <a:srgbClr val="5EC8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天</a:t>
            </a:r>
            <a:r>
              <a:rPr lang="en-US" sz="1400" dirty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
</a:t>
            </a:r>
            <a:endParaRPr lang="en-US" sz="1700" dirty="0"/>
          </a:p>
          <a:p>
            <a:pPr marL="0" indent="0">
              <a:spcAft>
                <a:spcPts val="800"/>
              </a:spcAft>
              <a:buNone/>
            </a:pPr>
            <a:r>
              <a:rPr lang="zh-TW" altLang="en-US" sz="1600" b="1" dirty="0" smtClean="0">
                <a:solidFill>
                  <a:srgbClr val="FF5C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這張拍好的火星照片要怎麼送回地球</a:t>
            </a:r>
            <a:r>
              <a:rPr lang="en-US" sz="1600" b="1" dirty="0">
                <a:solidFill>
                  <a:srgbClr val="FF5C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
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MISSION 02 · 火星第一眼：1976 維京一號的拍照任務　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57200" y="4114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5C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❓ </a:t>
            </a:r>
            <a:r>
              <a:rPr lang="zh-TW" altLang="en-US" sz="2400" b="1" dirty="0" smtClean="0">
                <a:solidFill>
                  <a:srgbClr val="FF5C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我來考考你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0" y="182880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照片在火星、科學家在地球。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0" y="237744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要用什麼方法，把照片送回地球？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3108959" y="3931920"/>
            <a:ext cx="7360501" cy="1371600"/>
          </a:xfrm>
          <a:prstGeom prst="roundRect">
            <a:avLst>
              <a:gd name="adj" fmla="val 5333"/>
            </a:avLst>
          </a:prstGeom>
          <a:solidFill>
            <a:srgbClr val="0D1424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429000" y="4206240"/>
            <a:ext cx="68978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FFB3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小組腦力激盪 2 </a:t>
            </a:r>
            <a:r>
              <a:rPr lang="en-US" sz="1800" b="1" dirty="0" err="1" smtClean="0">
                <a:solidFill>
                  <a:srgbClr val="FFB3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分鐘</a:t>
            </a:r>
            <a:endParaRPr lang="en-US" sz="1800" dirty="0"/>
          </a:p>
          <a:p>
            <a:endParaRPr lang="en-US" dirty="0" smtClean="0">
              <a:solidFill>
                <a:srgbClr val="C9D6E8"/>
              </a:solidFill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  <a:p>
            <a:r>
              <a:rPr lang="zh-TW" altLang="en-US" dirty="0" smtClean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每一組最少想兩個方法，並說明如何做以及可能會遇到的問題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MISSION 02 · 火星第一眼：1976 維京一號的拍照任務　4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3000" b="1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可能的辦法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3611880" cy="3017520"/>
          </a:xfrm>
          <a:prstGeom prst="roundRect">
            <a:avLst>
              <a:gd name="adj" fmla="val 2424"/>
            </a:avLst>
          </a:prstGeom>
          <a:solidFill>
            <a:srgbClr val="0D1424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155448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chemeClr val="bg1"/>
                </a:solidFill>
              </a:rPr>
              <a:t>🚀</a:t>
            </a:r>
          </a:p>
        </p:txBody>
      </p:sp>
      <p:sp>
        <p:nvSpPr>
          <p:cNvPr id="7" name="Text 4"/>
          <p:cNvSpPr/>
          <p:nvPr/>
        </p:nvSpPr>
        <p:spPr>
          <a:xfrm>
            <a:off x="457200" y="224028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用火箭載回來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31520" y="288036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dirty="0">
                <a:solidFill>
                  <a:srgbClr val="FF5C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✘ 來回要飛好幾年，</a:t>
            </a:r>
            <a:endParaRPr lang="en-US" sz="2500" dirty="0"/>
          </a:p>
          <a:p>
            <a:pPr marL="0" indent="0" algn="ctr">
              <a:buNone/>
            </a:pPr>
            <a:r>
              <a:rPr lang="en-US" sz="2500" dirty="0">
                <a:solidFill>
                  <a:srgbClr val="FF5C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科學家等不及</a:t>
            </a:r>
            <a:endParaRPr lang="en-US" sz="2500" dirty="0"/>
          </a:p>
        </p:txBody>
      </p:sp>
      <p:sp>
        <p:nvSpPr>
          <p:cNvPr id="9" name="Shape 6"/>
          <p:cNvSpPr/>
          <p:nvPr/>
        </p:nvSpPr>
        <p:spPr>
          <a:xfrm>
            <a:off x="4434840" y="1325880"/>
            <a:ext cx="3611880" cy="3017520"/>
          </a:xfrm>
          <a:prstGeom prst="roundRect">
            <a:avLst>
              <a:gd name="adj" fmla="val 2424"/>
            </a:avLst>
          </a:prstGeom>
          <a:solidFill>
            <a:srgbClr val="0D1424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434840" y="155448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chemeClr val="bg1"/>
                </a:solidFill>
              </a:rPr>
              <a:t>✉</a:t>
            </a:r>
          </a:p>
        </p:txBody>
      </p:sp>
      <p:sp>
        <p:nvSpPr>
          <p:cNvPr id="11" name="Text 8"/>
          <p:cNvSpPr/>
          <p:nvPr/>
        </p:nvSpPr>
        <p:spPr>
          <a:xfrm>
            <a:off x="4434840" y="224028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請人送回來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4709160" y="288036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dirty="0">
                <a:solidFill>
                  <a:srgbClr val="FF5C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✘ 太空裡</a:t>
            </a:r>
            <a:endParaRPr lang="en-US" sz="2500" dirty="0"/>
          </a:p>
          <a:p>
            <a:pPr marL="0" indent="0" algn="ctr">
              <a:buNone/>
            </a:pPr>
            <a:r>
              <a:rPr lang="en-US" sz="2500" dirty="0">
                <a:solidFill>
                  <a:srgbClr val="FF5C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沒有郵差</a:t>
            </a:r>
            <a:endParaRPr lang="en-US" sz="2500" dirty="0"/>
          </a:p>
        </p:txBody>
      </p:sp>
      <p:sp>
        <p:nvSpPr>
          <p:cNvPr id="13" name="Shape 10"/>
          <p:cNvSpPr/>
          <p:nvPr/>
        </p:nvSpPr>
        <p:spPr>
          <a:xfrm>
            <a:off x="8412480" y="1325880"/>
            <a:ext cx="3611880" cy="3017520"/>
          </a:xfrm>
          <a:prstGeom prst="roundRect">
            <a:avLst>
              <a:gd name="adj" fmla="val 2424"/>
            </a:avLst>
          </a:prstGeom>
          <a:solidFill>
            <a:srgbClr val="0D1424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412480" y="155448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chemeClr val="bg1"/>
                </a:solidFill>
              </a:rPr>
              <a:t>🔌</a:t>
            </a:r>
          </a:p>
        </p:txBody>
      </p:sp>
      <p:sp>
        <p:nvSpPr>
          <p:cNvPr id="15" name="Text 12"/>
          <p:cNvSpPr/>
          <p:nvPr/>
        </p:nvSpPr>
        <p:spPr>
          <a:xfrm>
            <a:off x="8412480" y="224028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拉一條電線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8686800" y="288036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dirty="0">
                <a:solidFill>
                  <a:srgbClr val="FF5C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✘ 三億多公里，</a:t>
            </a:r>
            <a:endParaRPr lang="en-US" sz="2500" dirty="0"/>
          </a:p>
          <a:p>
            <a:pPr marL="0" indent="0" algn="ctr">
              <a:buNone/>
            </a:pPr>
            <a:r>
              <a:rPr lang="en-US" sz="2500" dirty="0">
                <a:solidFill>
                  <a:srgbClr val="FF5C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沒有那麼長的線</a:t>
            </a:r>
            <a:endParaRPr lang="en-US" sz="2500" dirty="0"/>
          </a:p>
        </p:txBody>
      </p:sp>
      <p:sp>
        <p:nvSpPr>
          <p:cNvPr id="17" name="Text 14"/>
          <p:cNvSpPr/>
          <p:nvPr/>
        </p:nvSpPr>
        <p:spPr>
          <a:xfrm>
            <a:off x="457200" y="484632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zh-TW" altLang="en-US" sz="2200" b="1" dirty="0" smtClean="0">
                <a:solidFill>
                  <a:srgbClr val="FFB3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這些方法都不行</a:t>
            </a:r>
            <a:r>
              <a:rPr lang="en-US" sz="2200" b="1" dirty="0" smtClean="0">
                <a:solidFill>
                  <a:srgbClr val="FFB3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……</a:t>
            </a:r>
            <a:r>
              <a:rPr lang="en-US" sz="2200" b="1" dirty="0" err="1">
                <a:solidFill>
                  <a:srgbClr val="FFB3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那，</a:t>
            </a:r>
            <a:r>
              <a:rPr lang="en-US" sz="2200" b="1" dirty="0" err="1" smtClean="0">
                <a:solidFill>
                  <a:srgbClr val="FFB3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有沒有不用送</a:t>
            </a:r>
            <a:r>
              <a:rPr lang="zh-TW" altLang="en-US" sz="2200" b="1" dirty="0">
                <a:solidFill>
                  <a:srgbClr val="FFB3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照片</a:t>
            </a:r>
            <a:r>
              <a:rPr lang="en-US" sz="2200" b="1" dirty="0" smtClean="0">
                <a:solidFill>
                  <a:srgbClr val="FFB3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、</a:t>
            </a:r>
            <a:r>
              <a:rPr lang="en-US" sz="2200" b="1" dirty="0">
                <a:solidFill>
                  <a:srgbClr val="FFB3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只送「訊號」的方法？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MISSION 02 · 火星第一眼：1976 維京一號的拍照任務　5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照片，已經是一格一格的「亮」和「暗</a:t>
            </a:r>
            <a:r>
              <a:rPr lang="en-US" sz="3000" b="1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」</a:t>
            </a:r>
            <a:r>
              <a:rPr lang="zh-TW" altLang="en-US" sz="3000" b="1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，用「光」來傳送訊息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822960" y="1554480"/>
            <a:ext cx="566928" cy="566928"/>
          </a:xfrm>
          <a:prstGeom prst="rect">
            <a:avLst/>
          </a:prstGeom>
          <a:solidFill>
            <a:srgbClr val="0D1424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389888" y="1554480"/>
            <a:ext cx="566928" cy="566928"/>
          </a:xfrm>
          <a:prstGeom prst="rect">
            <a:avLst/>
          </a:prstGeom>
          <a:solidFill>
            <a:srgbClr val="F2E3C8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956816" y="1554480"/>
            <a:ext cx="566928" cy="566928"/>
          </a:xfrm>
          <a:prstGeom prst="rect">
            <a:avLst/>
          </a:prstGeom>
          <a:solidFill>
            <a:srgbClr val="F2E3C8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523744" y="1554480"/>
            <a:ext cx="566928" cy="566928"/>
          </a:xfrm>
          <a:prstGeom prst="rect">
            <a:avLst/>
          </a:prstGeom>
          <a:solidFill>
            <a:srgbClr val="F2E3C8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090672" y="1554480"/>
            <a:ext cx="566928" cy="566928"/>
          </a:xfrm>
          <a:prstGeom prst="rect">
            <a:avLst/>
          </a:prstGeom>
          <a:solidFill>
            <a:srgbClr val="0D1424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2121408"/>
            <a:ext cx="566928" cy="566928"/>
          </a:xfrm>
          <a:prstGeom prst="rect">
            <a:avLst/>
          </a:prstGeom>
          <a:solidFill>
            <a:srgbClr val="F2E3C8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389888" y="2121408"/>
            <a:ext cx="566928" cy="566928"/>
          </a:xfrm>
          <a:prstGeom prst="rect">
            <a:avLst/>
          </a:prstGeom>
          <a:solidFill>
            <a:srgbClr val="F2E3C8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956816" y="2121408"/>
            <a:ext cx="566928" cy="566928"/>
          </a:xfrm>
          <a:prstGeom prst="rect">
            <a:avLst/>
          </a:prstGeom>
          <a:solidFill>
            <a:srgbClr val="0D1424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523744" y="2121408"/>
            <a:ext cx="566928" cy="566928"/>
          </a:xfrm>
          <a:prstGeom prst="rect">
            <a:avLst/>
          </a:prstGeom>
          <a:solidFill>
            <a:srgbClr val="F2E3C8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090672" y="2121408"/>
            <a:ext cx="566928" cy="566928"/>
          </a:xfrm>
          <a:prstGeom prst="rect">
            <a:avLst/>
          </a:prstGeom>
          <a:solidFill>
            <a:srgbClr val="F2E3C8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22960" y="2688336"/>
            <a:ext cx="566928" cy="566928"/>
          </a:xfrm>
          <a:prstGeom prst="rect">
            <a:avLst/>
          </a:prstGeom>
          <a:solidFill>
            <a:srgbClr val="F2E3C8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389888" y="2688336"/>
            <a:ext cx="566928" cy="566928"/>
          </a:xfrm>
          <a:prstGeom prst="rect">
            <a:avLst/>
          </a:prstGeom>
          <a:solidFill>
            <a:srgbClr val="0D1424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956816" y="2688336"/>
            <a:ext cx="566928" cy="566928"/>
          </a:xfrm>
          <a:prstGeom prst="rect">
            <a:avLst/>
          </a:prstGeom>
          <a:solidFill>
            <a:srgbClr val="0D1424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523744" y="2688336"/>
            <a:ext cx="566928" cy="566928"/>
          </a:xfrm>
          <a:prstGeom prst="rect">
            <a:avLst/>
          </a:prstGeom>
          <a:solidFill>
            <a:srgbClr val="0D1424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090672" y="2688336"/>
            <a:ext cx="566928" cy="566928"/>
          </a:xfrm>
          <a:prstGeom prst="rect">
            <a:avLst/>
          </a:prstGeom>
          <a:solidFill>
            <a:srgbClr val="F2E3C8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22960" y="3255264"/>
            <a:ext cx="566928" cy="566928"/>
          </a:xfrm>
          <a:prstGeom prst="rect">
            <a:avLst/>
          </a:prstGeom>
          <a:solidFill>
            <a:srgbClr val="F2E3C8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389888" y="3255264"/>
            <a:ext cx="566928" cy="566928"/>
          </a:xfrm>
          <a:prstGeom prst="rect">
            <a:avLst/>
          </a:prstGeom>
          <a:solidFill>
            <a:srgbClr val="F2E3C8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956816" y="3255264"/>
            <a:ext cx="566928" cy="566928"/>
          </a:xfrm>
          <a:prstGeom prst="rect">
            <a:avLst/>
          </a:prstGeom>
          <a:solidFill>
            <a:srgbClr val="0D1424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523744" y="3255264"/>
            <a:ext cx="566928" cy="566928"/>
          </a:xfrm>
          <a:prstGeom prst="rect">
            <a:avLst/>
          </a:prstGeom>
          <a:solidFill>
            <a:srgbClr val="F2E3C8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090672" y="3255264"/>
            <a:ext cx="566928" cy="566928"/>
          </a:xfrm>
          <a:prstGeom prst="rect">
            <a:avLst/>
          </a:prstGeom>
          <a:solidFill>
            <a:srgbClr val="F2E3C8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22960" y="3822192"/>
            <a:ext cx="566928" cy="566928"/>
          </a:xfrm>
          <a:prstGeom prst="rect">
            <a:avLst/>
          </a:prstGeom>
          <a:solidFill>
            <a:srgbClr val="0D1424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389888" y="3822192"/>
            <a:ext cx="566928" cy="566928"/>
          </a:xfrm>
          <a:prstGeom prst="rect">
            <a:avLst/>
          </a:prstGeom>
          <a:solidFill>
            <a:srgbClr val="F2E3C8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956816" y="3822192"/>
            <a:ext cx="566928" cy="566928"/>
          </a:xfrm>
          <a:prstGeom prst="rect">
            <a:avLst/>
          </a:prstGeom>
          <a:solidFill>
            <a:srgbClr val="F2E3C8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2523744" y="3822192"/>
            <a:ext cx="566928" cy="566928"/>
          </a:xfrm>
          <a:prstGeom prst="rect">
            <a:avLst/>
          </a:prstGeom>
          <a:solidFill>
            <a:srgbClr val="F2E3C8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090672" y="3822192"/>
            <a:ext cx="566928" cy="566928"/>
          </a:xfrm>
          <a:prstGeom prst="rect">
            <a:avLst/>
          </a:prstGeom>
          <a:solidFill>
            <a:srgbClr val="0D1424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40080" y="45720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A9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上一節的紀錄卡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3977640" y="2743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FFB347"/>
                </a:solidFill>
              </a:rPr>
              <a:t>→</a:t>
            </a:r>
            <a:endParaRPr lang="en-US" sz="3200" dirty="0"/>
          </a:p>
        </p:txBody>
      </p:sp>
      <p:sp>
        <p:nvSpPr>
          <p:cNvPr id="32" name="Shape 29"/>
          <p:cNvSpPr/>
          <p:nvPr/>
        </p:nvSpPr>
        <p:spPr>
          <a:xfrm>
            <a:off x="4846320" y="2834640"/>
            <a:ext cx="457200" cy="457200"/>
          </a:xfrm>
          <a:prstGeom prst="rect">
            <a:avLst/>
          </a:prstGeom>
          <a:solidFill>
            <a:srgbClr val="0D1424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330952" y="2834640"/>
            <a:ext cx="457200" cy="457200"/>
          </a:xfrm>
          <a:prstGeom prst="rect">
            <a:avLst/>
          </a:prstGeom>
          <a:solidFill>
            <a:srgbClr val="FFB347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815584" y="2834640"/>
            <a:ext cx="457200" cy="457200"/>
          </a:xfrm>
          <a:prstGeom prst="rect">
            <a:avLst/>
          </a:prstGeom>
          <a:solidFill>
            <a:srgbClr val="FFB347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300216" y="2834640"/>
            <a:ext cx="457200" cy="457200"/>
          </a:xfrm>
          <a:prstGeom prst="rect">
            <a:avLst/>
          </a:prstGeom>
          <a:solidFill>
            <a:srgbClr val="FFB347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784848" y="2834640"/>
            <a:ext cx="457200" cy="457200"/>
          </a:xfrm>
          <a:prstGeom prst="rect">
            <a:avLst/>
          </a:prstGeom>
          <a:solidFill>
            <a:srgbClr val="0D1424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7269480" y="2834640"/>
            <a:ext cx="457200" cy="457200"/>
          </a:xfrm>
          <a:prstGeom prst="rect">
            <a:avLst/>
          </a:prstGeom>
          <a:solidFill>
            <a:srgbClr val="FFB347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7754112" y="2834640"/>
            <a:ext cx="457200" cy="457200"/>
          </a:xfrm>
          <a:prstGeom prst="rect">
            <a:avLst/>
          </a:prstGeom>
          <a:solidFill>
            <a:srgbClr val="0D1424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572000" y="35204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 err="1">
                <a:solidFill>
                  <a:srgbClr val="7A9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一格一格</a:t>
            </a:r>
            <a:r>
              <a:rPr lang="en-US" sz="1300" dirty="0" smtClean="0">
                <a:solidFill>
                  <a:srgbClr val="7A9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、</a:t>
            </a:r>
            <a:r>
              <a:rPr lang="zh-TW" altLang="en-US" sz="1300" dirty="0" smtClean="0">
                <a:solidFill>
                  <a:srgbClr val="7A9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</a:t>
            </a:r>
            <a:r>
              <a:rPr lang="en-US" sz="1300" dirty="0" smtClean="0">
                <a:solidFill>
                  <a:srgbClr val="7A9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亮</a:t>
            </a:r>
            <a:r>
              <a:rPr lang="zh-TW" altLang="en-US" sz="1300" dirty="0" smtClean="0">
                <a:solidFill>
                  <a:srgbClr val="7A9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和</a:t>
            </a:r>
            <a:r>
              <a:rPr lang="en-US" sz="1300" dirty="0" smtClean="0">
                <a:solidFill>
                  <a:srgbClr val="7A9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暗</a:t>
            </a:r>
            <a:r>
              <a:rPr lang="zh-TW" altLang="en-US" sz="1300" dirty="0" smtClean="0">
                <a:solidFill>
                  <a:srgbClr val="7A9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的訊號</a:t>
            </a:r>
            <a:r>
              <a:rPr lang="en-US" sz="1300" dirty="0" smtClean="0">
                <a:solidFill>
                  <a:srgbClr val="7A9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</a:t>
            </a:r>
            <a:r>
              <a:rPr lang="zh-TW" altLang="en-US" sz="1300" dirty="0" smtClean="0">
                <a:solidFill>
                  <a:srgbClr val="7A9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送</a:t>
            </a:r>
            <a:r>
              <a:rPr lang="en-US" sz="1300" dirty="0" err="1" smtClean="0">
                <a:solidFill>
                  <a:srgbClr val="7A9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出去</a:t>
            </a:r>
            <a:endParaRPr lang="en-US" sz="1300" dirty="0"/>
          </a:p>
        </p:txBody>
      </p:sp>
      <p:sp>
        <p:nvSpPr>
          <p:cNvPr id="43" name="Shape 4"/>
          <p:cNvSpPr/>
          <p:nvPr/>
        </p:nvSpPr>
        <p:spPr>
          <a:xfrm>
            <a:off x="4411286" y="4736592"/>
            <a:ext cx="7360501" cy="1371600"/>
          </a:xfrm>
          <a:prstGeom prst="roundRect">
            <a:avLst>
              <a:gd name="adj" fmla="val 5333"/>
            </a:avLst>
          </a:prstGeom>
          <a:solidFill>
            <a:srgbClr val="0D1424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44" name="Text 5"/>
          <p:cNvSpPr/>
          <p:nvPr/>
        </p:nvSpPr>
        <p:spPr>
          <a:xfrm>
            <a:off x="5303520" y="5338618"/>
            <a:ext cx="6518564" cy="3277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zh-TW" altLang="en-US" sz="2000" b="1" dirty="0" smtClean="0">
                <a:solidFill>
                  <a:srgbClr val="FFB3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這樣</a:t>
            </a:r>
            <a:r>
              <a:rPr lang="zh-TW" altLang="en-US" sz="2000" dirty="0" smtClean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不用照片、不用聲音，就能夠有效傳送訊息了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MISSION 02 · 火星第一眼：1976 維京一號的拍照任務　5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照片，已經是一格一格的「亮」和「暗」！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822960" y="1554480"/>
            <a:ext cx="566928" cy="566928"/>
          </a:xfrm>
          <a:prstGeom prst="rect">
            <a:avLst/>
          </a:prstGeom>
          <a:solidFill>
            <a:srgbClr val="0D1424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389888" y="1554480"/>
            <a:ext cx="566928" cy="566928"/>
          </a:xfrm>
          <a:prstGeom prst="rect">
            <a:avLst/>
          </a:prstGeom>
          <a:solidFill>
            <a:srgbClr val="F2E3C8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956816" y="1554480"/>
            <a:ext cx="566928" cy="566928"/>
          </a:xfrm>
          <a:prstGeom prst="rect">
            <a:avLst/>
          </a:prstGeom>
          <a:solidFill>
            <a:srgbClr val="F2E3C8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523744" y="1554480"/>
            <a:ext cx="566928" cy="566928"/>
          </a:xfrm>
          <a:prstGeom prst="rect">
            <a:avLst/>
          </a:prstGeom>
          <a:solidFill>
            <a:srgbClr val="F2E3C8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090672" y="1554480"/>
            <a:ext cx="566928" cy="566928"/>
          </a:xfrm>
          <a:prstGeom prst="rect">
            <a:avLst/>
          </a:prstGeom>
          <a:solidFill>
            <a:srgbClr val="0D1424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2121408"/>
            <a:ext cx="566928" cy="566928"/>
          </a:xfrm>
          <a:prstGeom prst="rect">
            <a:avLst/>
          </a:prstGeom>
          <a:solidFill>
            <a:srgbClr val="F2E3C8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389888" y="2121408"/>
            <a:ext cx="566928" cy="566928"/>
          </a:xfrm>
          <a:prstGeom prst="rect">
            <a:avLst/>
          </a:prstGeom>
          <a:solidFill>
            <a:srgbClr val="F2E3C8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956816" y="2121408"/>
            <a:ext cx="566928" cy="566928"/>
          </a:xfrm>
          <a:prstGeom prst="rect">
            <a:avLst/>
          </a:prstGeom>
          <a:solidFill>
            <a:srgbClr val="0D1424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523744" y="2121408"/>
            <a:ext cx="566928" cy="566928"/>
          </a:xfrm>
          <a:prstGeom prst="rect">
            <a:avLst/>
          </a:prstGeom>
          <a:solidFill>
            <a:srgbClr val="F2E3C8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090672" y="2121408"/>
            <a:ext cx="566928" cy="566928"/>
          </a:xfrm>
          <a:prstGeom prst="rect">
            <a:avLst/>
          </a:prstGeom>
          <a:solidFill>
            <a:srgbClr val="F2E3C8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22960" y="2688336"/>
            <a:ext cx="566928" cy="566928"/>
          </a:xfrm>
          <a:prstGeom prst="rect">
            <a:avLst/>
          </a:prstGeom>
          <a:solidFill>
            <a:srgbClr val="F2E3C8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389888" y="2688336"/>
            <a:ext cx="566928" cy="566928"/>
          </a:xfrm>
          <a:prstGeom prst="rect">
            <a:avLst/>
          </a:prstGeom>
          <a:solidFill>
            <a:srgbClr val="0D1424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956816" y="2688336"/>
            <a:ext cx="566928" cy="566928"/>
          </a:xfrm>
          <a:prstGeom prst="rect">
            <a:avLst/>
          </a:prstGeom>
          <a:solidFill>
            <a:srgbClr val="0D1424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523744" y="2688336"/>
            <a:ext cx="566928" cy="566928"/>
          </a:xfrm>
          <a:prstGeom prst="rect">
            <a:avLst/>
          </a:prstGeom>
          <a:solidFill>
            <a:srgbClr val="0D1424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090672" y="2688336"/>
            <a:ext cx="566928" cy="566928"/>
          </a:xfrm>
          <a:prstGeom prst="rect">
            <a:avLst/>
          </a:prstGeom>
          <a:solidFill>
            <a:srgbClr val="F2E3C8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22960" y="3255264"/>
            <a:ext cx="566928" cy="566928"/>
          </a:xfrm>
          <a:prstGeom prst="rect">
            <a:avLst/>
          </a:prstGeom>
          <a:solidFill>
            <a:srgbClr val="F2E3C8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389888" y="3255264"/>
            <a:ext cx="566928" cy="566928"/>
          </a:xfrm>
          <a:prstGeom prst="rect">
            <a:avLst/>
          </a:prstGeom>
          <a:solidFill>
            <a:srgbClr val="F2E3C8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956816" y="3255264"/>
            <a:ext cx="566928" cy="566928"/>
          </a:xfrm>
          <a:prstGeom prst="rect">
            <a:avLst/>
          </a:prstGeom>
          <a:solidFill>
            <a:srgbClr val="0D1424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523744" y="3255264"/>
            <a:ext cx="566928" cy="566928"/>
          </a:xfrm>
          <a:prstGeom prst="rect">
            <a:avLst/>
          </a:prstGeom>
          <a:solidFill>
            <a:srgbClr val="F2E3C8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090672" y="3255264"/>
            <a:ext cx="566928" cy="566928"/>
          </a:xfrm>
          <a:prstGeom prst="rect">
            <a:avLst/>
          </a:prstGeom>
          <a:solidFill>
            <a:srgbClr val="F2E3C8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22960" y="3822192"/>
            <a:ext cx="566928" cy="566928"/>
          </a:xfrm>
          <a:prstGeom prst="rect">
            <a:avLst/>
          </a:prstGeom>
          <a:solidFill>
            <a:srgbClr val="0D1424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389888" y="3822192"/>
            <a:ext cx="566928" cy="566928"/>
          </a:xfrm>
          <a:prstGeom prst="rect">
            <a:avLst/>
          </a:prstGeom>
          <a:solidFill>
            <a:srgbClr val="F2E3C8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956816" y="3822192"/>
            <a:ext cx="566928" cy="566928"/>
          </a:xfrm>
          <a:prstGeom prst="rect">
            <a:avLst/>
          </a:prstGeom>
          <a:solidFill>
            <a:srgbClr val="F2E3C8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2523744" y="3822192"/>
            <a:ext cx="566928" cy="566928"/>
          </a:xfrm>
          <a:prstGeom prst="rect">
            <a:avLst/>
          </a:prstGeom>
          <a:solidFill>
            <a:srgbClr val="F2E3C8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090672" y="3822192"/>
            <a:ext cx="566928" cy="566928"/>
          </a:xfrm>
          <a:prstGeom prst="rect">
            <a:avLst/>
          </a:prstGeom>
          <a:solidFill>
            <a:srgbClr val="0D1424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40080" y="45720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A9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上一節的紀錄卡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3977640" y="2743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FFB347"/>
                </a:solidFill>
              </a:rPr>
              <a:t>→</a:t>
            </a:r>
            <a:endParaRPr lang="en-US" sz="3200" dirty="0"/>
          </a:p>
        </p:txBody>
      </p:sp>
      <p:sp>
        <p:nvSpPr>
          <p:cNvPr id="32" name="Shape 29"/>
          <p:cNvSpPr/>
          <p:nvPr/>
        </p:nvSpPr>
        <p:spPr>
          <a:xfrm>
            <a:off x="4846320" y="2834640"/>
            <a:ext cx="457200" cy="457200"/>
          </a:xfrm>
          <a:prstGeom prst="rect">
            <a:avLst/>
          </a:prstGeom>
          <a:solidFill>
            <a:srgbClr val="0D1424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330952" y="2834640"/>
            <a:ext cx="457200" cy="457200"/>
          </a:xfrm>
          <a:prstGeom prst="rect">
            <a:avLst/>
          </a:prstGeom>
          <a:solidFill>
            <a:srgbClr val="FFB347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815584" y="2834640"/>
            <a:ext cx="457200" cy="457200"/>
          </a:xfrm>
          <a:prstGeom prst="rect">
            <a:avLst/>
          </a:prstGeom>
          <a:solidFill>
            <a:srgbClr val="FFB347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300216" y="2834640"/>
            <a:ext cx="457200" cy="457200"/>
          </a:xfrm>
          <a:prstGeom prst="rect">
            <a:avLst/>
          </a:prstGeom>
          <a:solidFill>
            <a:srgbClr val="FFB347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784848" y="2834640"/>
            <a:ext cx="457200" cy="457200"/>
          </a:xfrm>
          <a:prstGeom prst="rect">
            <a:avLst/>
          </a:prstGeom>
          <a:solidFill>
            <a:srgbClr val="0D1424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7269480" y="2834640"/>
            <a:ext cx="457200" cy="457200"/>
          </a:xfrm>
          <a:prstGeom prst="rect">
            <a:avLst/>
          </a:prstGeom>
          <a:solidFill>
            <a:srgbClr val="FFB347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7754112" y="2834640"/>
            <a:ext cx="457200" cy="457200"/>
          </a:xfrm>
          <a:prstGeom prst="rect">
            <a:avLst/>
          </a:prstGeom>
          <a:solidFill>
            <a:srgbClr val="0D1424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572000" y="35204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A9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一格一格、亮暗發出去</a:t>
            </a:r>
            <a:endParaRPr lang="en-US" sz="1300" dirty="0"/>
          </a:p>
        </p:txBody>
      </p:sp>
      <p:sp>
        <p:nvSpPr>
          <p:cNvPr id="40" name="Shape 37"/>
          <p:cNvSpPr/>
          <p:nvPr/>
        </p:nvSpPr>
        <p:spPr>
          <a:xfrm>
            <a:off x="8549640" y="982351"/>
            <a:ext cx="3200400" cy="4356267"/>
          </a:xfrm>
          <a:prstGeom prst="roundRect">
            <a:avLst>
              <a:gd name="adj" fmla="val 2286"/>
            </a:avLst>
          </a:prstGeom>
          <a:solidFill>
            <a:srgbClr val="0D1424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8823960" y="1256672"/>
            <a:ext cx="2697480" cy="3681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可是——
</a:t>
            </a:r>
            <a:endParaRPr lang="en-US" sz="20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FF5C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三億多公里外，
看不到手電筒！
</a:t>
            </a:r>
            <a:endParaRPr lang="en-US" sz="2000" dirty="0"/>
          </a:p>
          <a:p>
            <a:pPr>
              <a:spcAft>
                <a:spcPts val="1000"/>
              </a:spcAft>
            </a:pPr>
            <a:r>
              <a:rPr lang="en-US" sz="2000" dirty="0" err="1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科學家用</a:t>
            </a:r>
            <a:r>
              <a:rPr lang="zh-TW" altLang="en-US" sz="2000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的是</a:t>
            </a:r>
            <a:r>
              <a:rPr lang="en-US" sz="2000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</a:t>
            </a:r>
            <a:r>
              <a:rPr lang="en-US" sz="2000" dirty="0" err="1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無線電</a:t>
            </a:r>
            <a:r>
              <a:rPr lang="en-US" sz="2000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」：</a:t>
            </a:r>
            <a:r>
              <a:rPr lang="en-US" sz="2000" dirty="0" err="1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和光</a:t>
            </a:r>
            <a:r>
              <a:rPr lang="zh-TW" altLang="en-US" sz="2000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的概念很接近，</a:t>
            </a:r>
            <a:r>
              <a:rPr lang="en-US" sz="2000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
</a:t>
            </a:r>
            <a:r>
              <a:rPr lang="zh-TW" altLang="en-US" sz="2000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它們都是「電磁波」的</a:t>
            </a:r>
            <a:r>
              <a:rPr lang="zh-TW" altLang="en-US" sz="2000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一種，能夠</a:t>
            </a:r>
            <a:r>
              <a:rPr lang="en-US" sz="2000" dirty="0" err="1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傳得更遠的訊號</a:t>
            </a:r>
            <a:r>
              <a:rPr lang="en-US" sz="2000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2000" dirty="0"/>
          </a:p>
        </p:txBody>
      </p:sp>
      <p:sp>
        <p:nvSpPr>
          <p:cNvPr id="42" name="Text 39"/>
          <p:cNvSpPr/>
          <p:nvPr/>
        </p:nvSpPr>
        <p:spPr>
          <a:xfrm>
            <a:off x="457200" y="56235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800" b="1" dirty="0" smtClean="0">
                <a:solidFill>
                  <a:srgbClr val="5EC8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像光一樣，</a:t>
            </a:r>
            <a:r>
              <a:rPr lang="en-US" sz="1800" b="1" dirty="0" err="1" smtClean="0">
                <a:solidFill>
                  <a:srgbClr val="5EC8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無線電每一瞬間</a:t>
            </a:r>
            <a:r>
              <a:rPr lang="zh-TW" altLang="en-US" sz="1800" b="1" dirty="0" smtClean="0">
                <a:solidFill>
                  <a:srgbClr val="5EC8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也</a:t>
            </a:r>
            <a:r>
              <a:rPr lang="en-US" sz="1800" b="1" dirty="0" smtClean="0">
                <a:solidFill>
                  <a:srgbClr val="5EC8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只有兩種狀態</a:t>
            </a:r>
            <a:r>
              <a:rPr lang="en-US" sz="1800" b="1" dirty="0">
                <a:solidFill>
                  <a:srgbClr val="5EC8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：有訊號（1）／沒訊號（0）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651797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MISSION 02 · 火星第一眼：1976 維京一號的拍照任務　3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0" y="2721389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5000" b="1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體驗一下維京一號的訊號傳遞吧！</a:t>
            </a:r>
            <a:endParaRPr lang="en-US" sz="5000" dirty="0"/>
          </a:p>
        </p:txBody>
      </p:sp>
      <p:sp>
        <p:nvSpPr>
          <p:cNvPr id="9" name="Text 39"/>
          <p:cNvSpPr/>
          <p:nvPr/>
        </p:nvSpPr>
        <p:spPr>
          <a:xfrm>
            <a:off x="379923" y="1900382"/>
            <a:ext cx="56976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2200" b="1" dirty="0" smtClean="0">
                <a:solidFill>
                  <a:srgbClr val="5EC8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我們用「光」來代替無線電訊線</a:t>
            </a:r>
            <a:endParaRPr lang="en-US" sz="2200" dirty="0"/>
          </a:p>
        </p:txBody>
      </p:sp>
      <p:sp>
        <p:nvSpPr>
          <p:cNvPr id="10" name="Text 39"/>
          <p:cNvSpPr/>
          <p:nvPr/>
        </p:nvSpPr>
        <p:spPr>
          <a:xfrm>
            <a:off x="3084945" y="5082494"/>
            <a:ext cx="76153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TW" altLang="en-US" sz="2800" b="1" dirty="0" smtClean="0">
                <a:solidFill>
                  <a:srgbClr val="FFB3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但是在開始之前，有件事要先做，你覺得是什麼？</a:t>
            </a:r>
            <a:endParaRPr lang="en-US" altLang="zh-TW" sz="2800" dirty="0"/>
          </a:p>
        </p:txBody>
      </p:sp>
    </p:spTree>
    <p:extLst>
      <p:ext uri="{BB962C8B-B14F-4D97-AF65-F5344CB8AC3E}">
        <p14:creationId xmlns:p14="http://schemas.microsoft.com/office/powerpoint/2010/main" val="2382169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14"/>
          <p:cNvSpPr/>
          <p:nvPr/>
        </p:nvSpPr>
        <p:spPr>
          <a:xfrm>
            <a:off x="5603846" y="6062193"/>
            <a:ext cx="6100474" cy="646331"/>
          </a:xfrm>
          <a:prstGeom prst="roundRect">
            <a:avLst>
              <a:gd name="adj" fmla="val 4103"/>
            </a:avLst>
          </a:prstGeom>
          <a:solidFill>
            <a:srgbClr val="0D1424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2" name="Text 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MISSION 02 · 火星第一眼：1976 維京一號的拍照任務　6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先講好規則：</a:t>
            </a:r>
            <a:r>
              <a:rPr lang="en-US" sz="3000" b="1" dirty="0" err="1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我們</a:t>
            </a:r>
            <a:r>
              <a:rPr lang="zh-TW" altLang="en-US" sz="3000" b="1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的約定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249382" y="1920285"/>
            <a:ext cx="2724912" cy="2651760"/>
          </a:xfrm>
          <a:prstGeom prst="roundRect">
            <a:avLst>
              <a:gd name="adj" fmla="val 2759"/>
            </a:avLst>
          </a:prstGeom>
          <a:solidFill>
            <a:srgbClr val="0D1424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77982" y="2148885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B3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代號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477982" y="2697525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0＝暗（沒訊號）</a:t>
            </a:r>
            <a:endParaRPr lang="en-US" dirty="0"/>
          </a:p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1＝亮（有訊號）</a:t>
            </a: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3212038" y="1920285"/>
            <a:ext cx="2724912" cy="2651760"/>
          </a:xfrm>
          <a:prstGeom prst="roundRect">
            <a:avLst>
              <a:gd name="adj" fmla="val 2759"/>
            </a:avLst>
          </a:prstGeom>
          <a:solidFill>
            <a:srgbClr val="0D1424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440638" y="2148885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B3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順序</a:t>
            </a:r>
            <a:endParaRPr lang="en-US" sz="2500" dirty="0"/>
          </a:p>
        </p:txBody>
      </p:sp>
      <p:sp>
        <p:nvSpPr>
          <p:cNvPr id="10" name="Text 7"/>
          <p:cNvSpPr/>
          <p:nvPr/>
        </p:nvSpPr>
        <p:spPr>
          <a:xfrm>
            <a:off x="3440638" y="2697525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由左至右</a:t>
            </a:r>
            <a:endParaRPr lang="en-US" dirty="0"/>
          </a:p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由上至下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每列一行</a:t>
            </a: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6174694" y="1920285"/>
            <a:ext cx="2724912" cy="2651760"/>
          </a:xfrm>
          <a:prstGeom prst="roundRect">
            <a:avLst>
              <a:gd name="adj" fmla="val 2759"/>
            </a:avLst>
          </a:prstGeom>
          <a:solidFill>
            <a:srgbClr val="0D1424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3294" y="2148885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B3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</a:t>
            </a:r>
            <a:r>
              <a:rPr lang="en-US" sz="2500" b="1" dirty="0" smtClean="0">
                <a:solidFill>
                  <a:srgbClr val="FFB3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</a:t>
            </a:r>
            <a:r>
              <a:rPr lang="zh-TW" altLang="en-US" sz="2500" b="1" dirty="0" smtClean="0">
                <a:solidFill>
                  <a:srgbClr val="FFB3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拍</a:t>
            </a:r>
            <a:endParaRPr lang="en-US" sz="2500" dirty="0"/>
          </a:p>
        </p:txBody>
      </p:sp>
      <p:sp>
        <p:nvSpPr>
          <p:cNvPr id="13" name="Text 10"/>
          <p:cNvSpPr/>
          <p:nvPr/>
        </p:nvSpPr>
        <p:spPr>
          <a:xfrm>
            <a:off x="6403294" y="2697525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兩秒一拍</a:t>
            </a:r>
            <a:endParaRPr lang="en-US" dirty="0"/>
          </a:p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一拍一個訊號</a:t>
            </a:r>
            <a:endParaRPr lang="en-US" dirty="0"/>
          </a:p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（跟著節拍器）</a:t>
            </a: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9137350" y="1920285"/>
            <a:ext cx="2724912" cy="2651760"/>
          </a:xfrm>
          <a:prstGeom prst="roundRect">
            <a:avLst>
              <a:gd name="adj" fmla="val 2759"/>
            </a:avLst>
          </a:prstGeom>
          <a:solidFill>
            <a:srgbClr val="0D1424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365950" y="2148885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B3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 </a:t>
            </a:r>
            <a:r>
              <a:rPr lang="zh-TW" altLang="en-US" sz="2200" b="1" dirty="0" smtClean="0">
                <a:solidFill>
                  <a:srgbClr val="FFB3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開始的提示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9365950" y="2697525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每列開始前：</a:t>
            </a:r>
            <a:endParaRPr lang="en-US" dirty="0"/>
          </a:p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快速閃爍 2 秒＝起始</a:t>
            </a:r>
            <a:endParaRPr lang="en-US" dirty="0"/>
          </a:p>
          <a:p>
            <a:pPr marL="0" indent="0">
              <a:lnSpc>
                <a:spcPct val="125000"/>
              </a:lnSpc>
              <a:buNone/>
            </a:pPr>
            <a:r>
              <a:rPr lang="en-US" dirty="0" err="1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整張傳完再閃爍</a:t>
            </a:r>
            <a:r>
              <a:rPr lang="en-US" dirty="0" err="1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＝結束</a:t>
            </a:r>
            <a:endParaRPr lang="en-US" dirty="0"/>
          </a:p>
        </p:txBody>
      </p:sp>
      <p:sp>
        <p:nvSpPr>
          <p:cNvPr id="17" name="Shape 14"/>
          <p:cNvSpPr/>
          <p:nvPr/>
        </p:nvSpPr>
        <p:spPr>
          <a:xfrm>
            <a:off x="404830" y="4727909"/>
            <a:ext cx="11247120" cy="1142815"/>
          </a:xfrm>
          <a:prstGeom prst="roundRect">
            <a:avLst>
              <a:gd name="adj" fmla="val 4103"/>
            </a:avLst>
          </a:prstGeom>
          <a:solidFill>
            <a:srgbClr val="0D1424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3430" y="4846504"/>
            <a:ext cx="10607040" cy="1097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zh-TW" altLang="en-US" b="1" dirty="0" smtClean="0">
                <a:solidFill>
                  <a:srgbClr val="5EC8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說明：</a:t>
            </a:r>
            <a:r>
              <a:rPr lang="en-US" b="1" dirty="0" err="1" smtClean="0">
                <a:solidFill>
                  <a:srgbClr val="5EC8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為什麼記號要用「快速閃爍</a:t>
            </a:r>
            <a:r>
              <a:rPr lang="en-US" b="1" dirty="0" smtClean="0">
                <a:solidFill>
                  <a:srgbClr val="5EC8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」，</a:t>
            </a:r>
            <a:r>
              <a:rPr lang="en-US" b="1" dirty="0" err="1" smtClean="0">
                <a:solidFill>
                  <a:srgbClr val="5EC8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不用長亮或長暗</a:t>
            </a:r>
            <a:r>
              <a:rPr lang="en-US" b="1" dirty="0" smtClean="0">
                <a:solidFill>
                  <a:srgbClr val="5EC8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？</a:t>
            </a:r>
            <a:r>
              <a:rPr lang="en-US" sz="1600" b="1" dirty="0" smtClean="0">
                <a:solidFill>
                  <a:srgbClr val="5EC8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
</a:t>
            </a:r>
            <a:endParaRPr lang="en-US" sz="1600" dirty="0" smtClean="0"/>
          </a:p>
          <a:p>
            <a:pPr marL="0" indent="0">
              <a:spcAft>
                <a:spcPts val="500"/>
              </a:spcAft>
              <a:buNone/>
            </a:pPr>
            <a:r>
              <a:rPr lang="en-US" dirty="0" err="1" smtClean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長亮會和資料的</a:t>
            </a:r>
            <a:r>
              <a:rPr lang="en-US" dirty="0" smtClean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1 </a:t>
            </a:r>
            <a:r>
              <a:rPr lang="en-US" dirty="0" err="1" smtClean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混淆、長暗會和連續的</a:t>
            </a:r>
            <a:r>
              <a:rPr lang="en-US" dirty="0" smtClean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0 </a:t>
            </a:r>
            <a:r>
              <a:rPr lang="en-US" dirty="0" err="1" smtClean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混淆；快速閃爍是資料中不可能出現的樣式，永遠不會誤判</a:t>
            </a:r>
            <a:r>
              <a:rPr lang="en-US" dirty="0" smtClean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dirty="0"/>
          </a:p>
        </p:txBody>
      </p:sp>
      <p:sp>
        <p:nvSpPr>
          <p:cNvPr id="3" name="矩形 2"/>
          <p:cNvSpPr/>
          <p:nvPr/>
        </p:nvSpPr>
        <p:spPr>
          <a:xfrm>
            <a:off x="5726638" y="6062192"/>
            <a:ext cx="543421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b="1" dirty="0" smtClean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知識點</a:t>
            </a:r>
            <a:endParaRPr lang="en-US" altLang="zh-TW" b="1" dirty="0" smtClean="0">
              <a:solidFill>
                <a:schemeClr val="accent2"/>
              </a:solidFill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  <a:p>
            <a:r>
              <a:rPr lang="en-US" altLang="zh-TW" b="1" dirty="0" err="1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這套大家都遵守的</a:t>
            </a:r>
            <a:r>
              <a:rPr lang="zh-TW" altLang="en-US" b="1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約定</a:t>
            </a:r>
            <a:r>
              <a:rPr lang="en-US" altLang="zh-TW" b="1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</a:t>
            </a:r>
            <a:r>
              <a:rPr lang="zh-TW" altLang="en-US" b="1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我們稱為</a:t>
            </a:r>
            <a:r>
              <a:rPr lang="en-US" altLang="zh-TW" b="1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</a:t>
            </a:r>
            <a:r>
              <a:rPr lang="en-US" altLang="zh-TW" b="1" dirty="0" err="1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通訊協定</a:t>
            </a:r>
            <a:r>
              <a:rPr lang="en-US" altLang="zh-TW" b="1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」。</a:t>
            </a:r>
            <a:endParaRPr lang="en-US" altLang="zh-TW" dirty="0"/>
          </a:p>
        </p:txBody>
      </p:sp>
      <p:sp>
        <p:nvSpPr>
          <p:cNvPr id="20" name="Shape 14"/>
          <p:cNvSpPr/>
          <p:nvPr/>
        </p:nvSpPr>
        <p:spPr>
          <a:xfrm>
            <a:off x="281386" y="1006135"/>
            <a:ext cx="11580876" cy="789106"/>
          </a:xfrm>
          <a:prstGeom prst="roundRect">
            <a:avLst>
              <a:gd name="adj" fmla="val 4103"/>
            </a:avLst>
          </a:prstGeom>
          <a:solidFill>
            <a:srgbClr val="0D1424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21" name="矩形 20"/>
          <p:cNvSpPr/>
          <p:nvPr/>
        </p:nvSpPr>
        <p:spPr>
          <a:xfrm>
            <a:off x="457200" y="1066766"/>
            <a:ext cx="1102821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b="1" dirty="0" smtClean="0">
                <a:solidFill>
                  <a:srgbClr val="FF5C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為什麼要約定？</a:t>
            </a:r>
            <a:endParaRPr lang="en-US" altLang="zh-TW" b="1" dirty="0">
              <a:solidFill>
                <a:srgbClr val="FF5C47"/>
              </a:solidFill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  <a:p>
            <a:r>
              <a:rPr lang="zh-TW" altLang="en-US" b="1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訊號要傳送，</a:t>
            </a:r>
            <a:r>
              <a:rPr lang="en-US" altLang="zh-TW" b="1" dirty="0" err="1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單程</a:t>
            </a:r>
            <a:r>
              <a:rPr lang="zh-TW" altLang="en-US" b="1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就要</a:t>
            </a:r>
            <a:r>
              <a:rPr lang="en-US" altLang="zh-TW" b="1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r>
              <a:rPr lang="en-US" altLang="zh-TW" b="1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19 </a:t>
            </a:r>
            <a:r>
              <a:rPr lang="en-US" altLang="zh-TW" b="1" dirty="0" err="1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分鐘</a:t>
            </a:r>
            <a:r>
              <a:rPr lang="en-US" altLang="zh-TW" b="1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、</a:t>
            </a:r>
            <a:r>
              <a:rPr lang="zh-TW" altLang="en-US" b="1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也</a:t>
            </a:r>
            <a:r>
              <a:rPr lang="en-US" altLang="zh-TW" b="1" dirty="0" err="1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不能</a:t>
            </a:r>
            <a:r>
              <a:rPr lang="zh-TW" altLang="en-US" b="1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重播，如果</a:t>
            </a:r>
            <a:r>
              <a:rPr lang="en-US" altLang="zh-TW" b="1" dirty="0" err="1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規則不一致</a:t>
            </a:r>
            <a:r>
              <a:rPr lang="en-US" altLang="zh-TW" b="1" dirty="0" err="1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，照片就回不來</a:t>
            </a:r>
            <a:r>
              <a:rPr lang="en-US" altLang="zh-TW" b="1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14"/>
          <p:cNvSpPr/>
          <p:nvPr/>
        </p:nvSpPr>
        <p:spPr>
          <a:xfrm>
            <a:off x="5603846" y="6062193"/>
            <a:ext cx="6100474" cy="646331"/>
          </a:xfrm>
          <a:prstGeom prst="roundRect">
            <a:avLst>
              <a:gd name="adj" fmla="val 4103"/>
            </a:avLst>
          </a:prstGeom>
          <a:solidFill>
            <a:srgbClr val="0D1424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2" name="Text 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MISSION 02 · 火星第一眼：1976 維京一號的拍照任務　7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這些規則，</a:t>
            </a:r>
            <a:r>
              <a:rPr lang="en-US" sz="3000" b="1" dirty="0" err="1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教室裡</a:t>
            </a:r>
            <a:r>
              <a:rPr lang="zh-TW" altLang="en-US" sz="3000" b="1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天天在用！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249382" y="1920285"/>
            <a:ext cx="2724912" cy="2651760"/>
          </a:xfrm>
          <a:prstGeom prst="roundRect">
            <a:avLst>
              <a:gd name="adj" fmla="val 2759"/>
            </a:avLst>
          </a:prstGeom>
          <a:solidFill>
            <a:srgbClr val="0D1424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77982" y="2148885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B3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代號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477982" y="2697525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「老師拍兩下手</a:t>
            </a:r>
            <a:endParaRPr lang="en-US" dirty="0"/>
          </a:p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＝安靜」的共同暗號</a:t>
            </a: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3212038" y="1920285"/>
            <a:ext cx="2724912" cy="2651760"/>
          </a:xfrm>
          <a:prstGeom prst="roundRect">
            <a:avLst>
              <a:gd name="adj" fmla="val 2759"/>
            </a:avLst>
          </a:prstGeom>
          <a:solidFill>
            <a:srgbClr val="0D1424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440638" y="2148885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B3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順序</a:t>
            </a:r>
            <a:endParaRPr lang="en-US" sz="2500" dirty="0"/>
          </a:p>
        </p:txBody>
      </p:sp>
      <p:sp>
        <p:nvSpPr>
          <p:cNvPr id="10" name="Text 7"/>
          <p:cNvSpPr/>
          <p:nvPr/>
        </p:nvSpPr>
        <p:spPr>
          <a:xfrm>
            <a:off x="3440638" y="2697525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按座號順序</a:t>
            </a:r>
            <a:endParaRPr lang="en-US" dirty="0"/>
          </a:p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點名、收作業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才知道輪到誰</a:t>
            </a: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6174694" y="1920285"/>
            <a:ext cx="2724912" cy="2651760"/>
          </a:xfrm>
          <a:prstGeom prst="roundRect">
            <a:avLst>
              <a:gd name="adj" fmla="val 2759"/>
            </a:avLst>
          </a:prstGeom>
          <a:solidFill>
            <a:srgbClr val="0D1424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3294" y="2148885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B3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</a:t>
            </a:r>
            <a:r>
              <a:rPr lang="en-US" sz="2500" b="1" dirty="0" smtClean="0">
                <a:solidFill>
                  <a:srgbClr val="FFB3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</a:t>
            </a:r>
            <a:r>
              <a:rPr lang="zh-TW" altLang="en-US" sz="2500" b="1" dirty="0" smtClean="0">
                <a:solidFill>
                  <a:srgbClr val="FFB3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拍</a:t>
            </a:r>
            <a:endParaRPr lang="en-US" sz="2500" dirty="0"/>
          </a:p>
        </p:txBody>
      </p:sp>
      <p:sp>
        <p:nvSpPr>
          <p:cNvPr id="13" name="Text 10"/>
          <p:cNvSpPr/>
          <p:nvPr/>
        </p:nvSpPr>
        <p:spPr>
          <a:xfrm>
            <a:off x="6403294" y="2697525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全班跟著口令</a:t>
            </a:r>
            <a:endParaRPr lang="en-US" dirty="0"/>
          </a:p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一起做操</a:t>
            </a:r>
            <a:endParaRPr lang="en-US" dirty="0"/>
          </a:p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拍子一致才整齊</a:t>
            </a: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9137350" y="1920285"/>
            <a:ext cx="2724912" cy="2651760"/>
          </a:xfrm>
          <a:prstGeom prst="roundRect">
            <a:avLst>
              <a:gd name="adj" fmla="val 2759"/>
            </a:avLst>
          </a:prstGeom>
          <a:solidFill>
            <a:srgbClr val="0D1424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365950" y="2148885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B3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 </a:t>
            </a:r>
            <a:r>
              <a:rPr lang="zh-TW" altLang="en-US" sz="2200" b="1" dirty="0" smtClean="0">
                <a:solidFill>
                  <a:srgbClr val="FFB3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開始的提示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9365950" y="2697525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老師喊「開始」</a:t>
            </a:r>
            <a:endParaRPr lang="en-US" dirty="0"/>
          </a:p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大家才一起動筆</a:t>
            </a:r>
            <a:endParaRPr lang="en-US" dirty="0"/>
          </a:p>
          <a:p>
            <a:pPr marL="0" indent="0">
              <a:lnSpc>
                <a:spcPct val="125000"/>
              </a:lnSpc>
              <a:buNone/>
            </a:pPr>
            <a:r>
              <a:rPr lang="en-US" dirty="0" err="1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沒聽到開始</a:t>
            </a:r>
            <a:r>
              <a:rPr lang="en-US" dirty="0" err="1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＝整列慢半拍</a:t>
            </a:r>
            <a:endParaRPr lang="en-US" dirty="0"/>
          </a:p>
        </p:txBody>
      </p:sp>
      <p:sp>
        <p:nvSpPr>
          <p:cNvPr id="17" name="Shape 14"/>
          <p:cNvSpPr/>
          <p:nvPr/>
        </p:nvSpPr>
        <p:spPr>
          <a:xfrm>
            <a:off x="404830" y="4727909"/>
            <a:ext cx="11247120" cy="1142815"/>
          </a:xfrm>
          <a:prstGeom prst="roundRect">
            <a:avLst>
              <a:gd name="adj" fmla="val 4103"/>
            </a:avLst>
          </a:prstGeom>
          <a:solidFill>
            <a:srgbClr val="0D1424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3430" y="4846504"/>
            <a:ext cx="10607040" cy="1097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zh-TW" altLang="en-US" b="1" dirty="0" smtClean="0">
                <a:solidFill>
                  <a:srgbClr val="5EC8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想一想：</a:t>
            </a:r>
            <a:r>
              <a:rPr lang="en-US" b="1" dirty="0" err="1" smtClean="0">
                <a:solidFill>
                  <a:srgbClr val="5EC8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下課的教室鬧哄哄</a:t>
            </a:r>
            <a:r>
              <a:rPr lang="en-US" b="1" dirty="0" smtClean="0">
                <a:solidFill>
                  <a:srgbClr val="5EC8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</a:t>
            </a:r>
            <a:r>
              <a:rPr lang="en-US" b="1" dirty="0" err="1" smtClean="0">
                <a:solidFill>
                  <a:srgbClr val="5EC8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跟同學講話會發生什麼事</a:t>
            </a:r>
            <a:r>
              <a:rPr lang="en-US" b="1" dirty="0" smtClean="0">
                <a:solidFill>
                  <a:srgbClr val="5EC8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？</a:t>
            </a:r>
            <a:r>
              <a:rPr lang="en-US" sz="1600" b="1" dirty="0" smtClean="0">
                <a:solidFill>
                  <a:srgbClr val="5EC8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
</a:t>
            </a:r>
            <a:endParaRPr lang="en-US" sz="1600" dirty="0" smtClean="0"/>
          </a:p>
          <a:p>
            <a:pPr marL="0" indent="0">
              <a:spcAft>
                <a:spcPts val="500"/>
              </a:spcAft>
              <a:buNone/>
            </a:pPr>
            <a:r>
              <a:rPr lang="en-US" dirty="0" err="1" smtClean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要更大聲、還常要重講一次——這就是通訊裡的「雜訊」，也是規則必須先講好的原因</a:t>
            </a:r>
            <a:r>
              <a:rPr lang="en-US" dirty="0" smtClean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r>
              <a:rPr lang="en-US" dirty="0" err="1" smtClean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/>
            </a:r>
            <a:r>
              <a:rPr lang="en-US" dirty="0" smtClean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/>
            </a:r>
            <a:r>
              <a:rPr lang="en-US" dirty="0" err="1" smtClean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/>
            </a:r>
            <a:r>
              <a:rPr lang="en-US" dirty="0" smtClean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/>
            </a:r>
            <a:endParaRPr lang="en-US" dirty="0"/>
          </a:p>
        </p:txBody>
      </p:sp>
      <p:sp>
        <p:nvSpPr>
          <p:cNvPr id="3" name="矩形 2"/>
          <p:cNvSpPr/>
          <p:nvPr/>
        </p:nvSpPr>
        <p:spPr>
          <a:xfrm>
            <a:off x="5726638" y="6062192"/>
            <a:ext cx="543421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b="1" dirty="0" smtClean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知識點</a:t>
            </a:r>
            <a:endParaRPr lang="en-US" altLang="zh-TW" b="1" dirty="0" smtClean="0">
              <a:solidFill>
                <a:schemeClr val="accent2"/>
              </a:solidFill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  <a:p>
            <a:r>
              <a:rPr lang="en-US" altLang="zh-TW" b="1" dirty="0" err="1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班級的默契，就是生活裡的通訊協定。</a:t>
            </a:r>
            <a:r>
              <a:rPr lang="zh-TW" altLang="en-US" b="1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/>
            </a:r>
            <a:r>
              <a:rPr lang="en-US" altLang="zh-TW" b="1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/>
            </a:r>
            <a:r>
              <a:rPr lang="zh-TW" altLang="en-US" b="1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/>
            </a:r>
            <a:r>
              <a:rPr lang="en-US" altLang="zh-TW" b="1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/>
            </a:r>
            <a:r>
              <a:rPr lang="en-US" altLang="zh-TW" b="1" dirty="0" err="1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/>
            </a:r>
            <a:r>
              <a:rPr lang="en-US" altLang="zh-TW" b="1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/>
            </a:r>
            <a:endParaRPr lang="en-US" altLang="zh-TW" dirty="0"/>
          </a:p>
        </p:txBody>
      </p:sp>
      <p:sp>
        <p:nvSpPr>
          <p:cNvPr id="20" name="Shape 14"/>
          <p:cNvSpPr/>
          <p:nvPr/>
        </p:nvSpPr>
        <p:spPr>
          <a:xfrm>
            <a:off x="281386" y="1006135"/>
            <a:ext cx="11580876" cy="789106"/>
          </a:xfrm>
          <a:prstGeom prst="roundRect">
            <a:avLst>
              <a:gd name="adj" fmla="val 4103"/>
            </a:avLst>
          </a:prstGeom>
          <a:solidFill>
            <a:srgbClr val="0D1424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21" name="矩形 20"/>
          <p:cNvSpPr/>
          <p:nvPr/>
        </p:nvSpPr>
        <p:spPr>
          <a:xfrm>
            <a:off x="457200" y="1066766"/>
            <a:ext cx="1102821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b="1" dirty="0" smtClean="0">
                <a:solidFill>
                  <a:srgbClr val="FF5C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通訊協定四要素 × 班級經驗</a:t>
            </a:r>
            <a:endParaRPr lang="en-US" altLang="zh-TW" b="1" dirty="0">
              <a:solidFill>
                <a:srgbClr val="FF5C47"/>
              </a:solidFill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  <a:p>
            <a:r>
              <a:rPr lang="zh-TW" altLang="en-US" b="1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訊號的規則其實不陌生——我們班上課、收作業，天天都在用同一套約定。</a:t>
            </a:r>
            <a:r>
              <a:rPr lang="en-US" altLang="zh-TW" b="1" dirty="0" err="1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/>
            </a:r>
            <a:r>
              <a:rPr lang="zh-TW" altLang="en-US" b="1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/>
            </a:r>
            <a:r>
              <a:rPr lang="en-US" altLang="zh-TW" b="1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/>
            </a:r>
            <a:r>
              <a:rPr lang="en-US" altLang="zh-TW" b="1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/>
            </a:r>
            <a:r>
              <a:rPr lang="en-US" altLang="zh-TW" b="1" dirty="0" err="1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/>
            </a:r>
            <a:r>
              <a:rPr lang="en-US" altLang="zh-TW" b="1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/>
            </a:r>
            <a:r>
              <a:rPr lang="zh-TW" altLang="en-US" b="1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/>
            </a:r>
            <a:r>
              <a:rPr lang="en-US" altLang="zh-TW" b="1" dirty="0" err="1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/>
            </a:r>
            <a:r>
              <a:rPr lang="zh-TW" altLang="en-US" b="1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/>
            </a:r>
            <a:r>
              <a:rPr lang="en-US" altLang="zh-TW" b="1" dirty="0" err="1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/>
            </a:r>
            <a:r>
              <a:rPr lang="en-US" altLang="zh-TW" b="1" dirty="0" err="1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/>
            </a:r>
            <a:r>
              <a:rPr lang="en-US" altLang="zh-TW" b="1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/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MISSION 02 · 火星第一眼：1976 維京一號的拍照任務　7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3000" b="1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初階任務</a:t>
            </a:r>
            <a:r>
              <a:rPr lang="en-US" sz="3000" b="1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</a:t>
            </a:r>
            <a:r>
              <a:rPr lang="en-US" sz="3000" b="1" dirty="0" err="1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  <a:hlinkClick r:id="rId3"/>
              </a:rPr>
              <a:t>光訊號播送台</a:t>
            </a:r>
            <a:r>
              <a:rPr lang="en-US" sz="3000" b="1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</a:t>
            </a:r>
            <a:r>
              <a:rPr lang="zh-TW" altLang="en-US" sz="3000" b="1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老師先傳訊號</a:t>
            </a:r>
            <a:r>
              <a:rPr lang="en-US" sz="3000" b="1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</a:t>
            </a:r>
            <a:r>
              <a:rPr lang="zh-TW" altLang="en-US" sz="3000" b="1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你們試著接收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0D1424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31520" y="1554480"/>
            <a:ext cx="548640" cy="548640"/>
          </a:xfrm>
          <a:prstGeom prst="ellipse">
            <a:avLst/>
          </a:prstGeom>
          <a:solidFill>
            <a:srgbClr val="FFB347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70B1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463040" y="16002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試傳第 1 列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77240" y="228600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3000" dirty="0" err="1" smtClean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全班</a:t>
            </a:r>
            <a:r>
              <a:rPr lang="zh-TW" altLang="en-US" sz="3000" dirty="0" smtClean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練習一次</a:t>
            </a:r>
            <a:r>
              <a:rPr lang="en-US" sz="3000" dirty="0" smtClean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</a:t>
            </a:r>
            <a:endParaRPr lang="en-US" sz="3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000" dirty="0" smtClean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</a:t>
            </a:r>
            <a:r>
              <a:rPr lang="zh-TW" altLang="en-US" sz="3000" dirty="0" smtClean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節拍</a:t>
            </a:r>
            <a:r>
              <a:rPr lang="en-US" sz="3000" dirty="0" smtClean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、</a:t>
            </a:r>
            <a:r>
              <a:rPr lang="en-US" sz="3000" dirty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認閃爍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4434840" y="128016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0D1424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09160" y="1554480"/>
            <a:ext cx="548640" cy="548640"/>
          </a:xfrm>
          <a:prstGeom prst="ellipse">
            <a:avLst/>
          </a:prstGeom>
          <a:solidFill>
            <a:srgbClr val="FFB347"/>
          </a:solidFill>
          <a:ln/>
        </p:spPr>
      </p:sp>
      <p:sp>
        <p:nvSpPr>
          <p:cNvPr id="12" name="Text 9"/>
          <p:cNvSpPr/>
          <p:nvPr/>
        </p:nvSpPr>
        <p:spPr>
          <a:xfrm>
            <a:off x="470916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70B1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5440680" y="16002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播送整張 5×5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4572000" y="2221992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2500" dirty="0" err="1" smtClean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亮</a:t>
            </a:r>
            <a:r>
              <a:rPr lang="en-US" sz="2500" dirty="0" err="1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／</a:t>
            </a:r>
            <a:r>
              <a:rPr lang="en-US" sz="2500" dirty="0" err="1" smtClean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暗</a:t>
            </a:r>
            <a:r>
              <a:rPr lang="zh-TW" altLang="en-US" sz="2500" dirty="0" smtClean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都是</a:t>
            </a:r>
            <a:r>
              <a:rPr lang="en-US" altLang="zh-TW" sz="2500" dirty="0" err="1" smtClean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每拍</a:t>
            </a:r>
            <a:r>
              <a:rPr lang="en-US" altLang="zh-TW" sz="2500" dirty="0" smtClean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r>
              <a:rPr lang="en-US" altLang="zh-TW" sz="2500" dirty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秒</a:t>
            </a:r>
            <a:endParaRPr lang="en-US" altLang="zh-TW" sz="2500" dirty="0"/>
          </a:p>
          <a:p>
            <a:pPr>
              <a:lnSpc>
                <a:spcPct val="120000"/>
              </a:lnSpc>
            </a:pPr>
            <a:r>
              <a:rPr lang="zh-TW" altLang="en-US" sz="2500" dirty="0" smtClean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都會</a:t>
            </a:r>
            <a:r>
              <a:rPr lang="en-US" altLang="zh-TW" sz="2500" dirty="0" err="1" smtClean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閃爍</a:t>
            </a:r>
            <a:r>
              <a:rPr lang="en-US" altLang="zh-TW" sz="2500" dirty="0" smtClean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→</a:t>
            </a:r>
            <a:r>
              <a:rPr lang="zh-TW" altLang="en-US" sz="2500" dirty="0" smtClean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每一列開頭與結束</a:t>
            </a:r>
            <a:endParaRPr lang="en-US" sz="2500" dirty="0"/>
          </a:p>
        </p:txBody>
      </p:sp>
      <p:sp>
        <p:nvSpPr>
          <p:cNvPr id="15" name="Shape 12"/>
          <p:cNvSpPr/>
          <p:nvPr/>
        </p:nvSpPr>
        <p:spPr>
          <a:xfrm>
            <a:off x="8412480" y="128016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0D1424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686800" y="1554480"/>
            <a:ext cx="548640" cy="548640"/>
          </a:xfrm>
          <a:prstGeom prst="ellipse">
            <a:avLst/>
          </a:prstGeom>
          <a:solidFill>
            <a:srgbClr val="FFB347"/>
          </a:solidFill>
          <a:ln/>
        </p:spPr>
      </p:sp>
      <p:sp>
        <p:nvSpPr>
          <p:cNvPr id="17" name="Text 14"/>
          <p:cNvSpPr/>
          <p:nvPr/>
        </p:nvSpPr>
        <p:spPr>
          <a:xfrm>
            <a:off x="868680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70B1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9418320" y="16002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800" b="1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圖片比對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8732520" y="2011911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zh-TW" altLang="en-US" sz="3000" dirty="0" smtClean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看看你們的結果有沒有正確？</a:t>
            </a:r>
            <a:endParaRPr lang="en-US" sz="3000" dirty="0"/>
          </a:p>
        </p:txBody>
      </p:sp>
      <p:sp>
        <p:nvSpPr>
          <p:cNvPr id="20" name="Text 17"/>
          <p:cNvSpPr/>
          <p:nvPr/>
        </p:nvSpPr>
        <p:spPr>
          <a:xfrm>
            <a:off x="457200" y="38404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2500" b="1" dirty="0" smtClean="0">
                <a:solidFill>
                  <a:srgbClr val="5EC8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小組任務</a:t>
            </a:r>
            <a:r>
              <a:rPr lang="en-US" sz="2500" b="1" dirty="0" smtClean="0">
                <a:solidFill>
                  <a:srgbClr val="5EC8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</a:t>
            </a:r>
            <a:r>
              <a:rPr lang="en-US" sz="2500" b="1" dirty="0">
                <a:solidFill>
                  <a:srgbClr val="5EC8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每一拍記下 0 或 1 → </a:t>
            </a:r>
            <a:r>
              <a:rPr lang="en-US" sz="2500" b="1" dirty="0" err="1" smtClean="0">
                <a:solidFill>
                  <a:srgbClr val="5EC8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收完整列</a:t>
            </a:r>
            <a:r>
              <a:rPr lang="zh-TW" altLang="en-US" sz="2500" b="1" dirty="0" smtClean="0">
                <a:solidFill>
                  <a:srgbClr val="5EC8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再</a:t>
            </a:r>
            <a:r>
              <a:rPr lang="en-US" sz="2500" b="1" dirty="0" err="1" smtClean="0">
                <a:solidFill>
                  <a:srgbClr val="5EC8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塗格</a:t>
            </a:r>
            <a:r>
              <a:rPr lang="zh-TW" altLang="en-US" sz="2500" b="1" dirty="0" smtClean="0">
                <a:solidFill>
                  <a:srgbClr val="5EC8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子</a:t>
            </a:r>
            <a:r>
              <a:rPr lang="en-US" sz="2500" b="1" dirty="0" err="1" smtClean="0">
                <a:solidFill>
                  <a:srgbClr val="5EC8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還原</a:t>
            </a:r>
            <a:endParaRPr lang="en-US" sz="2500" dirty="0"/>
          </a:p>
        </p:txBody>
      </p:sp>
      <p:sp>
        <p:nvSpPr>
          <p:cNvPr id="21" name="Shape 18"/>
          <p:cNvSpPr/>
          <p:nvPr/>
        </p:nvSpPr>
        <p:spPr>
          <a:xfrm>
            <a:off x="457200" y="4526280"/>
            <a:ext cx="11247120" cy="1234440"/>
          </a:xfrm>
          <a:prstGeom prst="roundRect">
            <a:avLst>
              <a:gd name="adj" fmla="val 5926"/>
            </a:avLst>
          </a:prstGeom>
          <a:solidFill>
            <a:srgbClr val="0D1424"/>
          </a:solidFill>
          <a:ln w="19050">
            <a:solidFill>
              <a:srgbClr val="FFB34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31520" y="4644044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altLang="zh-TW" b="1" dirty="0" smtClean="0">
                <a:solidFill>
                  <a:srgbClr val="FFB3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※※</a:t>
            </a:r>
            <a:r>
              <a:rPr lang="zh-TW" altLang="en-US" b="1" dirty="0" smtClean="0">
                <a:solidFill>
                  <a:srgbClr val="FFB3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小提示</a:t>
            </a:r>
            <a:r>
              <a:rPr lang="en-US" b="1" dirty="0" smtClean="0">
                <a:solidFill>
                  <a:srgbClr val="FFB3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</a:t>
            </a:r>
            <a:r>
              <a:rPr lang="en-US" b="1" dirty="0">
                <a:solidFill>
                  <a:srgbClr val="FFB3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數亂了怎麼辦？
</a:t>
            </a:r>
            <a:endParaRPr lang="en-US" dirty="0"/>
          </a:p>
          <a:p>
            <a:pPr marL="0" indent="0">
              <a:buNone/>
            </a:pPr>
            <a:r>
              <a:rPr lang="en-US" dirty="0" err="1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放棄這一列就好！等下一次</a:t>
            </a:r>
            <a:r>
              <a:rPr lang="en-US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</a:t>
            </a:r>
            <a:r>
              <a:rPr lang="zh-TW" altLang="en-US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開頭</a:t>
            </a:r>
            <a:r>
              <a:rPr lang="en-US" dirty="0" err="1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快速閃爍</a:t>
            </a:r>
            <a:r>
              <a:rPr lang="en-US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」，</a:t>
            </a:r>
            <a:r>
              <a:rPr lang="zh-TW" altLang="en-US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再</a:t>
            </a:r>
            <a:r>
              <a:rPr lang="en-US" dirty="0" err="1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從新的一列重新開始</a:t>
            </a:r>
            <a:r>
              <a:rPr lang="zh-TW" altLang="en-US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，這樣只有</a:t>
            </a:r>
            <a:r>
              <a:rPr lang="en-US" dirty="0" err="1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一列錯</a:t>
            </a:r>
            <a:r>
              <a:rPr lang="en-US" dirty="0" err="1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</a:t>
            </a:r>
            <a:r>
              <a:rPr lang="en-US" dirty="0" err="1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不會整張</a:t>
            </a:r>
            <a:r>
              <a:rPr lang="zh-TW" altLang="en-US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都</a:t>
            </a:r>
            <a:r>
              <a:rPr lang="en-US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毀</a:t>
            </a:r>
            <a:r>
              <a:rPr lang="en-US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MISSION 02 · 火星第一眼：1976 維京一號的拍照任務　8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3000" b="1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進階任務</a:t>
            </a:r>
            <a:r>
              <a:rPr lang="en-US" sz="3000" b="1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</a:t>
            </a:r>
            <a:r>
              <a:rPr lang="en-US" sz="3000" b="1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換你當訊號官：分組傳輸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57199" y="1280160"/>
            <a:ext cx="11402291" cy="4434840"/>
          </a:xfrm>
          <a:prstGeom prst="roundRect">
            <a:avLst>
              <a:gd name="adj" fmla="val 1649"/>
            </a:avLst>
          </a:prstGeom>
          <a:solidFill>
            <a:srgbClr val="0D1424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28073" y="1554480"/>
            <a:ext cx="10760363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3000" b="1" dirty="0">
                <a:solidFill>
                  <a:srgbClr val="FFB3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🔦 任務流程</a:t>
            </a:r>
            <a:r>
              <a:rPr lang="en-US" sz="1800" b="1" dirty="0">
                <a:solidFill>
                  <a:srgbClr val="FFB3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
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zh-TW" altLang="en-US" sz="3000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每組指派一位</a:t>
            </a:r>
            <a:r>
              <a:rPr lang="zh-TW" altLang="en-US" sz="3000" b="1" dirty="0" smtClean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火星</a:t>
            </a:r>
            <a:r>
              <a:rPr lang="en-US" sz="3000" b="1" dirty="0" err="1" smtClean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訊號官</a:t>
            </a:r>
            <a:r>
              <a:rPr lang="zh-TW" altLang="en-US" sz="3000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</a:t>
            </a:r>
            <a:r>
              <a:rPr lang="zh-TW" altLang="en-US" sz="3000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任務：站在</a:t>
            </a:r>
            <a:r>
              <a:rPr lang="zh-TW" altLang="en-US" sz="3000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教室中間的發訊站，利用</a:t>
            </a:r>
            <a:r>
              <a:rPr lang="en-US" sz="3000" dirty="0" err="1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手電筒</a:t>
            </a:r>
            <a:r>
              <a:rPr lang="en-US" sz="3000" dirty="0" err="1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＋一張</a:t>
            </a:r>
            <a:r>
              <a:rPr lang="en-US" sz="3000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5×5 </a:t>
            </a:r>
            <a:r>
              <a:rPr lang="zh-TW" altLang="en-US" sz="3000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火星</a:t>
            </a:r>
            <a:r>
              <a:rPr lang="en-US" sz="3000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</a:t>
            </a:r>
            <a:r>
              <a:rPr lang="zh-TW" altLang="en-US" sz="3000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片，</a:t>
            </a:r>
            <a:r>
              <a:rPr lang="en-US" sz="3000" dirty="0" err="1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依協定發送</a:t>
            </a:r>
            <a:r>
              <a:rPr lang="en-US" sz="3000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</a:t>
            </a:r>
            <a:r>
              <a:rPr lang="zh-TW" altLang="en-US" sz="3000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開頭</a:t>
            </a:r>
            <a:r>
              <a:rPr lang="en-US" sz="3000" dirty="0" err="1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閃爍</a:t>
            </a:r>
            <a:r>
              <a:rPr lang="en-US" sz="3000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r>
              <a:rPr lang="en-US" sz="3000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</a:t>
            </a:r>
            <a:r>
              <a:rPr lang="en-US" sz="3000" dirty="0" err="1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兩秒一拍</a:t>
            </a:r>
            <a:r>
              <a:rPr lang="zh-TW" altLang="en-US" sz="3000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，完整傳送訊號</a:t>
            </a:r>
            <a:endParaRPr lang="en-US" sz="3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zh-TW" altLang="en-US" sz="3000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其他組員是</a:t>
            </a:r>
            <a:r>
              <a:rPr lang="zh-TW" altLang="en-US" sz="3000" b="1" dirty="0" smtClean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地球訊號官</a:t>
            </a:r>
            <a:r>
              <a:rPr lang="zh-TW" altLang="en-US" sz="3000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，任務：讀取訊號</a:t>
            </a:r>
            <a:r>
              <a:rPr lang="en-US" altLang="zh-TW" sz="3000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</a:t>
            </a:r>
            <a:r>
              <a:rPr lang="zh-TW" altLang="en-US" sz="3000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記錄訊號</a:t>
            </a:r>
            <a:r>
              <a:rPr lang="en-US" sz="3000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r>
              <a:rPr lang="en-US" sz="3000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</a:t>
            </a:r>
            <a:r>
              <a:rPr lang="en-US" sz="3000" dirty="0" err="1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  <a:hlinkClick r:id="rId3"/>
              </a:rPr>
              <a:t>塗格還原</a:t>
            </a:r>
            <a:endParaRPr lang="en-US" sz="3000" dirty="0" smtClean="0">
              <a:solidFill>
                <a:srgbClr val="F2E3C8"/>
              </a:solidFill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zh-TW" altLang="en-US" sz="3000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最後和</a:t>
            </a:r>
            <a:r>
              <a:rPr lang="en-US" sz="3000" dirty="0" err="1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原圖比對</a:t>
            </a:r>
            <a:r>
              <a:rPr lang="zh-TW" altLang="en-US" sz="3000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，看看你的</a:t>
            </a:r>
            <a:r>
              <a:rPr lang="en-US" sz="3000" dirty="0" err="1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正確格數</a:t>
            </a:r>
            <a:endParaRPr lang="en-US" sz="3000" dirty="0"/>
          </a:p>
        </p:txBody>
      </p:sp>
      <p:sp>
        <p:nvSpPr>
          <p:cNvPr id="9" name="Shape 2"/>
          <p:cNvSpPr/>
          <p:nvPr/>
        </p:nvSpPr>
        <p:spPr>
          <a:xfrm>
            <a:off x="4036291" y="5847958"/>
            <a:ext cx="7823199" cy="792988"/>
          </a:xfrm>
          <a:prstGeom prst="roundRect">
            <a:avLst>
              <a:gd name="adj" fmla="val 1649"/>
            </a:avLst>
          </a:prstGeom>
          <a:solidFill>
            <a:srgbClr val="0D1424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10" name="Text 3"/>
          <p:cNvSpPr/>
          <p:nvPr/>
        </p:nvSpPr>
        <p:spPr>
          <a:xfrm>
            <a:off x="4382655" y="6026913"/>
            <a:ext cx="6894946" cy="614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800"/>
              </a:spcAft>
            </a:pPr>
            <a:r>
              <a:rPr lang="en-US" sz="3000" b="1" dirty="0">
                <a:solidFill>
                  <a:srgbClr val="FFB3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🔦 </a:t>
            </a:r>
            <a:r>
              <a:rPr lang="zh-TW" altLang="en-US" sz="3000" b="1" dirty="0" smtClean="0">
                <a:solidFill>
                  <a:srgbClr val="FFB3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高階挑戰 </a:t>
            </a:r>
            <a:r>
              <a:rPr lang="zh-TW" altLang="en-US" sz="2000" b="1" dirty="0" smtClean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利用你們上次的</a:t>
            </a:r>
            <a:r>
              <a:rPr lang="en-US" altLang="zh-TW" sz="2000" b="1" dirty="0" smtClean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8*8</a:t>
            </a:r>
            <a:r>
              <a:rPr lang="zh-TW" altLang="en-US" sz="2000" b="1" dirty="0" smtClean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圖片再挑戰一次吧！</a:t>
            </a:r>
            <a:endParaRPr lang="en-US" sz="2000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MISSION 02 · 火星第一眼：1976 維京一號的拍照任務　9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57200" y="4114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TW" sz="2400" b="1" dirty="0" smtClean="0">
                <a:solidFill>
                  <a:srgbClr val="5EC8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※※ </a:t>
            </a:r>
            <a:r>
              <a:rPr lang="zh-TW" altLang="en-US" sz="2400" b="1" dirty="0" smtClean="0">
                <a:solidFill>
                  <a:srgbClr val="5EC8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</a:t>
            </a:r>
            <a:r>
              <a:rPr lang="zh-TW" altLang="en-US" sz="2400" b="1" dirty="0">
                <a:solidFill>
                  <a:srgbClr val="5EC8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來考考你</a:t>
            </a:r>
          </a:p>
        </p:txBody>
      </p:sp>
      <p:sp>
        <p:nvSpPr>
          <p:cNvPr id="5" name="Text 2"/>
          <p:cNvSpPr/>
          <p:nvPr/>
        </p:nvSpPr>
        <p:spPr>
          <a:xfrm>
            <a:off x="0" y="192024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為什麼電腦播的大家都對，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0" y="274320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 err="1">
                <a:solidFill>
                  <a:srgbClr val="FFB3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換同學傳，</a:t>
            </a:r>
            <a:r>
              <a:rPr lang="en-US" sz="3600" b="1" dirty="0" err="1" smtClean="0">
                <a:solidFill>
                  <a:srgbClr val="FFB3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就</a:t>
            </a:r>
            <a:r>
              <a:rPr lang="zh-TW" altLang="en-US" sz="3600" b="1" dirty="0" smtClean="0">
                <a:solidFill>
                  <a:srgbClr val="FFB3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可能會出</a:t>
            </a:r>
            <a:r>
              <a:rPr lang="en-US" sz="3600" b="1" dirty="0" smtClean="0">
                <a:solidFill>
                  <a:srgbClr val="FFB3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錯</a:t>
            </a:r>
            <a:r>
              <a:rPr lang="en-US" sz="3600" b="1" dirty="0">
                <a:solidFill>
                  <a:srgbClr val="FFB3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？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0" y="4114800"/>
            <a:ext cx="121916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2500" dirty="0" err="1" smtClean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節拍會</a:t>
            </a:r>
            <a:r>
              <a:rPr lang="zh-TW" altLang="en-US" sz="2500" dirty="0" smtClean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不穩、訊號會被干擾，</a:t>
            </a:r>
            <a:r>
              <a:rPr lang="en-US" sz="2500" dirty="0" err="1" smtClean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真實的通訊工程</a:t>
            </a:r>
            <a:r>
              <a:rPr lang="en-US" sz="2500" dirty="0" err="1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，正是要面對「不完美的發射端</a:t>
            </a:r>
            <a:r>
              <a:rPr lang="en-US" sz="2500" dirty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」。</a:t>
            </a:r>
            <a:endParaRPr lang="en-US" sz="25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MISSION 02 · 火星第一眼：1976 維京一號的拍照任務　10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err="1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剛剛</a:t>
            </a:r>
            <a:r>
              <a:rPr lang="zh-TW" altLang="en-US" sz="3000" b="1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有沒有發生這些困難或問題</a:t>
            </a:r>
            <a:r>
              <a:rPr lang="en-US" sz="3000" b="1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？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3611880" cy="3291840"/>
          </a:xfrm>
          <a:prstGeom prst="roundRect">
            <a:avLst>
              <a:gd name="adj" fmla="val 2222"/>
            </a:avLst>
          </a:prstGeom>
          <a:solidFill>
            <a:srgbClr val="0D1424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155448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dirty="0">
                <a:solidFill>
                  <a:schemeClr val="bg1"/>
                </a:solidFill>
              </a:rPr>
              <a:t>⏱</a:t>
            </a:r>
          </a:p>
        </p:txBody>
      </p:sp>
      <p:sp>
        <p:nvSpPr>
          <p:cNvPr id="7" name="Text 4"/>
          <p:cNvSpPr/>
          <p:nvPr/>
        </p:nvSpPr>
        <p:spPr>
          <a:xfrm>
            <a:off x="731520" y="2359198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zh-TW" altLang="en-US" sz="3600" dirty="0" smtClean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沒有跟上開始和結束的訊號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457200" y="3631507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2200" b="1" dirty="0" smtClean="0">
                <a:solidFill>
                  <a:srgbClr val="FFB3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發送和接收沒有</a:t>
            </a:r>
            <a:r>
              <a:rPr lang="en-US" sz="2200" b="1" dirty="0" smtClean="0">
                <a:solidFill>
                  <a:srgbClr val="FFB3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</a:t>
            </a:r>
            <a:r>
              <a:rPr lang="zh-TW" altLang="en-US" sz="2200" b="1" dirty="0" smtClean="0">
                <a:solidFill>
                  <a:srgbClr val="FFB3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434840" y="1325880"/>
            <a:ext cx="3611880" cy="3291840"/>
          </a:xfrm>
          <a:prstGeom prst="roundRect">
            <a:avLst>
              <a:gd name="adj" fmla="val 2222"/>
            </a:avLst>
          </a:prstGeom>
          <a:solidFill>
            <a:srgbClr val="0D1424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434840" y="155448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chemeClr val="bg1"/>
                </a:solidFill>
              </a:rPr>
              <a:t>💡</a:t>
            </a:r>
          </a:p>
        </p:txBody>
      </p:sp>
      <p:sp>
        <p:nvSpPr>
          <p:cNvPr id="11" name="Text 8"/>
          <p:cNvSpPr/>
          <p:nvPr/>
        </p:nvSpPr>
        <p:spPr>
          <a:xfrm>
            <a:off x="4709160" y="228600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600" dirty="0" smtClean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燈</a:t>
            </a:r>
            <a:r>
              <a:rPr lang="zh-TW" altLang="en-US" sz="3600" dirty="0" smtClean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光干擾</a:t>
            </a:r>
            <a:endParaRPr lang="en-US" altLang="zh-TW" sz="3600" dirty="0" smtClean="0">
              <a:solidFill>
                <a:srgbClr val="C9D6E8"/>
              </a:solidFill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zh-TW" altLang="en-US" sz="3600" dirty="0" smtClean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看不清楚</a:t>
            </a:r>
            <a:endParaRPr lang="en-US" sz="3600" dirty="0">
              <a:solidFill>
                <a:srgbClr val="C9D6E8"/>
              </a:solidFill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508730" y="3632892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 err="1">
                <a:solidFill>
                  <a:srgbClr val="FFB3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雜訊・</a:t>
            </a:r>
            <a:r>
              <a:rPr lang="en-US" sz="2200" b="1" dirty="0" err="1" smtClean="0">
                <a:solidFill>
                  <a:srgbClr val="FFB3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頻道</a:t>
            </a:r>
            <a:r>
              <a:rPr lang="zh-TW" altLang="en-US" sz="2200" b="1" dirty="0" smtClean="0">
                <a:solidFill>
                  <a:srgbClr val="FFB3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的影響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8412480" y="1325880"/>
            <a:ext cx="3611880" cy="3291840"/>
          </a:xfrm>
          <a:prstGeom prst="roundRect">
            <a:avLst>
              <a:gd name="adj" fmla="val 2222"/>
            </a:avLst>
          </a:prstGeom>
          <a:solidFill>
            <a:srgbClr val="0D1424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412480" y="155448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chemeClr val="bg1"/>
                </a:solidFill>
              </a:rPr>
              <a:t>🔁</a:t>
            </a:r>
          </a:p>
        </p:txBody>
      </p:sp>
      <p:sp>
        <p:nvSpPr>
          <p:cNvPr id="15" name="Text 12"/>
          <p:cNvSpPr/>
          <p:nvPr/>
        </p:nvSpPr>
        <p:spPr>
          <a:xfrm>
            <a:off x="8686800" y="2693139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altLang="zh-TW" sz="3600" dirty="0" err="1" smtClean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漏數</a:t>
            </a:r>
            <a:r>
              <a:rPr lang="zh-TW" altLang="en-US" sz="3600" dirty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了</a:t>
            </a:r>
            <a:r>
              <a:rPr lang="en-US" altLang="zh-TW" sz="3600" dirty="0" err="1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一拍</a:t>
            </a:r>
            <a:endParaRPr lang="en-US" altLang="zh-TW" sz="3600" dirty="0"/>
          </a:p>
          <a:p>
            <a:pPr algn="ctr">
              <a:lnSpc>
                <a:spcPct val="120000"/>
              </a:lnSpc>
            </a:pPr>
            <a:r>
              <a:rPr lang="en-US" altLang="zh-TW" sz="3600" dirty="0" err="1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整列</a:t>
            </a:r>
            <a:r>
              <a:rPr lang="zh-TW" altLang="en-US" sz="3600" dirty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都</a:t>
            </a:r>
            <a:r>
              <a:rPr lang="en-US" altLang="zh-TW" sz="3600" dirty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錯</a:t>
            </a:r>
            <a:r>
              <a:rPr lang="zh-TW" altLang="en-US" sz="3600" dirty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了</a:t>
            </a:r>
            <a:endParaRPr lang="en-US" altLang="zh-TW" sz="3600" dirty="0"/>
          </a:p>
          <a:p>
            <a:pPr marL="0" indent="0" algn="ctr">
              <a:lnSpc>
                <a:spcPct val="120000"/>
              </a:lnSpc>
              <a:buNone/>
            </a:pPr>
            <a:endParaRPr lang="en-US" sz="3600" dirty="0"/>
          </a:p>
        </p:txBody>
      </p:sp>
      <p:sp>
        <p:nvSpPr>
          <p:cNvPr id="16" name="Text 13"/>
          <p:cNvSpPr/>
          <p:nvPr/>
        </p:nvSpPr>
        <p:spPr>
          <a:xfrm>
            <a:off x="8412480" y="3634277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2200" b="1" dirty="0" smtClean="0">
                <a:solidFill>
                  <a:srgbClr val="FFB3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訊號誤讀或錯失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457200" y="5074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 err="1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</a:t>
            </a:r>
            <a:r>
              <a:rPr lang="zh-TW" altLang="en-US" sz="2600" b="1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個錯誤</a:t>
            </a:r>
            <a:r>
              <a:rPr lang="en-US" sz="2600" b="1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</a:t>
            </a:r>
            <a:r>
              <a:rPr lang="en-US" sz="2600" b="1" dirty="0" err="1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都是NASA工程師</a:t>
            </a:r>
            <a:r>
              <a:rPr lang="zh-TW" altLang="en-US" sz="2600" b="1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真實</a:t>
            </a:r>
            <a:r>
              <a:rPr lang="en-US" sz="2600" b="1" dirty="0" err="1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要解決的問題</a:t>
            </a:r>
            <a:r>
              <a:rPr lang="en-US" sz="2600" b="1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！</a:t>
            </a:r>
            <a:endParaRPr lang="en-US" sz="2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MISSION 02 · 火星第一眼：1976 維京一號的拍照任務　12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3000" b="1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</a:t>
            </a:r>
            <a:r>
              <a:rPr lang="en-US" sz="3000" b="1" dirty="0" err="1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們今天做的</a:t>
            </a:r>
            <a:r>
              <a:rPr lang="en-US" sz="3000" b="1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</a:t>
            </a:r>
            <a:r>
              <a:rPr lang="zh-TW" altLang="en-US" sz="3000" b="1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其實</a:t>
            </a:r>
            <a:r>
              <a:rPr lang="en-US" sz="3000" b="1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 </a:t>
            </a:r>
            <a:r>
              <a:rPr lang="en-US" sz="3000" b="1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1976 年的真實工程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5440680" cy="1005840"/>
          </a:xfrm>
          <a:prstGeom prst="roundRect">
            <a:avLst>
              <a:gd name="adj" fmla="val 7273"/>
            </a:avLst>
          </a:prstGeom>
          <a:solidFill>
            <a:srgbClr val="0D1424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4173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🔦 手電筒亮暗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3108960" y="141732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dirty="0" smtClean="0">
                <a:solidFill>
                  <a:srgbClr val="5EC8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</a:t>
            </a:r>
            <a:r>
              <a:rPr lang="en-US" sz="2500" dirty="0" err="1" smtClean="0">
                <a:solidFill>
                  <a:srgbClr val="5EC8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把資料變成訊號</a:t>
            </a:r>
            <a:endParaRPr lang="en-US" sz="2500" dirty="0"/>
          </a:p>
        </p:txBody>
      </p:sp>
      <p:sp>
        <p:nvSpPr>
          <p:cNvPr id="8" name="Shape 5"/>
          <p:cNvSpPr/>
          <p:nvPr/>
        </p:nvSpPr>
        <p:spPr>
          <a:xfrm>
            <a:off x="6355080" y="1325880"/>
            <a:ext cx="5440680" cy="1005840"/>
          </a:xfrm>
          <a:prstGeom prst="roundRect">
            <a:avLst>
              <a:gd name="adj" fmla="val 7273"/>
            </a:avLst>
          </a:prstGeom>
          <a:solidFill>
            <a:srgbClr val="0D1424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629400" y="14173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TW" sz="2500" b="1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🔁 </a:t>
            </a:r>
            <a:r>
              <a:rPr lang="zh-TW" altLang="en-US" sz="2500" b="1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無法詢問</a:t>
            </a:r>
            <a:endParaRPr lang="en-US" altLang="zh-TW" sz="2500" dirty="0"/>
          </a:p>
        </p:txBody>
      </p:sp>
      <p:sp>
        <p:nvSpPr>
          <p:cNvPr id="10" name="Text 7"/>
          <p:cNvSpPr/>
          <p:nvPr/>
        </p:nvSpPr>
        <p:spPr>
          <a:xfrm>
            <a:off x="9006840" y="141732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TW" sz="2500" dirty="0">
                <a:solidFill>
                  <a:srgbClr val="5EC8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 </a:t>
            </a:r>
            <a:r>
              <a:rPr lang="en-US" altLang="zh-TW" sz="2500" dirty="0" smtClean="0">
                <a:solidFill>
                  <a:srgbClr val="5EC8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向</a:t>
            </a:r>
            <a:r>
              <a:rPr lang="zh-TW" altLang="en-US" sz="2500" dirty="0">
                <a:solidFill>
                  <a:srgbClr val="5EC8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傳遞訊息</a:t>
            </a:r>
            <a:endParaRPr lang="en-US" sz="2500" dirty="0"/>
          </a:p>
        </p:txBody>
      </p:sp>
      <p:sp>
        <p:nvSpPr>
          <p:cNvPr id="11" name="Shape 8"/>
          <p:cNvSpPr/>
          <p:nvPr/>
        </p:nvSpPr>
        <p:spPr>
          <a:xfrm>
            <a:off x="457200" y="2560320"/>
            <a:ext cx="5440680" cy="1005840"/>
          </a:xfrm>
          <a:prstGeom prst="roundRect">
            <a:avLst>
              <a:gd name="adj" fmla="val 7273"/>
            </a:avLst>
          </a:prstGeom>
          <a:solidFill>
            <a:srgbClr val="0D1424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" y="26517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✨ </a:t>
            </a:r>
            <a:r>
              <a:rPr lang="zh-TW" altLang="en-US" sz="2500" b="1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開頭</a:t>
            </a:r>
            <a:r>
              <a:rPr lang="en-US" sz="2500" b="1" dirty="0" err="1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快速閃爍</a:t>
            </a:r>
            <a:endParaRPr lang="en-US" sz="2500" dirty="0"/>
          </a:p>
        </p:txBody>
      </p:sp>
      <p:sp>
        <p:nvSpPr>
          <p:cNvPr id="13" name="Text 10"/>
          <p:cNvSpPr/>
          <p:nvPr/>
        </p:nvSpPr>
        <p:spPr>
          <a:xfrm>
            <a:off x="3108960" y="265176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5EC8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r>
              <a:rPr lang="en-US" sz="2500" dirty="0" smtClean="0">
                <a:solidFill>
                  <a:srgbClr val="5EC8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</a:t>
            </a:r>
            <a:r>
              <a:rPr lang="zh-TW" altLang="en-US" sz="2500" dirty="0" smtClean="0">
                <a:solidFill>
                  <a:srgbClr val="5EC8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協定代號</a:t>
            </a:r>
            <a:endParaRPr lang="en-US" sz="2500" dirty="0"/>
          </a:p>
        </p:txBody>
      </p:sp>
      <p:sp>
        <p:nvSpPr>
          <p:cNvPr id="14" name="Shape 11"/>
          <p:cNvSpPr/>
          <p:nvPr/>
        </p:nvSpPr>
        <p:spPr>
          <a:xfrm>
            <a:off x="6286500" y="2560320"/>
            <a:ext cx="5440680" cy="1005840"/>
          </a:xfrm>
          <a:prstGeom prst="roundRect">
            <a:avLst>
              <a:gd name="adj" fmla="val 7273"/>
            </a:avLst>
          </a:prstGeom>
          <a:solidFill>
            <a:srgbClr val="0D1424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629400" y="26517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TW" sz="2500" b="1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✨ </a:t>
            </a:r>
            <a:r>
              <a:rPr lang="en-US" altLang="zh-TW" sz="2500" b="1" dirty="0" err="1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數拍子</a:t>
            </a:r>
            <a:endParaRPr lang="en-US" altLang="zh-TW" sz="2500" dirty="0"/>
          </a:p>
        </p:txBody>
      </p:sp>
      <p:sp>
        <p:nvSpPr>
          <p:cNvPr id="16" name="Text 13"/>
          <p:cNvSpPr/>
          <p:nvPr/>
        </p:nvSpPr>
        <p:spPr>
          <a:xfrm>
            <a:off x="9006840" y="265176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TW" altLang="en-US" sz="2500" dirty="0">
                <a:solidFill>
                  <a:srgbClr val="5EC8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規律和</a:t>
            </a:r>
            <a:r>
              <a:rPr lang="zh-TW" altLang="en-US" sz="2500" dirty="0" smtClean="0">
                <a:solidFill>
                  <a:srgbClr val="5EC8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協定</a:t>
            </a:r>
            <a:endParaRPr lang="en-US" sz="2500" dirty="0"/>
          </a:p>
        </p:txBody>
      </p:sp>
      <p:sp>
        <p:nvSpPr>
          <p:cNvPr id="17" name="Shape 14"/>
          <p:cNvSpPr/>
          <p:nvPr/>
        </p:nvSpPr>
        <p:spPr>
          <a:xfrm>
            <a:off x="457200" y="3794760"/>
            <a:ext cx="5440680" cy="1005840"/>
          </a:xfrm>
          <a:prstGeom prst="roundRect">
            <a:avLst>
              <a:gd name="adj" fmla="val 7273"/>
            </a:avLst>
          </a:prstGeom>
          <a:solidFill>
            <a:srgbClr val="0D1424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31520" y="38862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TW" sz="2500" b="1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✨ </a:t>
            </a:r>
            <a:r>
              <a:rPr lang="zh-TW" altLang="en-US" sz="2500" b="1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訊號干擾</a:t>
            </a:r>
            <a:endParaRPr lang="en-US" sz="2500" dirty="0"/>
          </a:p>
        </p:txBody>
      </p:sp>
      <p:sp>
        <p:nvSpPr>
          <p:cNvPr id="19" name="Text 16"/>
          <p:cNvSpPr/>
          <p:nvPr/>
        </p:nvSpPr>
        <p:spPr>
          <a:xfrm>
            <a:off x="3108960" y="388620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5EC8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r>
              <a:rPr lang="en-US" sz="2500" dirty="0" smtClean="0">
                <a:solidFill>
                  <a:srgbClr val="5EC8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</a:t>
            </a:r>
            <a:r>
              <a:rPr lang="zh-TW" altLang="en-US" sz="2500" dirty="0" smtClean="0">
                <a:solidFill>
                  <a:srgbClr val="5EC8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太空訊號影響</a:t>
            </a:r>
            <a:endParaRPr lang="en-US" sz="2500" dirty="0"/>
          </a:p>
        </p:txBody>
      </p:sp>
      <p:sp>
        <p:nvSpPr>
          <p:cNvPr id="20" name="Shape 17"/>
          <p:cNvSpPr/>
          <p:nvPr/>
        </p:nvSpPr>
        <p:spPr>
          <a:xfrm>
            <a:off x="6355080" y="3794760"/>
            <a:ext cx="5440680" cy="1005840"/>
          </a:xfrm>
          <a:prstGeom prst="roundRect">
            <a:avLst>
              <a:gd name="adj" fmla="val 7273"/>
            </a:avLst>
          </a:prstGeom>
          <a:solidFill>
            <a:srgbClr val="0D1424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629400" y="38862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TW" sz="2500" b="1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🔍 </a:t>
            </a:r>
            <a:r>
              <a:rPr lang="en-US" altLang="zh-TW" sz="2500" b="1" dirty="0" err="1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比對找錯</a:t>
            </a:r>
            <a:endParaRPr lang="en-US" altLang="zh-TW" sz="2500" dirty="0"/>
          </a:p>
        </p:txBody>
      </p:sp>
      <p:sp>
        <p:nvSpPr>
          <p:cNvPr id="22" name="Text 19"/>
          <p:cNvSpPr/>
          <p:nvPr/>
        </p:nvSpPr>
        <p:spPr>
          <a:xfrm>
            <a:off x="9006840" y="388620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2500" dirty="0" smtClean="0">
                <a:solidFill>
                  <a:srgbClr val="5EC8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圖片結果判讀推測</a:t>
            </a:r>
            <a:endParaRPr lang="en-US" sz="2500" dirty="0"/>
          </a:p>
        </p:txBody>
      </p:sp>
      <p:sp>
        <p:nvSpPr>
          <p:cNvPr id="23" name="Text 20"/>
          <p:cNvSpPr/>
          <p:nvPr/>
        </p:nvSpPr>
        <p:spPr>
          <a:xfrm>
            <a:off x="457200" y="52578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1976 </a:t>
            </a:r>
            <a:r>
              <a:rPr lang="en-US" sz="2500" b="1" dirty="0" err="1" smtClean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年人類第一張火星照片</a:t>
            </a:r>
            <a:r>
              <a:rPr lang="en-US" sz="2500" b="1" dirty="0" smtClean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</a:t>
            </a:r>
            <a:r>
              <a:rPr lang="zh-TW" altLang="en-US" sz="2500" b="1" dirty="0" smtClean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就</a:t>
            </a:r>
            <a:r>
              <a:rPr lang="en-US" sz="2500" b="1" dirty="0" err="1" smtClean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是這樣一列一列</a:t>
            </a:r>
            <a:r>
              <a:rPr lang="zh-TW" altLang="en-US" sz="2500" b="1" dirty="0" smtClean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</a:t>
            </a:r>
            <a:r>
              <a:rPr lang="en-US" sz="2500" b="1" dirty="0" err="1" smtClean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控制室螢幕上</a:t>
            </a:r>
            <a:r>
              <a:rPr lang="en-US" sz="2500" b="1" dirty="0" err="1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「長」</a:t>
            </a:r>
            <a:r>
              <a:rPr lang="en-US" sz="2500" b="1" dirty="0" err="1" smtClean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出來的</a:t>
            </a:r>
            <a:endParaRPr lang="en-US" sz="25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MISSION 02 · 火星第一眼：1976 維京一號的拍照任務　11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3000" b="1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課後延伸挑戰</a:t>
            </a:r>
            <a:r>
              <a:rPr lang="en-US" sz="3000" b="1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</a:t>
            </a:r>
            <a:r>
              <a:rPr lang="zh-TW" altLang="en-US" sz="3000" b="1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試著</a:t>
            </a:r>
            <a:r>
              <a:rPr lang="en-US" sz="3000" b="1" dirty="0" err="1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把規則</a:t>
            </a:r>
            <a:r>
              <a:rPr lang="zh-TW" altLang="en-US" sz="3000" b="1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修改看看會發生什麼？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457200" y="13716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2500" dirty="0" smtClean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如果現在</a:t>
            </a:r>
            <a:r>
              <a:rPr lang="en-US" sz="2500" dirty="0" err="1" smtClean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同一串訊號</a:t>
            </a:r>
            <a:r>
              <a:rPr lang="en-US" sz="2500" dirty="0" err="1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，沒有換行</a:t>
            </a:r>
            <a:r>
              <a:rPr lang="en-US" sz="2500" dirty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457200" y="182880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kern="0" spc="400" dirty="0">
                <a:solidFill>
                  <a:srgbClr val="5EC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0110100111110110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2232508" y="2697480"/>
            <a:ext cx="457200" cy="457200"/>
          </a:xfrm>
          <a:prstGeom prst="rect">
            <a:avLst/>
          </a:prstGeom>
          <a:solidFill>
            <a:srgbClr val="0D1424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717140" y="2697480"/>
            <a:ext cx="457200" cy="457200"/>
          </a:xfrm>
          <a:prstGeom prst="rect">
            <a:avLst/>
          </a:prstGeom>
          <a:solidFill>
            <a:srgbClr val="FFB347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201772" y="2697480"/>
            <a:ext cx="457200" cy="457200"/>
          </a:xfrm>
          <a:prstGeom prst="rect">
            <a:avLst/>
          </a:prstGeom>
          <a:solidFill>
            <a:srgbClr val="FFB347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686404" y="2697480"/>
            <a:ext cx="457200" cy="457200"/>
          </a:xfrm>
          <a:prstGeom prst="rect">
            <a:avLst/>
          </a:prstGeom>
          <a:solidFill>
            <a:srgbClr val="0D1424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171036" y="2697480"/>
            <a:ext cx="457200" cy="457200"/>
          </a:xfrm>
          <a:prstGeom prst="rect">
            <a:avLst/>
          </a:prstGeom>
          <a:solidFill>
            <a:srgbClr val="FFB347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655668" y="2697480"/>
            <a:ext cx="457200" cy="457200"/>
          </a:xfrm>
          <a:prstGeom prst="rect">
            <a:avLst/>
          </a:prstGeom>
          <a:solidFill>
            <a:srgbClr val="0D1424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140300" y="2697480"/>
            <a:ext cx="457200" cy="457200"/>
          </a:xfrm>
          <a:prstGeom prst="rect">
            <a:avLst/>
          </a:prstGeom>
          <a:solidFill>
            <a:srgbClr val="0D1424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24932" y="2697480"/>
            <a:ext cx="457200" cy="457200"/>
          </a:xfrm>
          <a:prstGeom prst="rect">
            <a:avLst/>
          </a:prstGeom>
          <a:solidFill>
            <a:srgbClr val="FFB347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109564" y="2697480"/>
            <a:ext cx="457200" cy="457200"/>
          </a:xfrm>
          <a:prstGeom prst="rect">
            <a:avLst/>
          </a:prstGeom>
          <a:solidFill>
            <a:srgbClr val="FFB347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594196" y="2697480"/>
            <a:ext cx="457200" cy="457200"/>
          </a:xfrm>
          <a:prstGeom prst="rect">
            <a:avLst/>
          </a:prstGeom>
          <a:solidFill>
            <a:srgbClr val="FFB347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078828" y="2697480"/>
            <a:ext cx="457200" cy="457200"/>
          </a:xfrm>
          <a:prstGeom prst="rect">
            <a:avLst/>
          </a:prstGeom>
          <a:solidFill>
            <a:srgbClr val="FFB347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563460" y="2697480"/>
            <a:ext cx="457200" cy="457200"/>
          </a:xfrm>
          <a:prstGeom prst="rect">
            <a:avLst/>
          </a:prstGeom>
          <a:solidFill>
            <a:srgbClr val="FFB347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048092" y="2697480"/>
            <a:ext cx="457200" cy="457200"/>
          </a:xfrm>
          <a:prstGeom prst="rect">
            <a:avLst/>
          </a:prstGeom>
          <a:solidFill>
            <a:srgbClr val="0D1424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532724" y="2697480"/>
            <a:ext cx="457200" cy="457200"/>
          </a:xfrm>
          <a:prstGeom prst="rect">
            <a:avLst/>
          </a:prstGeom>
          <a:solidFill>
            <a:srgbClr val="FFB347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9017356" y="2697480"/>
            <a:ext cx="457200" cy="457200"/>
          </a:xfrm>
          <a:prstGeom prst="rect">
            <a:avLst/>
          </a:prstGeom>
          <a:solidFill>
            <a:srgbClr val="FFB347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501988" y="2697480"/>
            <a:ext cx="457200" cy="457200"/>
          </a:xfrm>
          <a:prstGeom prst="rect">
            <a:avLst/>
          </a:prstGeom>
          <a:solidFill>
            <a:srgbClr val="0D1424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57200" y="3520440"/>
            <a:ext cx="3611880" cy="1554480"/>
          </a:xfrm>
          <a:prstGeom prst="roundRect">
            <a:avLst>
              <a:gd name="adj" fmla="val 4706"/>
            </a:avLst>
          </a:prstGeom>
          <a:solidFill>
            <a:srgbClr val="0D1424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31520" y="37033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 err="1" smtClean="0">
                <a:solidFill>
                  <a:srgbClr val="FF5C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寬度</a:t>
            </a:r>
            <a:r>
              <a:rPr lang="zh-TW" altLang="en-US" sz="2500" b="1" dirty="0" smtClean="0">
                <a:solidFill>
                  <a:srgbClr val="FF5C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改變</a:t>
            </a:r>
            <a:endParaRPr lang="en-US" sz="2500" dirty="0"/>
          </a:p>
        </p:txBody>
      </p:sp>
      <p:sp>
        <p:nvSpPr>
          <p:cNvPr id="25" name="Text 22"/>
          <p:cNvSpPr/>
          <p:nvPr/>
        </p:nvSpPr>
        <p:spPr>
          <a:xfrm>
            <a:off x="731519" y="4160520"/>
            <a:ext cx="321240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500" dirty="0" smtClean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</a:t>
            </a:r>
            <a:r>
              <a:rPr lang="en-US" sz="2500" dirty="0" err="1" smtClean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格一列</a:t>
            </a:r>
            <a:r>
              <a:rPr lang="zh-TW" altLang="en-US" sz="2500" dirty="0" smtClean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變成</a:t>
            </a:r>
            <a:r>
              <a:rPr lang="en-US" sz="2500" dirty="0" smtClean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8 </a:t>
            </a:r>
            <a:r>
              <a:rPr lang="en-US" sz="2500" dirty="0" err="1" smtClean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格一列</a:t>
            </a:r>
            <a:endParaRPr lang="en-US" sz="2500" dirty="0" smtClean="0"/>
          </a:p>
        </p:txBody>
      </p:sp>
      <p:sp>
        <p:nvSpPr>
          <p:cNvPr id="26" name="Shape 23"/>
          <p:cNvSpPr/>
          <p:nvPr/>
        </p:nvSpPr>
        <p:spPr>
          <a:xfrm>
            <a:off x="4526280" y="3520440"/>
            <a:ext cx="3611880" cy="1554480"/>
          </a:xfrm>
          <a:prstGeom prst="roundRect">
            <a:avLst>
              <a:gd name="adj" fmla="val 4706"/>
            </a:avLst>
          </a:prstGeom>
          <a:solidFill>
            <a:srgbClr val="0D1424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709160" y="3730105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 err="1" smtClean="0">
                <a:solidFill>
                  <a:srgbClr val="FF5C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約定相反</a:t>
            </a:r>
            <a:endParaRPr lang="en-US" sz="2500" dirty="0"/>
          </a:p>
        </p:txBody>
      </p:sp>
      <p:sp>
        <p:nvSpPr>
          <p:cNvPr id="28" name="Text 25"/>
          <p:cNvSpPr/>
          <p:nvPr/>
        </p:nvSpPr>
        <p:spPr>
          <a:xfrm>
            <a:off x="4709160" y="416052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5000"/>
              </a:lnSpc>
            </a:pPr>
            <a:r>
              <a:rPr lang="zh-TW" altLang="en-US" sz="2500" dirty="0" smtClean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將亮改成</a:t>
            </a:r>
            <a:r>
              <a:rPr lang="en-US" altLang="zh-TW" sz="2500" dirty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 </a:t>
            </a:r>
            <a:r>
              <a:rPr lang="zh-TW" altLang="en-US" sz="2500" dirty="0" smtClean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，暗改成</a:t>
            </a:r>
            <a:r>
              <a:rPr lang="en-US" altLang="zh-TW" sz="2500" dirty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500" dirty="0">
              <a:solidFill>
                <a:srgbClr val="C9D6E8"/>
              </a:solidFill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8276692" y="3520440"/>
            <a:ext cx="3611880" cy="1554480"/>
          </a:xfrm>
          <a:prstGeom prst="roundRect">
            <a:avLst>
              <a:gd name="adj" fmla="val 4706"/>
            </a:avLst>
          </a:prstGeom>
          <a:solidFill>
            <a:srgbClr val="0D1424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686800" y="37033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2500" b="1" dirty="0" smtClean="0">
                <a:solidFill>
                  <a:srgbClr val="FF5C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訊號修改</a:t>
            </a:r>
            <a:endParaRPr lang="en-US" sz="2500" dirty="0"/>
          </a:p>
        </p:txBody>
      </p:sp>
      <p:sp>
        <p:nvSpPr>
          <p:cNvPr id="31" name="Text 28"/>
          <p:cNvSpPr/>
          <p:nvPr/>
        </p:nvSpPr>
        <p:spPr>
          <a:xfrm>
            <a:off x="8686800" y="416052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zh-TW" altLang="en-US" sz="2500" dirty="0" smtClean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每一拍結果畫成兩格</a:t>
            </a:r>
            <a:endParaRPr lang="en-US" sz="2500" dirty="0">
              <a:solidFill>
                <a:srgbClr val="C9D6E8"/>
              </a:solidFill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457200" y="53949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2000" b="1" dirty="0" smtClean="0">
                <a:solidFill>
                  <a:srgbClr val="FFB3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你將會發現：</a:t>
            </a:r>
            <a:r>
              <a:rPr lang="en-US" sz="2000" b="1" dirty="0" err="1" smtClean="0">
                <a:solidFill>
                  <a:srgbClr val="FFB3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代號</a:t>
            </a:r>
            <a:r>
              <a:rPr lang="en-US" sz="2000" b="1" dirty="0" err="1">
                <a:solidFill>
                  <a:srgbClr val="FFB3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・大小・順序・</a:t>
            </a:r>
            <a:r>
              <a:rPr lang="en-US" sz="2000" b="1" dirty="0" err="1" smtClean="0">
                <a:solidFill>
                  <a:srgbClr val="FFB3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節拍</a:t>
            </a:r>
            <a:r>
              <a:rPr lang="zh-TW" altLang="en-US" sz="2000" b="1" dirty="0" smtClean="0">
                <a:solidFill>
                  <a:srgbClr val="FFB3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的約定全都非常重要，</a:t>
            </a:r>
            <a:r>
              <a:rPr lang="en-US" sz="2000" b="1" dirty="0" err="1" smtClean="0">
                <a:solidFill>
                  <a:srgbClr val="FFB3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缺一不可</a:t>
            </a:r>
            <a:r>
              <a:rPr lang="en-US" sz="2000" b="1" dirty="0">
                <a:solidFill>
                  <a:srgbClr val="FFB3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MISSION 02 · 火星第一眼：1976 維京一號的拍照任務　13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0" y="731520"/>
            <a:ext cx="12191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5EC8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今日任務完成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1371600" y="1737360"/>
            <a:ext cx="9418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 與 1，就是把影像傳過太空的語言
</a:t>
            </a:r>
            <a:endParaRPr lang="en-US" sz="2400" dirty="0"/>
          </a:p>
          <a:p>
            <a:pPr marL="0" indent="0" algn="ctr">
              <a:buNone/>
            </a:pPr>
            <a:r>
              <a:rPr lang="en-US" sz="2000" dirty="0" err="1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通訊協定：代號、順序、節拍、</a:t>
            </a:r>
            <a:r>
              <a:rPr lang="en-US" sz="2000" dirty="0" err="1" smtClean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同步</a:t>
            </a:r>
            <a:r>
              <a:rPr lang="zh-TW" altLang="en-US" sz="2000" dirty="0" smtClean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，照著規則傳送訊號</a:t>
            </a:r>
            <a:r>
              <a:rPr lang="en-US" sz="2000" dirty="0" smtClean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</a:t>
            </a:r>
            <a:r>
              <a:rPr lang="en-US" sz="2000" dirty="0" err="1" smtClean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照片</a:t>
            </a:r>
            <a:r>
              <a:rPr lang="zh-TW" altLang="en-US" sz="2000" dirty="0" smtClean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就能回到地球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4892040" y="3383280"/>
            <a:ext cx="457200" cy="457200"/>
          </a:xfrm>
          <a:prstGeom prst="rect">
            <a:avLst/>
          </a:prstGeom>
          <a:solidFill>
            <a:srgbClr val="0D1424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376672" y="3383280"/>
            <a:ext cx="457200" cy="457200"/>
          </a:xfrm>
          <a:prstGeom prst="rect">
            <a:avLst/>
          </a:prstGeom>
          <a:solidFill>
            <a:srgbClr val="FFB347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861304" y="3383280"/>
            <a:ext cx="457200" cy="457200"/>
          </a:xfrm>
          <a:prstGeom prst="rect">
            <a:avLst/>
          </a:prstGeom>
          <a:solidFill>
            <a:srgbClr val="FFB347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345936" y="3383280"/>
            <a:ext cx="457200" cy="457200"/>
          </a:xfrm>
          <a:prstGeom prst="rect">
            <a:avLst/>
          </a:prstGeom>
          <a:solidFill>
            <a:srgbClr val="0D1424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830568" y="3383280"/>
            <a:ext cx="457200" cy="457200"/>
          </a:xfrm>
          <a:prstGeom prst="rect">
            <a:avLst/>
          </a:prstGeom>
          <a:solidFill>
            <a:srgbClr val="FFB347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371600" y="4297680"/>
            <a:ext cx="9418320" cy="1901784"/>
          </a:xfrm>
          <a:prstGeom prst="roundRect">
            <a:avLst>
              <a:gd name="adj" fmla="val 4211"/>
            </a:avLst>
          </a:prstGeom>
          <a:solidFill>
            <a:srgbClr val="1A0D10"/>
          </a:solidFill>
          <a:ln w="19050">
            <a:solidFill>
              <a:srgbClr val="FF5C4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746504" y="4444261"/>
            <a:ext cx="8686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5C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可是……地球收到的照片只有黑與白！
</a:t>
            </a:r>
            <a:endParaRPr lang="en-US" sz="1900" dirty="0"/>
          </a:p>
          <a:p>
            <a:pPr marL="0" indent="0" algn="ctr">
              <a:spcAft>
                <a:spcPts val="500"/>
              </a:spcAft>
              <a:buNone/>
            </a:pPr>
            <a:r>
              <a:rPr lang="en-US" sz="2500" dirty="0" err="1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真正的火星有</a:t>
            </a:r>
            <a:r>
              <a:rPr lang="zh-TW" altLang="en-US" sz="2500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亮</a:t>
            </a:r>
            <a:r>
              <a:rPr lang="en-US" sz="2500" dirty="0" err="1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有暗</a:t>
            </a:r>
            <a:r>
              <a:rPr lang="en-US" sz="2500" dirty="0" err="1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、深深淺淺。只用</a:t>
            </a:r>
            <a:r>
              <a:rPr lang="en-US" sz="2500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0 和 1，夠嗎？</a:t>
            </a:r>
            <a:r>
              <a:rPr lang="en-US" sz="1500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
</a:t>
            </a:r>
            <a:endParaRPr lang="en-US" sz="19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FFB3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下一節：火星的深與淺</a:t>
            </a:r>
            <a:endParaRPr lang="en-US" sz="1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954</Words>
  <Application>Microsoft Office PowerPoint</Application>
  <PresentationFormat>寬螢幕</PresentationFormat>
  <Paragraphs>184</Paragraphs>
  <Slides>15</Slides>
  <Notes>15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21" baseType="lpstr">
      <vt:lpstr>Microsoft JhengHei</vt:lpstr>
      <vt:lpstr>新細明體</vt:lpstr>
      <vt:lpstr>Arial</vt:lpstr>
      <vt:lpstr>Calibri</vt:lpstr>
      <vt:lpstr>Courier New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Wen-Yi Chang</cp:lastModifiedBy>
  <cp:revision>36</cp:revision>
  <dcterms:created xsi:type="dcterms:W3CDTF">2026-07-12T01:17:51Z</dcterms:created>
  <dcterms:modified xsi:type="dcterms:W3CDTF">2026-07-12T07:09:16Z</dcterms:modified>
</cp:coreProperties>
</file>