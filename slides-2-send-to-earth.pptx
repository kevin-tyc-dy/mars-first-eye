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3" r:id="rId6"/>
    <p:sldId id="269" r:id="rId7"/>
    <p:sldId id="270" r:id="rId8"/>
    <p:sldId id="261" r:id="rId9"/>
    <p:sldId id="271" r:id="rId10"/>
    <p:sldId id="262" r:id="rId11"/>
    <p:sldId id="263" r:id="rId12"/>
    <p:sldId id="264" r:id="rId13"/>
    <p:sldId id="265" r:id="rId14"/>
    <p:sldId id="267" r:id="rId15"/>
    <p:sldId id="266" r:id="rId16"/>
    <p:sldId id="268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0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22228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開場前播放。今天的任務：把上一節「拍」好的照片傳回地球。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回顧第一節：照片已用像素一格一格存好。拋出本節任務：照片還在火星上，要傳回地球。強調 19 分鐘與不能回問。（併入問題討論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開放腦力激盪，任何點子都先寫下來，不急著否定。約 3 分鐘收集想法。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帶全班逐一評估學生的提案，每張卡都讓學生自己說出為什麼不行，最後拋出「只送訊號」的方向。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21223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收斂兩步：①照片已是一格格亮暗，可以像燈號一樣發送；②三億多公里外看不到手電筒，科學家用的是傳更遠的「無線電」。讓無線電是學生推理出來的結論。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6525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開放腦力激盪，任何點子都先寫下來，不急著否定。約 3 分鐘收集想法。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701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全班一起約定四條規則並命名「通訊協定」。討論：為什麼用快速閃爍當記號（長亮混淆1、長暗混淆0，快速閃爍是資料中不可能出現的樣式）。（6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開啟「光訊號播送台」頁面。先試傳第 1 列練手，再播整張 5×5。人人一張接收紀錄單獨立抄收，播畢按揭曉答案全班比對。（8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分組傳輸 5×5 圖卡。遮光是成功關鍵（拉窗簾、關靠窗燈）。干擾太大改三組傳、三組觀察再交換。時間允許才輪替第二張；8×8 為選配進階。（12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兩輪對比就是教材：第一輪（電腦、完美節拍）是控制組，第二輪（人、會飄的節拍）是實驗組。讓學生自己說出差別。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收集剛才實際發生的狀況，幫它命名。錯誤是本節最珍貴的素材。（併協定破壞實驗共 6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投影對照表（詳見教師圖解「維京一號無線電傳圖」）。1976 年第一張火星照片正是這樣一列一列在控制室螢幕上長出來的。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投影「協定實驗室」：同一串訊號，寬度猜錯或 0/1 相反，照片立刻亂掉。歸納：代號、大小、順序、節拍缺一不可。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總結兩句話，拋出第三節懸念：只有黑白夠嗎？（2 分鐘）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kevin-tyc-dy.github.io/mars-first-eye/light-signal-broadcaster.ht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evin-tyc-dy.github.io/mars-first-eye/light-signal-receiver.html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10515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600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 I S S I O N   0 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0" y="1463040"/>
            <a:ext cx="121916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把照片傳回地球</a:t>
            </a:r>
            <a:endParaRPr lang="en-US" sz="6600" dirty="0"/>
          </a:p>
        </p:txBody>
      </p:sp>
      <p:sp>
        <p:nvSpPr>
          <p:cNvPr id="6" name="Text 3"/>
          <p:cNvSpPr/>
          <p:nvPr/>
        </p:nvSpPr>
        <p:spPr>
          <a:xfrm>
            <a:off x="0" y="2697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火星第一眼：1976 維京一號的拍照任務・第二節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81772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2920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4068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05216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6364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87512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28660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9808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0956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2104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93252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4400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5548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6696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578444" y="3657600"/>
            <a:ext cx="384048" cy="384048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989924" y="3657600"/>
            <a:ext cx="384048" cy="384048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0" y="557784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任務控制中心・廣播即將開始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【任務控制中心廣播】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457200" y="1234440"/>
            <a:ext cx="6949440" cy="4480560"/>
          </a:xfrm>
          <a:prstGeom prst="roundRect">
            <a:avLst>
              <a:gd name="adj" fmla="val 16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1554480"/>
            <a:ext cx="6232181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照片拍好了！
</a:t>
            </a:r>
            <a:endParaRPr lang="en-US" sz="2600" dirty="0"/>
          </a:p>
          <a:p>
            <a:pPr marL="0" indent="0">
              <a:spcAft>
                <a:spcPts val="1200"/>
              </a:spcAft>
              <a:buNone/>
            </a:pPr>
            <a:r>
              <a:rPr lang="en-US" sz="22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可是它還存在維京一號的機器裡</a:t>
            </a:r>
            <a:r>
              <a:rPr lang="zh-TW" altLang="en-US" sz="22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地球的科學家，還看不到人類第一張火星照片。</a:t>
            </a:r>
            <a:r>
              <a:rPr lang="en-US" sz="17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26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本節任務：把照片傳回地球。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772400" y="1234440"/>
            <a:ext cx="3977640" cy="4480560"/>
          </a:xfrm>
          <a:prstGeom prst="roundRect">
            <a:avLst>
              <a:gd name="adj" fmla="val 183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92440" y="160020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7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🛰  火星 ⇄ 地球
</a:t>
            </a:r>
            <a:endParaRPr lang="en-US" sz="1700" dirty="0"/>
          </a:p>
          <a:p>
            <a:pPr marL="0" indent="0">
              <a:buNone/>
            </a:pPr>
            <a:r>
              <a:rPr lang="en-US" sz="19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距離約 3.4 億公里
</a:t>
            </a:r>
            <a:endParaRPr lang="en-US" sz="1700" dirty="0"/>
          </a:p>
          <a:p>
            <a:pPr marL="0" indent="0">
              <a:spcAft>
                <a:spcPts val="1000"/>
              </a:spcAft>
              <a:buNone/>
            </a:pPr>
            <a:r>
              <a:rPr lang="zh-TW" altLang="en-US" sz="19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維京一號飛行了</a:t>
            </a:r>
            <a:r>
              <a:rPr lang="en-US" altLang="zh-TW" sz="19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304</a:t>
            </a:r>
            <a:r>
              <a:rPr lang="zh-TW" altLang="en-US" sz="19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</a:t>
            </a:r>
            <a:r>
              <a:rPr lang="en-US" sz="14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700" dirty="0"/>
          </a:p>
          <a:p>
            <a:pPr marL="0" indent="0">
              <a:spcAft>
                <a:spcPts val="800"/>
              </a:spcAft>
              <a:buNone/>
            </a:pPr>
            <a:r>
              <a:rPr lang="zh-TW" altLang="en-US" sz="16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這張拍好的火星照片要怎麼送回地球</a:t>
            </a:r>
            <a:r>
              <a:rPr lang="en-US" sz="16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❓ </a:t>
            </a:r>
            <a:r>
              <a:rPr lang="zh-TW" altLang="en-US" sz="24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我來考考你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0" y="18288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照片在火星、科學家在地球。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0" y="237744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要用什麼方法，把照片送回地球？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3108959" y="3931920"/>
            <a:ext cx="7360501" cy="1371600"/>
          </a:xfrm>
          <a:prstGeom prst="roundRect">
            <a:avLst>
              <a:gd name="adj" fmla="val 533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429000" y="4206240"/>
            <a:ext cx="6897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小組腦力激盪 2 </a:t>
            </a:r>
            <a:r>
              <a:rPr lang="en-US" sz="18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</a:t>
            </a:r>
            <a:endParaRPr lang="en-US" sz="1800" dirty="0"/>
          </a:p>
          <a:p>
            <a:endParaRPr lang="en-US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每一組最少想兩個方法，並說明如何做以及可能會遇到的問題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4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可能的辦法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🚀</a:t>
            </a:r>
          </a:p>
        </p:txBody>
      </p:sp>
      <p:sp>
        <p:nvSpPr>
          <p:cNvPr id="7" name="Text 4"/>
          <p:cNvSpPr/>
          <p:nvPr/>
        </p:nvSpPr>
        <p:spPr>
          <a:xfrm>
            <a:off x="457200" y="22402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用火箭載回來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來回要飛好幾年，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科學家等不及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4434840" y="13258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✉</a:t>
            </a:r>
          </a:p>
        </p:txBody>
      </p:sp>
      <p:sp>
        <p:nvSpPr>
          <p:cNvPr id="11" name="Text 8"/>
          <p:cNvSpPr/>
          <p:nvPr/>
        </p:nvSpPr>
        <p:spPr>
          <a:xfrm>
            <a:off x="4434840" y="22402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請人送回來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709160" y="2880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太空裡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沒有郵差</a:t>
            </a:r>
            <a:endParaRPr lang="en-US" sz="2500" dirty="0"/>
          </a:p>
        </p:txBody>
      </p:sp>
      <p:sp>
        <p:nvSpPr>
          <p:cNvPr id="13" name="Shape 10"/>
          <p:cNvSpPr/>
          <p:nvPr/>
        </p:nvSpPr>
        <p:spPr>
          <a:xfrm>
            <a:off x="8412480" y="1325880"/>
            <a:ext cx="3611880" cy="3017520"/>
          </a:xfrm>
          <a:prstGeom prst="roundRect">
            <a:avLst>
              <a:gd name="adj" fmla="val 2424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dirty="0">
                <a:solidFill>
                  <a:schemeClr val="bg1"/>
                </a:solidFill>
              </a:rPr>
              <a:t>🔌</a:t>
            </a:r>
          </a:p>
        </p:txBody>
      </p:sp>
      <p:sp>
        <p:nvSpPr>
          <p:cNvPr id="15" name="Text 12"/>
          <p:cNvSpPr/>
          <p:nvPr/>
        </p:nvSpPr>
        <p:spPr>
          <a:xfrm>
            <a:off x="8412480" y="224028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拉一條電線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686800" y="288036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三億多公里，</a:t>
            </a:r>
            <a:endParaRPr lang="en-US" sz="2500" dirty="0"/>
          </a:p>
          <a:p>
            <a:pPr marL="0" indent="0" algn="ctr">
              <a:buNone/>
            </a:pPr>
            <a:r>
              <a:rPr lang="en-US" sz="2500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沒有那麼長的線</a:t>
            </a:r>
            <a:endParaRPr lang="en-US" sz="2500" dirty="0"/>
          </a:p>
        </p:txBody>
      </p:sp>
      <p:sp>
        <p:nvSpPr>
          <p:cNvPr id="17" name="Text 14"/>
          <p:cNvSpPr/>
          <p:nvPr/>
        </p:nvSpPr>
        <p:spPr>
          <a:xfrm>
            <a:off x="457200" y="48463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這些方法都不行</a:t>
            </a:r>
            <a:r>
              <a:rPr 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……</a:t>
            </a:r>
            <a:r>
              <a:rPr lang="en-US" sz="22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那，</a:t>
            </a:r>
            <a:r>
              <a:rPr lang="en-US" sz="22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有沒有不用送</a:t>
            </a:r>
            <a:r>
              <a:rPr lang="zh-TW" alt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</a:t>
            </a:r>
            <a:r>
              <a:rPr 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只送「訊號」的方法？</a:t>
            </a:r>
            <a:endParaRPr lang="en-US" sz="2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照片，可以變成一格一格的「亮」和「暗」，用「光」來傳送訊息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685800" y="1207008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讀取順序：</a:t>
            </a:r>
            <a:r>
              <a:rPr lang="en-US" sz="1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由左到右、由上到下（1 → 25）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85800" y="1600200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04088" y="160934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216152" y="1600200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160934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746504" y="1600200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64792" y="160934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76856" y="1600200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95144" y="160934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807208" y="1600200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25496" y="160934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85800" y="2130552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21396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216152" y="2130552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4440" y="21396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746504" y="2130552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764792" y="21396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76856" y="2130552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95144" y="21396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807208" y="2130552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25496" y="21396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85800" y="2660904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4088" y="26700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1216152" y="2660904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4440" y="26700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1746504" y="2660904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764792" y="26700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276856" y="2660904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95144" y="26700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807208" y="2660904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25496" y="26700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85800" y="3191256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04088" y="32004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216152" y="3191256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34440" y="32004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1746504" y="3191256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764792" y="32004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276856" y="3191256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95144" y="32004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2807208" y="3191256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25496" y="32004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85800" y="3721608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04088" y="37307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1216152" y="3721608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234440" y="37307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1746504" y="3721608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764792" y="37307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276856" y="3721608"/>
            <a:ext cx="530352" cy="530352"/>
          </a:xfrm>
          <a:prstGeom prst="rect">
            <a:avLst/>
          </a:prstGeom>
          <a:solidFill>
            <a:srgbClr val="F2E3C8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295144" y="37307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A7A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2807208" y="3721608"/>
            <a:ext cx="530352" cy="530352"/>
          </a:xfrm>
          <a:prstGeom prst="rect">
            <a:avLst/>
          </a:prstGeom>
          <a:solidFill>
            <a:srgbClr val="0D1424"/>
          </a:solidFill>
          <a:ln w="15875">
            <a:solidFill>
              <a:srgbClr val="1E3A5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825496" y="37307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44652" y="1559052"/>
            <a:ext cx="2734056" cy="612648"/>
          </a:xfrm>
          <a:prstGeom prst="roundRect">
            <a:avLst>
              <a:gd name="adj" fmla="val 7463"/>
            </a:avLst>
          </a:prstGeom>
          <a:solidFill>
            <a:srgbClr val="070B14">
              <a:alpha val="0"/>
            </a:srgbClr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29000" y="1719072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列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685800" y="436168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上一節的紀錄卡（5 × 5 ＝ 25 格）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978408" y="4709160"/>
            <a:ext cx="201168" cy="201168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234440" y="46725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亮＝開燈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286000" y="4709160"/>
            <a:ext cx="201168" cy="201168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6725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暗＝關燈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3611880" y="237744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3200" dirty="0"/>
          </a:p>
        </p:txBody>
      </p:sp>
      <p:sp>
        <p:nvSpPr>
          <p:cNvPr id="62" name="Text 60"/>
          <p:cNvSpPr/>
          <p:nvPr/>
        </p:nvSpPr>
        <p:spPr>
          <a:xfrm>
            <a:off x="4434840" y="2057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25 格的亮、暗，排成一長串訊號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4434840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677156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919472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61788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404104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728716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971032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213348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455664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697980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022592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264908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507224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749540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991856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316468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558784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8801100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043416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85732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610344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852660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094976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337292" y="2514600"/>
            <a:ext cx="242316" cy="242316"/>
          </a:xfrm>
          <a:prstGeom prst="rect">
            <a:avLst/>
          </a:prstGeom>
          <a:solidFill>
            <a:srgbClr val="F2E3C8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579608" y="2514600"/>
            <a:ext cx="242316" cy="242316"/>
          </a:xfrm>
          <a:prstGeom prst="rect">
            <a:avLst/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34840" y="2802636"/>
            <a:ext cx="1211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1 列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728716" y="2802636"/>
            <a:ext cx="1211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2 列</a:t>
            </a:r>
            <a:endParaRPr lang="en-US" sz="950" dirty="0"/>
          </a:p>
        </p:txBody>
      </p:sp>
      <p:sp>
        <p:nvSpPr>
          <p:cNvPr id="90" name="Text 88"/>
          <p:cNvSpPr/>
          <p:nvPr/>
        </p:nvSpPr>
        <p:spPr>
          <a:xfrm>
            <a:off x="7022592" y="2802636"/>
            <a:ext cx="1211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3 列</a:t>
            </a:r>
            <a:endParaRPr lang="en-US" sz="950" dirty="0"/>
          </a:p>
        </p:txBody>
      </p:sp>
      <p:sp>
        <p:nvSpPr>
          <p:cNvPr id="91" name="Text 89"/>
          <p:cNvSpPr/>
          <p:nvPr/>
        </p:nvSpPr>
        <p:spPr>
          <a:xfrm>
            <a:off x="8316468" y="2802636"/>
            <a:ext cx="1211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 列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9610344" y="2802636"/>
            <a:ext cx="1211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5 列</a:t>
            </a:r>
            <a:endParaRPr lang="en-US" sz="950" dirty="0"/>
          </a:p>
        </p:txBody>
      </p:sp>
      <p:sp>
        <p:nvSpPr>
          <p:cNvPr id="93" name="Shape 91"/>
          <p:cNvSpPr/>
          <p:nvPr/>
        </p:nvSpPr>
        <p:spPr>
          <a:xfrm>
            <a:off x="4398264" y="2478024"/>
            <a:ext cx="1284732" cy="315468"/>
          </a:xfrm>
          <a:prstGeom prst="roundRect">
            <a:avLst>
              <a:gd name="adj" fmla="val 11594"/>
            </a:avLst>
          </a:prstGeom>
          <a:solidFill>
            <a:srgbClr val="070B14">
              <a:alpha val="0"/>
            </a:srgbClr>
          </a:solidFill>
          <a:ln w="25400">
            <a:solidFill>
              <a:srgbClr val="FFB347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434840" y="3140964"/>
            <a:ext cx="6387084" cy="0"/>
          </a:xfrm>
          <a:prstGeom prst="line">
            <a:avLst/>
          </a:prstGeom>
          <a:noFill/>
          <a:ln w="22225">
            <a:solidFill>
              <a:srgbClr val="FFB347"/>
            </a:solidFill>
            <a:prstDash val="solid"/>
            <a:tailEnd type="triangle"/>
          </a:ln>
        </p:spPr>
      </p:sp>
      <p:sp>
        <p:nvSpPr>
          <p:cNvPr id="95" name="Text 93"/>
          <p:cNvSpPr/>
          <p:nvPr/>
        </p:nvSpPr>
        <p:spPr>
          <a:xfrm>
            <a:off x="4434840" y="3214116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發送順序：第 1 格 → 第 25 格，一格一格用「光」發出去</a:t>
            </a:r>
            <a:endParaRPr lang="en-US" sz="1200" dirty="0"/>
          </a:p>
        </p:txBody>
      </p:sp>
      <p:sp>
        <p:nvSpPr>
          <p:cNvPr id="96" name="Shape 94"/>
          <p:cNvSpPr/>
          <p:nvPr/>
        </p:nvSpPr>
        <p:spPr>
          <a:xfrm>
            <a:off x="4434840" y="4434840"/>
            <a:ext cx="6766560" cy="1417320"/>
          </a:xfrm>
          <a:prstGeom prst="roundRect">
            <a:avLst>
              <a:gd name="adj" fmla="val 5161"/>
            </a:avLst>
          </a:prstGeom>
          <a:solidFill>
            <a:srgbClr val="0D1424"/>
          </a:solidFill>
          <a:ln w="19050">
            <a:solidFill>
              <a:srgbClr val="1E3A5C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709160" y="4572000"/>
            <a:ext cx="6217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5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不用把底片送回地球，也不用用聲音描述——
只要一連串「</a:t>
            </a:r>
            <a:r>
              <a:rPr lang="en-US" sz="165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</a:t>
            </a:r>
            <a:r>
              <a:rPr lang="en-US" sz="165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165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暗</a:t>
            </a:r>
            <a:r>
              <a:rPr lang="en-US" sz="165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」訊號，就能把整張照片傳回來！</a:t>
            </a:r>
            <a:endParaRPr lang="en-US" sz="1650" dirty="0"/>
          </a:p>
        </p:txBody>
      </p:sp>
      <p:sp>
        <p:nvSpPr>
          <p:cNvPr id="98" name="Text 9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5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8293629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5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照片，已經是一格一格的「亮」和「暗」！</a:t>
            </a:r>
            <a:endParaRPr lang="en-US" sz="3000" dirty="0"/>
          </a:p>
        </p:txBody>
      </p:sp>
      <p:sp>
        <p:nvSpPr>
          <p:cNvPr id="40" name="Shape 37"/>
          <p:cNvSpPr/>
          <p:nvPr/>
        </p:nvSpPr>
        <p:spPr>
          <a:xfrm>
            <a:off x="670791" y="1267142"/>
            <a:ext cx="11094258" cy="1880922"/>
          </a:xfrm>
          <a:prstGeom prst="roundRect">
            <a:avLst>
              <a:gd name="adj" fmla="val 228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14400" y="1524528"/>
            <a:ext cx="10607040" cy="1495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</a:t>
            </a:r>
            <a:r>
              <a:rPr lang="en-US" sz="20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三億多公里外，看不到</a:t>
            </a:r>
            <a:r>
              <a:rPr lang="zh-TW" altLang="en-US" sz="20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維京一號上發出的光</a:t>
            </a:r>
            <a:r>
              <a:rPr lang="en-US" sz="20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r>
              <a:rPr lang="en-US" sz="20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2000" dirty="0"/>
          </a:p>
          <a:p>
            <a:pPr>
              <a:spcAft>
                <a:spcPts val="1000"/>
              </a:spcAft>
            </a:pPr>
            <a:r>
              <a:rPr lang="en-US" sz="2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科學家用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的是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en-US" sz="20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無線電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」：</a:t>
            </a:r>
            <a:r>
              <a:rPr lang="en-US" sz="2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和光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的概念很接近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，它們</a:t>
            </a:r>
            <a:r>
              <a:rPr lang="zh-TW" altLang="en-US" sz="2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都是「電磁波」的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一種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，都是能夠</a:t>
            </a:r>
            <a:r>
              <a:rPr lang="en-US" sz="2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傳得</a:t>
            </a:r>
            <a:r>
              <a:rPr lang="zh-TW" alt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很快且很</a:t>
            </a:r>
            <a:r>
              <a:rPr lang="en-US" sz="2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遠的訊號</a:t>
            </a:r>
            <a:r>
              <a:rPr lang="en-US" sz="2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  <p:sp>
        <p:nvSpPr>
          <p:cNvPr id="42" name="Text 39"/>
          <p:cNvSpPr/>
          <p:nvPr/>
        </p:nvSpPr>
        <p:spPr>
          <a:xfrm>
            <a:off x="4114800" y="6261977"/>
            <a:ext cx="743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18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像光一樣，</a:t>
            </a:r>
            <a:r>
              <a:rPr lang="en-US" sz="18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無線電每一瞬間</a:t>
            </a:r>
            <a:r>
              <a:rPr lang="zh-TW" altLang="en-US" sz="18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</a:t>
            </a:r>
            <a:r>
              <a:rPr lang="en-US" sz="18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只有兩種狀態</a:t>
            </a:r>
            <a:r>
              <a:rPr lang="en-US" sz="1800" b="1" dirty="0" err="1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18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有訊號／沒訊號</a:t>
            </a:r>
            <a:endParaRPr lang="en-US" sz="1800" dirty="0"/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333" y="2871743"/>
            <a:ext cx="11602854" cy="3876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797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3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0" y="2721389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5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體驗一下維京一號的訊號傳遞吧！</a:t>
            </a:r>
            <a:endParaRPr lang="en-US" sz="5000" dirty="0"/>
          </a:p>
        </p:txBody>
      </p:sp>
      <p:sp>
        <p:nvSpPr>
          <p:cNvPr id="9" name="Text 39"/>
          <p:cNvSpPr/>
          <p:nvPr/>
        </p:nvSpPr>
        <p:spPr>
          <a:xfrm>
            <a:off x="379923" y="1900382"/>
            <a:ext cx="56976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我們用「光」來代替無線電訊線</a:t>
            </a:r>
            <a:endParaRPr lang="en-US" sz="2200" dirty="0"/>
          </a:p>
        </p:txBody>
      </p:sp>
      <p:sp>
        <p:nvSpPr>
          <p:cNvPr id="10" name="Text 39"/>
          <p:cNvSpPr/>
          <p:nvPr/>
        </p:nvSpPr>
        <p:spPr>
          <a:xfrm>
            <a:off x="3084945" y="5082494"/>
            <a:ext cx="76153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8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但是在開始之前，有件事要先做，你覺得是什麼？</a:t>
            </a:r>
            <a:endParaRPr lang="en-US" altLang="zh-TW" sz="2800" dirty="0"/>
          </a:p>
        </p:txBody>
      </p:sp>
    </p:spTree>
    <p:extLst>
      <p:ext uri="{BB962C8B-B14F-4D97-AF65-F5344CB8AC3E}">
        <p14:creationId xmlns:p14="http://schemas.microsoft.com/office/powerpoint/2010/main" val="2382169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14"/>
          <p:cNvSpPr/>
          <p:nvPr/>
        </p:nvSpPr>
        <p:spPr>
          <a:xfrm>
            <a:off x="5603846" y="6062193"/>
            <a:ext cx="6100474" cy="646331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6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先講好規則：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的約定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49382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7982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代號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477982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0＝暗（沒訊號）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1＝亮（有訊號）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3212038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40638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順序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3440638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由左至右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由上至下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每列一行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6174694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3294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</a:t>
            </a:r>
            <a:r>
              <a:rPr lang="en-US" sz="25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</a:t>
            </a:r>
            <a:r>
              <a:rPr lang="zh-TW" altLang="en-US" sz="25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6403294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兩秒一拍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一拍一個訊號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（跟著節拍器）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9137350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65950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</a:t>
            </a: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開始的提示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365950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每列開始前：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快速閃爍 2 秒＝起始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整張傳完再閃爍</a:t>
            </a:r>
            <a:r>
              <a:rPr lang="en-US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＝結束</a:t>
            </a: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404830" y="4727909"/>
            <a:ext cx="11247120" cy="1142815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3430" y="4846504"/>
            <a:ext cx="10607040" cy="109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zh-TW" alt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說明：</a:t>
            </a:r>
            <a:r>
              <a:rPr lang="en-US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為什麼記號要用「快速閃爍</a:t>
            </a:r>
            <a:r>
              <a:rPr 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</a:t>
            </a:r>
            <a:r>
              <a:rPr lang="en-US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不用長亮或長暗</a:t>
            </a:r>
            <a:r>
              <a:rPr 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r>
              <a:rPr lang="en-US" sz="16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600" dirty="0" smtClean="0"/>
          </a:p>
          <a:p>
            <a:pPr marL="0" indent="0">
              <a:spcAft>
                <a:spcPts val="500"/>
              </a:spcAft>
              <a:buNone/>
            </a:pPr>
            <a:r>
              <a:rPr lang="en-US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長亮會和資料的</a:t>
            </a:r>
            <a:r>
              <a:rPr 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1 </a:t>
            </a:r>
            <a:r>
              <a:rPr lang="en-US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混淆、長暗會和連續的</a:t>
            </a:r>
            <a:r>
              <a:rPr 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0 </a:t>
            </a:r>
            <a:r>
              <a:rPr lang="en-US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混淆；快速閃爍是資料中不可能出現的樣式，永遠不會誤判</a:t>
            </a:r>
            <a:r>
              <a:rPr 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dirty="0"/>
          </a:p>
        </p:txBody>
      </p:sp>
      <p:sp>
        <p:nvSpPr>
          <p:cNvPr id="3" name="矩形 2"/>
          <p:cNvSpPr/>
          <p:nvPr/>
        </p:nvSpPr>
        <p:spPr>
          <a:xfrm>
            <a:off x="5726638" y="6062192"/>
            <a:ext cx="543421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</a:t>
            </a:r>
            <a:endParaRPr lang="en-US" altLang="zh-TW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這套大家都遵守的</a:t>
            </a:r>
            <a:r>
              <a:rPr lang="zh-TW" altLang="en-US" b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約定</a:t>
            </a:r>
            <a:r>
              <a:rPr lang="en-US" altLang="zh-TW" b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我們稱為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en-US" altLang="zh-TW" b="1" dirty="0" err="1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通訊協定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」。</a:t>
            </a:r>
            <a:endParaRPr lang="en-US" altLang="zh-TW" dirty="0"/>
          </a:p>
        </p:txBody>
      </p:sp>
      <p:sp>
        <p:nvSpPr>
          <p:cNvPr id="20" name="Shape 14"/>
          <p:cNvSpPr/>
          <p:nvPr/>
        </p:nvSpPr>
        <p:spPr>
          <a:xfrm>
            <a:off x="281386" y="1006135"/>
            <a:ext cx="11580876" cy="789106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矩形 20"/>
          <p:cNvSpPr/>
          <p:nvPr/>
        </p:nvSpPr>
        <p:spPr>
          <a:xfrm>
            <a:off x="457200" y="1066766"/>
            <a:ext cx="110282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為什麼要約定？</a:t>
            </a:r>
            <a:endParaRPr lang="en-US" altLang="zh-TW" b="1" dirty="0">
              <a:solidFill>
                <a:srgbClr val="FF5C47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訊號要傳送，</a:t>
            </a:r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單程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就要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 </a:t>
            </a:r>
            <a:r>
              <a:rPr lang="en-US" altLang="zh-TW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分鐘</a:t>
            </a:r>
            <a:r>
              <a:rPr lang="en-US" altLang="zh-TW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</a:t>
            </a:r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不能</a:t>
            </a:r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重播，如果</a:t>
            </a:r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規則不一致</a:t>
            </a:r>
            <a:r>
              <a:rPr lang="en-US" altLang="zh-TW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，照片就回不來</a:t>
            </a:r>
            <a:r>
              <a:rPr lang="en-US" altLang="zh-TW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14"/>
          <p:cNvSpPr/>
          <p:nvPr/>
        </p:nvSpPr>
        <p:spPr>
          <a:xfrm>
            <a:off x="5603846" y="6062193"/>
            <a:ext cx="6100474" cy="646331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7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這些規則，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教室裡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天天在用！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49382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7982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代號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477982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「老師拍兩下手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＝安靜」的共同暗號</a:t>
            </a:r>
            <a:endParaRPr lang="en-US" dirty="0"/>
          </a:p>
        </p:txBody>
      </p:sp>
      <p:sp>
        <p:nvSpPr>
          <p:cNvPr id="8" name="Shape 5"/>
          <p:cNvSpPr/>
          <p:nvPr/>
        </p:nvSpPr>
        <p:spPr>
          <a:xfrm>
            <a:off x="3212038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40638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順序</a:t>
            </a:r>
            <a:endParaRPr lang="en-US" sz="2500" dirty="0"/>
          </a:p>
        </p:txBody>
      </p:sp>
      <p:sp>
        <p:nvSpPr>
          <p:cNvPr id="10" name="Text 7"/>
          <p:cNvSpPr/>
          <p:nvPr/>
        </p:nvSpPr>
        <p:spPr>
          <a:xfrm>
            <a:off x="3440638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按座號順序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點名、收作業</a:t>
            </a:r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才知道輪到誰</a:t>
            </a:r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6174694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3294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</a:t>
            </a:r>
            <a:r>
              <a:rPr lang="en-US" sz="25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</a:t>
            </a:r>
            <a:r>
              <a:rPr lang="zh-TW" altLang="en-US" sz="25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6403294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全班跟著口令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一起做操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拍子一致才整齊</a:t>
            </a:r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9137350" y="1920285"/>
            <a:ext cx="2724912" cy="2651760"/>
          </a:xfrm>
          <a:prstGeom prst="roundRect">
            <a:avLst>
              <a:gd name="adj" fmla="val 275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65950" y="2148885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</a:t>
            </a: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開始的提示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9365950" y="2697525"/>
            <a:ext cx="2286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老師喊「開始」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大家才一起動筆</a:t>
            </a:r>
            <a:endParaRPr lang="en-US" dirty="0"/>
          </a:p>
          <a:p>
            <a:pPr marL="0" indent="0">
              <a:lnSpc>
                <a:spcPct val="125000"/>
              </a:lnSpc>
              <a:buNone/>
            </a:pP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沒聽到開始</a:t>
            </a:r>
            <a:r>
              <a:rPr lang="en-US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＝整列慢半拍</a:t>
            </a: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404830" y="4727909"/>
            <a:ext cx="11247120" cy="1142815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3430" y="4846504"/>
            <a:ext cx="10607040" cy="1097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zh-TW" alt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想一想：</a:t>
            </a:r>
            <a:r>
              <a:rPr lang="en-US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下課的教室鬧哄哄</a:t>
            </a:r>
            <a:r>
              <a:rPr 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跟同學講話會發生什麼事</a:t>
            </a:r>
            <a:r>
              <a:rPr lang="en-US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r>
              <a:rPr lang="en-US" sz="16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600" dirty="0" smtClean="0"/>
          </a:p>
          <a:p>
            <a:pPr marL="0" indent="0">
              <a:spcAft>
                <a:spcPts val="500"/>
              </a:spcAft>
              <a:buNone/>
            </a:pPr>
            <a:r>
              <a:rPr lang="en-US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要更大聲、還常要重講一次——這就是通訊裡的「雜訊」，也是規則必須先講好的原因</a:t>
            </a:r>
            <a:r>
              <a:rPr lang="en-US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dirty="0"/>
          </a:p>
        </p:txBody>
      </p:sp>
      <p:sp>
        <p:nvSpPr>
          <p:cNvPr id="3" name="矩形 2"/>
          <p:cNvSpPr/>
          <p:nvPr/>
        </p:nvSpPr>
        <p:spPr>
          <a:xfrm>
            <a:off x="5726638" y="6062192"/>
            <a:ext cx="543421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知識點</a:t>
            </a:r>
            <a:endParaRPr lang="en-US" altLang="zh-TW" b="1" dirty="0" smtClean="0">
              <a:solidFill>
                <a:schemeClr val="accent2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en-US" altLang="zh-TW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班級的默契，就是生活裡的通訊協定。</a:t>
            </a:r>
            <a:endParaRPr lang="en-US" altLang="zh-TW" dirty="0"/>
          </a:p>
        </p:txBody>
      </p:sp>
      <p:sp>
        <p:nvSpPr>
          <p:cNvPr id="20" name="Shape 14"/>
          <p:cNvSpPr/>
          <p:nvPr/>
        </p:nvSpPr>
        <p:spPr>
          <a:xfrm>
            <a:off x="281386" y="1006135"/>
            <a:ext cx="11580876" cy="789106"/>
          </a:xfrm>
          <a:prstGeom prst="roundRect">
            <a:avLst>
              <a:gd name="adj" fmla="val 410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矩形 20"/>
          <p:cNvSpPr/>
          <p:nvPr/>
        </p:nvSpPr>
        <p:spPr>
          <a:xfrm>
            <a:off x="457200" y="1066766"/>
            <a:ext cx="1102821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通訊協定四要素 × 班級經驗</a:t>
            </a:r>
            <a:endParaRPr lang="en-US" altLang="zh-TW" b="1" dirty="0">
              <a:solidFill>
                <a:srgbClr val="FF5C47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r>
              <a:rPr lang="zh-TW" altLang="en-US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訊號的規則其實不陌生——我們班上課、收作業，天天都在用同一套約定。</a:t>
            </a:r>
            <a:endParaRPr lang="zh-TW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7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初階任務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en-US" sz="30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/>
              </a:rPr>
              <a:t>光訊號播送台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老師先傳訊號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你們試著接收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28016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554480"/>
            <a:ext cx="548640" cy="54864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0B1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46304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試傳第 1 列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228600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全班</a:t>
            </a:r>
            <a:r>
              <a:rPr lang="zh-TW" alt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練習一次</a:t>
            </a:r>
            <a:r>
              <a:rPr 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</a:t>
            </a:r>
            <a:r>
              <a:rPr lang="zh-TW" alt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節拍</a:t>
            </a:r>
            <a:r>
              <a:rPr 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</a:t>
            </a:r>
            <a:r>
              <a:rPr lang="en-US" sz="30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認閃爍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4434840" y="128016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09160" y="1554480"/>
            <a:ext cx="548640" cy="54864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2" name="Text 9"/>
          <p:cNvSpPr/>
          <p:nvPr/>
        </p:nvSpPr>
        <p:spPr>
          <a:xfrm>
            <a:off x="470916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0B1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544068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播送整張 5×5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0" y="2221992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</a:t>
            </a:r>
            <a:r>
              <a:rPr lang="en-US" sz="25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／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暗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都是</a:t>
            </a:r>
            <a:r>
              <a:rPr lang="en-US" altLang="zh-TW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每拍</a:t>
            </a:r>
            <a:r>
              <a:rPr lang="en-US" altLang="zh-TW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altLang="zh-TW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秒</a:t>
            </a:r>
            <a:endParaRPr lang="en-US" altLang="zh-TW" sz="2500" dirty="0"/>
          </a:p>
          <a:p>
            <a:pPr>
              <a:lnSpc>
                <a:spcPct val="120000"/>
              </a:lnSpc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都會</a:t>
            </a:r>
            <a:r>
              <a:rPr lang="en-US" altLang="zh-TW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閃爍</a:t>
            </a:r>
            <a:r>
              <a:rPr lang="en-US" altLang="zh-TW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每一列開頭與結束</a:t>
            </a:r>
            <a:endParaRPr lang="en-US" sz="2500" dirty="0"/>
          </a:p>
        </p:txBody>
      </p:sp>
      <p:sp>
        <p:nvSpPr>
          <p:cNvPr id="15" name="Shape 12"/>
          <p:cNvSpPr/>
          <p:nvPr/>
        </p:nvSpPr>
        <p:spPr>
          <a:xfrm>
            <a:off x="8412480" y="128016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686800" y="1554480"/>
            <a:ext cx="548640" cy="548640"/>
          </a:xfrm>
          <a:prstGeom prst="ellipse">
            <a:avLst/>
          </a:prstGeom>
          <a:solidFill>
            <a:srgbClr val="FFB347"/>
          </a:solidFill>
          <a:ln/>
        </p:spPr>
      </p:sp>
      <p:sp>
        <p:nvSpPr>
          <p:cNvPr id="17" name="Text 14"/>
          <p:cNvSpPr/>
          <p:nvPr/>
        </p:nvSpPr>
        <p:spPr>
          <a:xfrm>
            <a:off x="86868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70B1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9418320" y="1600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圖片比對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32520" y="2011911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endParaRPr lang="en-US" sz="1400" dirty="0"/>
          </a:p>
          <a:p>
            <a:pPr marL="0" indent="0">
              <a:lnSpc>
                <a:spcPct val="120000"/>
              </a:lnSpc>
              <a:buNone/>
            </a:pPr>
            <a:r>
              <a:rPr lang="zh-TW" altLang="en-US" sz="3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看看你們的結果有沒有正確？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5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小組任務</a:t>
            </a:r>
            <a:r>
              <a:rPr lang="en-US" sz="25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sz="25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每一拍記下 0 或 1 → </a:t>
            </a:r>
            <a:r>
              <a:rPr lang="en-US" sz="25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收完整列</a:t>
            </a:r>
            <a:r>
              <a:rPr lang="zh-TW" altLang="en-US" sz="25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</a:t>
            </a:r>
            <a:r>
              <a:rPr lang="en-US" sz="25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塗格</a:t>
            </a:r>
            <a:r>
              <a:rPr lang="zh-TW" altLang="en-US" sz="25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子</a:t>
            </a:r>
            <a:r>
              <a:rPr lang="en-US" sz="2500" b="1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還原</a:t>
            </a:r>
            <a:endParaRPr lang="en-US" sz="2500" dirty="0"/>
          </a:p>
        </p:txBody>
      </p:sp>
      <p:sp>
        <p:nvSpPr>
          <p:cNvPr id="21" name="Shape 18"/>
          <p:cNvSpPr/>
          <p:nvPr/>
        </p:nvSpPr>
        <p:spPr>
          <a:xfrm>
            <a:off x="457200" y="4526280"/>
            <a:ext cx="11247120" cy="1234440"/>
          </a:xfrm>
          <a:prstGeom prst="roundRect">
            <a:avLst>
              <a:gd name="adj" fmla="val 5926"/>
            </a:avLst>
          </a:prstGeom>
          <a:solidFill>
            <a:srgbClr val="0D1424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4644044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altLang="zh-TW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※※</a:t>
            </a:r>
            <a:r>
              <a:rPr lang="zh-TW" altLang="en-US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小提示</a:t>
            </a:r>
            <a:r>
              <a:rPr lang="en-US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en-US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數亂了怎麼辦？
</a:t>
            </a:r>
            <a:endParaRPr lang="en-US" dirty="0"/>
          </a:p>
          <a:p>
            <a:pPr marL="0" indent="0">
              <a:buNone/>
            </a:pPr>
            <a:r>
              <a:rPr lang="en-US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放棄這一列就好！等下一次</a:t>
            </a:r>
            <a:r>
              <a:rPr 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</a:t>
            </a:r>
            <a:r>
              <a:rPr lang="zh-TW" alt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開頭</a:t>
            </a: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快速閃爍</a:t>
            </a:r>
            <a:r>
              <a:rPr 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」，</a:t>
            </a:r>
            <a:r>
              <a:rPr lang="zh-TW" alt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</a:t>
            </a: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從新的一列重新開始</a:t>
            </a:r>
            <a:r>
              <a:rPr lang="zh-TW" alt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，這樣只有</a:t>
            </a: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一列錯</a:t>
            </a:r>
            <a:r>
              <a:rPr lang="en-US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不會整張</a:t>
            </a:r>
            <a:r>
              <a:rPr lang="zh-TW" alt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</a:t>
            </a:r>
            <a:r>
              <a:rPr lang="en-US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毀</a:t>
            </a:r>
            <a:r>
              <a:rPr lang="en-US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8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進階任務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</a:t>
            </a: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換你當訊號官：分組傳輸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199" y="1280160"/>
            <a:ext cx="11402291" cy="4434840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28073" y="1554480"/>
            <a:ext cx="10760363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任務流程</a:t>
            </a:r>
            <a:r>
              <a:rPr lang="en-US" sz="18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每組指派一位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r>
              <a:rPr lang="en-US" sz="3000" b="1" dirty="0" err="1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任務：站在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教室中間的發訊站，利用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手電筒</a:t>
            </a:r>
            <a:r>
              <a:rPr lang="en-US" sz="30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＋一張</a:t>
            </a:r>
            <a:r>
              <a:rPr 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5×5 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火星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片，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依協定發送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開頭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閃爍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兩秒一拍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，完整傳送訊號</a:t>
            </a:r>
            <a:endParaRPr lang="en-US" sz="30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其他組員是</a:t>
            </a:r>
            <a:r>
              <a:rPr lang="zh-TW" altLang="en-US" sz="3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地球訊號官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，任務：讀取訊號</a:t>
            </a:r>
            <a:r>
              <a:rPr lang="en-US" altLang="zh-TW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記錄訊號</a:t>
            </a:r>
            <a:r>
              <a:rPr 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30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  <a:hlinkClick r:id="rId3"/>
              </a:rPr>
              <a:t>塗格還原</a:t>
            </a:r>
            <a:endParaRPr lang="en-US" sz="3000" dirty="0" smtClean="0">
              <a:solidFill>
                <a:srgbClr val="F2E3C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最後和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原圖比對</a:t>
            </a:r>
            <a:r>
              <a:rPr lang="zh-TW" altLang="en-US" sz="30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，看看你的</a:t>
            </a:r>
            <a:r>
              <a:rPr lang="en-US" sz="30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正確格數</a:t>
            </a:r>
            <a:endParaRPr lang="en-US" sz="3000" dirty="0"/>
          </a:p>
        </p:txBody>
      </p:sp>
      <p:sp>
        <p:nvSpPr>
          <p:cNvPr id="9" name="Shape 2"/>
          <p:cNvSpPr/>
          <p:nvPr/>
        </p:nvSpPr>
        <p:spPr>
          <a:xfrm>
            <a:off x="4036291" y="5847958"/>
            <a:ext cx="7823199" cy="792988"/>
          </a:xfrm>
          <a:prstGeom prst="roundRect">
            <a:avLst>
              <a:gd name="adj" fmla="val 1649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3"/>
          <p:cNvSpPr/>
          <p:nvPr/>
        </p:nvSpPr>
        <p:spPr>
          <a:xfrm>
            <a:off x="4382655" y="6026913"/>
            <a:ext cx="6894946" cy="6140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800"/>
              </a:spcAft>
            </a:pPr>
            <a:r>
              <a:rPr lang="en-US" sz="3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</a:t>
            </a:r>
            <a:r>
              <a:rPr lang="zh-TW" altLang="en-US" sz="3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高階挑戰 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利用你們上次的</a:t>
            </a:r>
            <a:r>
              <a:rPr lang="en-US" altLang="zh-TW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8*8</a:t>
            </a:r>
            <a:r>
              <a:rPr lang="zh-TW" altLang="en-US" sz="2000" b="1" dirty="0" smtClean="0">
                <a:solidFill>
                  <a:schemeClr val="accent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圖片再挑戰一次吧！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9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4114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4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※※ </a:t>
            </a:r>
            <a:r>
              <a:rPr lang="zh-TW" altLang="en-US" sz="2400" b="1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r>
              <a:rPr lang="zh-TW" altLang="en-US" sz="24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來考考你</a:t>
            </a:r>
          </a:p>
        </p:txBody>
      </p:sp>
      <p:sp>
        <p:nvSpPr>
          <p:cNvPr id="5" name="Text 2"/>
          <p:cNvSpPr/>
          <p:nvPr/>
        </p:nvSpPr>
        <p:spPr>
          <a:xfrm>
            <a:off x="0" y="19202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為什麼電腦播的大家都對，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換同學傳，</a:t>
            </a:r>
            <a:r>
              <a:rPr lang="en-US" sz="36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</a:t>
            </a:r>
            <a:r>
              <a:rPr lang="zh-TW" altLang="en-US" sz="36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可能會出</a:t>
            </a:r>
            <a:r>
              <a:rPr lang="en-US" sz="36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</a:t>
            </a:r>
            <a:r>
              <a:rPr lang="en-US" sz="36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0" y="4114800"/>
            <a:ext cx="121916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節拍會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不穩、訊號會被干擾，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真實的通訊工程</a:t>
            </a:r>
            <a:r>
              <a:rPr lang="en-US" sz="25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，正是要面對「不完美的發射端</a:t>
            </a: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」。</a:t>
            </a:r>
            <a:endParaRPr lang="en-US" sz="2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10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剛剛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有沒有發生這些困難或問題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？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dirty="0">
                <a:solidFill>
                  <a:schemeClr val="bg1"/>
                </a:solidFill>
              </a:rPr>
              <a:t>⏱</a:t>
            </a:r>
          </a:p>
        </p:txBody>
      </p:sp>
      <p:sp>
        <p:nvSpPr>
          <p:cNvPr id="7" name="Text 4"/>
          <p:cNvSpPr/>
          <p:nvPr/>
        </p:nvSpPr>
        <p:spPr>
          <a:xfrm>
            <a:off x="731520" y="2359198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zh-TW" altLang="en-US" sz="3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沒有跟上開始和結束的訊號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457200" y="3631507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發送和接收沒有</a:t>
            </a:r>
            <a:r>
              <a:rPr 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</a:t>
            </a: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步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4434840" y="132588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43484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chemeClr val="bg1"/>
                </a:solidFill>
              </a:rPr>
              <a:t>💡</a:t>
            </a:r>
          </a:p>
        </p:txBody>
      </p:sp>
      <p:sp>
        <p:nvSpPr>
          <p:cNvPr id="11" name="Text 8"/>
          <p:cNvSpPr/>
          <p:nvPr/>
        </p:nvSpPr>
        <p:spPr>
          <a:xfrm>
            <a:off x="4709160" y="228600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燈</a:t>
            </a:r>
            <a:r>
              <a:rPr lang="zh-TW" altLang="en-US" sz="3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光干擾</a:t>
            </a:r>
            <a:endParaRPr lang="en-US" altLang="zh-TW" sz="3600" dirty="0" smtClean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zh-TW" altLang="en-US" sz="36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看不清楚</a:t>
            </a:r>
            <a:endParaRPr lang="en-US" sz="36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508730" y="3632892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雜訊・</a:t>
            </a:r>
            <a:r>
              <a:rPr lang="en-US" sz="22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頻道</a:t>
            </a: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的影響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8412480" y="132588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0" y="155448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dirty="0">
                <a:solidFill>
                  <a:schemeClr val="bg1"/>
                </a:solidFill>
              </a:rPr>
              <a:t>🔁</a:t>
            </a:r>
          </a:p>
        </p:txBody>
      </p:sp>
      <p:sp>
        <p:nvSpPr>
          <p:cNvPr id="15" name="Text 12"/>
          <p:cNvSpPr/>
          <p:nvPr/>
        </p:nvSpPr>
        <p:spPr>
          <a:xfrm>
            <a:off x="8686800" y="2693139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altLang="zh-TW" sz="36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漏數</a:t>
            </a:r>
            <a:r>
              <a:rPr lang="zh-TW" altLang="en-US" sz="3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了</a:t>
            </a:r>
            <a:r>
              <a:rPr lang="en-US" altLang="zh-TW" sz="3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一拍</a:t>
            </a:r>
            <a:endParaRPr lang="en-US" altLang="zh-TW" sz="3600" dirty="0"/>
          </a:p>
          <a:p>
            <a:pPr algn="ctr">
              <a:lnSpc>
                <a:spcPct val="120000"/>
              </a:lnSpc>
            </a:pPr>
            <a:r>
              <a:rPr lang="en-US" altLang="zh-TW" sz="36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整列</a:t>
            </a:r>
            <a:r>
              <a:rPr lang="zh-TW" altLang="en-US" sz="3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</a:t>
            </a:r>
            <a:r>
              <a:rPr lang="en-US" altLang="zh-TW" sz="3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</a:t>
            </a:r>
            <a:r>
              <a:rPr lang="zh-TW" altLang="en-US" sz="36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了</a:t>
            </a:r>
            <a:endParaRPr lang="en-US" altLang="zh-TW" sz="3600" dirty="0"/>
          </a:p>
          <a:p>
            <a:pPr marL="0" indent="0" algn="ctr">
              <a:lnSpc>
                <a:spcPct val="120000"/>
              </a:lnSpc>
              <a:buNone/>
            </a:pP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8412480" y="3634277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2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訊號誤讀或錯失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</a:t>
            </a:r>
            <a:r>
              <a:rPr lang="zh-TW" altLang="en-US" sz="26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個錯誤</a:t>
            </a:r>
            <a:r>
              <a:rPr lang="en-US" sz="26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6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都是NASA工程師</a:t>
            </a:r>
            <a:r>
              <a:rPr lang="zh-TW" altLang="en-US" sz="26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真實</a:t>
            </a:r>
            <a:r>
              <a:rPr lang="en-US" sz="26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要解決的問題</a:t>
            </a:r>
            <a:r>
              <a:rPr lang="en-US" sz="26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！</a:t>
            </a:r>
            <a:endParaRPr lang="en-US" sz="26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12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們今天做的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其實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 </a:t>
            </a:r>
            <a:r>
              <a:rPr lang="en-US" sz="30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 年的真實工程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417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🔦 手電筒亮暗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3108960" y="14173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</a:t>
            </a:r>
            <a:r>
              <a:rPr lang="en-US" sz="2500" dirty="0" err="1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把資料變成訊號</a:t>
            </a:r>
            <a:endParaRPr lang="en-US" sz="2500" dirty="0"/>
          </a:p>
        </p:txBody>
      </p:sp>
      <p:sp>
        <p:nvSpPr>
          <p:cNvPr id="8" name="Shape 5"/>
          <p:cNvSpPr/>
          <p:nvPr/>
        </p:nvSpPr>
        <p:spPr>
          <a:xfrm>
            <a:off x="6355080" y="132588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29400" y="141732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🔁 </a:t>
            </a:r>
            <a:r>
              <a:rPr lang="zh-TW" altLang="en-US" sz="25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無法詢問</a:t>
            </a:r>
            <a:endParaRPr lang="en-US" altLang="zh-TW" sz="2500" dirty="0"/>
          </a:p>
        </p:txBody>
      </p:sp>
      <p:sp>
        <p:nvSpPr>
          <p:cNvPr id="10" name="Text 7"/>
          <p:cNvSpPr/>
          <p:nvPr/>
        </p:nvSpPr>
        <p:spPr>
          <a:xfrm>
            <a:off x="9006840" y="141732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 </a:t>
            </a:r>
            <a:r>
              <a:rPr lang="en-US" altLang="zh-TW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</a:t>
            </a:r>
            <a:r>
              <a:rPr lang="zh-TW" alt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傳遞訊息</a:t>
            </a:r>
            <a:endParaRPr lang="en-US" sz="2500" dirty="0"/>
          </a:p>
        </p:txBody>
      </p:sp>
      <p:sp>
        <p:nvSpPr>
          <p:cNvPr id="11" name="Shape 8"/>
          <p:cNvSpPr/>
          <p:nvPr/>
        </p:nvSpPr>
        <p:spPr>
          <a:xfrm>
            <a:off x="457200" y="2560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31520" y="2651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✨ </a:t>
            </a:r>
            <a:r>
              <a:rPr lang="zh-TW" altLang="en-US" sz="25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開頭</a:t>
            </a:r>
            <a:r>
              <a:rPr lang="en-US" sz="25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快速閃爍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108960" y="265176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協定代號</a:t>
            </a:r>
            <a:endParaRPr lang="en-US" sz="2500" dirty="0"/>
          </a:p>
        </p:txBody>
      </p:sp>
      <p:sp>
        <p:nvSpPr>
          <p:cNvPr id="14" name="Shape 11"/>
          <p:cNvSpPr/>
          <p:nvPr/>
        </p:nvSpPr>
        <p:spPr>
          <a:xfrm>
            <a:off x="6286500" y="256032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29400" y="26517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✨ </a:t>
            </a:r>
            <a:r>
              <a:rPr lang="en-US" altLang="zh-TW" sz="2500" b="1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數拍子</a:t>
            </a:r>
            <a:endParaRPr lang="en-US" altLang="zh-TW" sz="2500" dirty="0"/>
          </a:p>
        </p:txBody>
      </p:sp>
      <p:sp>
        <p:nvSpPr>
          <p:cNvPr id="16" name="Text 13"/>
          <p:cNvSpPr/>
          <p:nvPr/>
        </p:nvSpPr>
        <p:spPr>
          <a:xfrm>
            <a:off x="9006840" y="265176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規律和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</a:t>
            </a:r>
            <a:endParaRPr lang="en-US" sz="2500" dirty="0"/>
          </a:p>
        </p:txBody>
      </p:sp>
      <p:sp>
        <p:nvSpPr>
          <p:cNvPr id="17" name="Shape 14"/>
          <p:cNvSpPr/>
          <p:nvPr/>
        </p:nvSpPr>
        <p:spPr>
          <a:xfrm>
            <a:off x="457200" y="37947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31520" y="3886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✨ </a:t>
            </a:r>
            <a:r>
              <a:rPr lang="zh-TW" altLang="en-US" sz="25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訊號干擾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3108960" y="38862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</a:t>
            </a:r>
            <a:r>
              <a:rPr 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</a:t>
            </a: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太空訊號影響</a:t>
            </a:r>
            <a:endParaRPr lang="en-US" sz="2500" dirty="0"/>
          </a:p>
        </p:txBody>
      </p:sp>
      <p:sp>
        <p:nvSpPr>
          <p:cNvPr id="20" name="Shape 17"/>
          <p:cNvSpPr/>
          <p:nvPr/>
        </p:nvSpPr>
        <p:spPr>
          <a:xfrm>
            <a:off x="6355080" y="37947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29400" y="388620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zh-TW" sz="25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🔍 </a:t>
            </a:r>
            <a:r>
              <a:rPr lang="en-US" altLang="zh-TW" sz="25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比對找錯</a:t>
            </a:r>
            <a:endParaRPr lang="en-US" altLang="zh-TW" sz="2500" dirty="0"/>
          </a:p>
        </p:txBody>
      </p:sp>
      <p:sp>
        <p:nvSpPr>
          <p:cNvPr id="22" name="Text 19"/>
          <p:cNvSpPr/>
          <p:nvPr/>
        </p:nvSpPr>
        <p:spPr>
          <a:xfrm>
            <a:off x="9006840" y="3886200"/>
            <a:ext cx="2697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500" dirty="0" smtClean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圖片結果判讀推測</a:t>
            </a:r>
            <a:endParaRPr lang="en-US" sz="2500" dirty="0"/>
          </a:p>
        </p:txBody>
      </p:sp>
      <p:sp>
        <p:nvSpPr>
          <p:cNvPr id="23" name="Text 20"/>
          <p:cNvSpPr/>
          <p:nvPr/>
        </p:nvSpPr>
        <p:spPr>
          <a:xfrm>
            <a:off x="457200" y="52578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1976 </a:t>
            </a:r>
            <a:r>
              <a:rPr lang="en-US" sz="2500" b="1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年人類第一張火星照片</a:t>
            </a:r>
            <a:r>
              <a:rPr lang="en-US" sz="2500" b="1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zh-TW" altLang="en-US" sz="2500" b="1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</a:t>
            </a:r>
            <a:r>
              <a:rPr lang="en-US" sz="2500" b="1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是這樣一列一列</a:t>
            </a:r>
            <a:r>
              <a:rPr lang="zh-TW" altLang="en-US" sz="2500" b="1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</a:t>
            </a:r>
            <a:r>
              <a:rPr lang="en-US" sz="2500" b="1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控制室螢幕上</a:t>
            </a:r>
            <a:r>
              <a:rPr lang="en-US" sz="2500" b="1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「長」</a:t>
            </a:r>
            <a:r>
              <a:rPr lang="en-US" sz="2500" b="1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出來的</a:t>
            </a:r>
            <a:endParaRPr lang="en-US" sz="25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11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課後延伸挑戰</a:t>
            </a:r>
            <a:r>
              <a:rPr 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試著</a:t>
            </a:r>
            <a:r>
              <a:rPr lang="en-US" sz="3000" b="1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把規則</a:t>
            </a:r>
            <a:r>
              <a:rPr lang="zh-TW" altLang="en-US" sz="3000" b="1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修改看看會發生什麼？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3716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如果現在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同一串訊號</a:t>
            </a:r>
            <a:r>
              <a:rPr lang="en-US" sz="25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，沒有換行</a:t>
            </a:r>
            <a:r>
              <a:rPr lang="en-US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：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kern="0" spc="400" dirty="0">
                <a:solidFill>
                  <a:srgbClr val="5EC8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0110100111110110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2232508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17140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01772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86404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036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655668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140300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624932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09564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94196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078828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63460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48092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32724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017356" y="26974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01988" y="26974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35204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寬度</a:t>
            </a:r>
            <a:r>
              <a:rPr lang="zh-TW" altLang="en-US" sz="25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改變</a:t>
            </a:r>
            <a:endParaRPr lang="en-US" sz="2500" dirty="0"/>
          </a:p>
        </p:txBody>
      </p:sp>
      <p:sp>
        <p:nvSpPr>
          <p:cNvPr id="25" name="Text 22"/>
          <p:cNvSpPr/>
          <p:nvPr/>
        </p:nvSpPr>
        <p:spPr>
          <a:xfrm>
            <a:off x="731519" y="4160520"/>
            <a:ext cx="321240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格一列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變成</a:t>
            </a:r>
            <a:r>
              <a:rPr 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8 </a:t>
            </a:r>
            <a:r>
              <a:rPr lang="en-US" sz="25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格一列</a:t>
            </a:r>
            <a:endParaRPr lang="en-US" sz="2500" dirty="0" smtClean="0"/>
          </a:p>
        </p:txBody>
      </p:sp>
      <p:sp>
        <p:nvSpPr>
          <p:cNvPr id="26" name="Shape 23"/>
          <p:cNvSpPr/>
          <p:nvPr/>
        </p:nvSpPr>
        <p:spPr>
          <a:xfrm>
            <a:off x="4526280" y="35204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09160" y="3730105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 err="1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約定相反</a:t>
            </a:r>
            <a:endParaRPr lang="en-US" sz="2500" dirty="0"/>
          </a:p>
        </p:txBody>
      </p:sp>
      <p:sp>
        <p:nvSpPr>
          <p:cNvPr id="28" name="Text 25"/>
          <p:cNvSpPr/>
          <p:nvPr/>
        </p:nvSpPr>
        <p:spPr>
          <a:xfrm>
            <a:off x="4709160" y="41605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將亮改成</a:t>
            </a:r>
            <a:r>
              <a:rPr lang="en-US" altLang="zh-TW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</a:t>
            </a: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，暗改成</a:t>
            </a:r>
            <a:r>
              <a:rPr lang="en-US" altLang="zh-TW" sz="2500" dirty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25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29" name="Shape 26"/>
          <p:cNvSpPr/>
          <p:nvPr/>
        </p:nvSpPr>
        <p:spPr>
          <a:xfrm>
            <a:off x="8276692" y="3520440"/>
            <a:ext cx="3611880" cy="1554480"/>
          </a:xfrm>
          <a:prstGeom prst="roundRect">
            <a:avLst>
              <a:gd name="adj" fmla="val 4706"/>
            </a:avLst>
          </a:prstGeom>
          <a:solidFill>
            <a:srgbClr val="0D1424"/>
          </a:solidFill>
          <a:ln w="12700">
            <a:solidFill>
              <a:srgbClr val="1E3A5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686800" y="37033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2500" b="1" dirty="0" smtClean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訊號修改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8686800" y="41605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zh-TW" altLang="en-US" sz="25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每一拍結果畫成兩格</a:t>
            </a:r>
            <a:endParaRPr lang="en-US" sz="2500" dirty="0">
              <a:solidFill>
                <a:srgbClr val="C9D6E8"/>
              </a:solidFill>
              <a:latin typeface="Microsoft JhengHei" pitchFamily="34" charset="0"/>
              <a:ea typeface="Microsoft JhengHei" pitchFamily="34" charset="-122"/>
              <a:cs typeface="Microsoft JhengHei" pitchFamily="34" charset="-120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457200" y="53949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TW" alt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你將會發現：</a:t>
            </a:r>
            <a:r>
              <a:rPr lang="en-US" sz="20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代號</a:t>
            </a:r>
            <a:r>
              <a:rPr lang="en-US" sz="2000" b="1" dirty="0" err="1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・大小・順序・</a:t>
            </a:r>
            <a:r>
              <a:rPr lang="en-US" sz="20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節拍</a:t>
            </a:r>
            <a:r>
              <a:rPr lang="zh-TW" altLang="en-US" sz="2000" b="1" dirty="0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的約定全都非常重要，</a:t>
            </a:r>
            <a:r>
              <a:rPr lang="en-US" sz="2000" b="1" dirty="0" err="1" smtClean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缺一不可</a:t>
            </a:r>
            <a:r>
              <a:rPr lang="en-US" sz="20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93A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 02 · 火星第一眼：1976 維京一號的拍照任務　13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0" y="73152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5EC8F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今日任務完成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1371600" y="1737360"/>
            <a:ext cx="9418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 與 1，就是把影像傳過太空的語言
</a:t>
            </a:r>
            <a:endParaRPr lang="en-US" sz="2400" dirty="0"/>
          </a:p>
          <a:p>
            <a:pPr marL="0" indent="0" algn="ctr">
              <a:buNone/>
            </a:pPr>
            <a:r>
              <a:rPr lang="en-US" sz="2000" dirty="0" err="1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通訊協定：代號、順序、節拍、</a:t>
            </a: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，照著規則傳送訊號</a:t>
            </a:r>
            <a:r>
              <a:rPr 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</a:t>
            </a:r>
            <a:r>
              <a:rPr lang="en-US" sz="2000" dirty="0" err="1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照片</a:t>
            </a:r>
            <a:r>
              <a:rPr lang="zh-TW" altLang="en-US" sz="2000" dirty="0" smtClean="0">
                <a:solidFill>
                  <a:srgbClr val="C9D6E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就能回到地球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4892040" y="33832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376672" y="33832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861304" y="33832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345936" y="3383280"/>
            <a:ext cx="457200" cy="457200"/>
          </a:xfrm>
          <a:prstGeom prst="rect">
            <a:avLst/>
          </a:prstGeom>
          <a:solidFill>
            <a:srgbClr val="0D1424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830568" y="3383280"/>
            <a:ext cx="457200" cy="457200"/>
          </a:xfrm>
          <a:prstGeom prst="rect">
            <a:avLst/>
          </a:prstGeom>
          <a:solidFill>
            <a:srgbClr val="FFB347"/>
          </a:solidFill>
          <a:ln w="9525">
            <a:solidFill>
              <a:srgbClr val="1E3A5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71600" y="4297680"/>
            <a:ext cx="9418320" cy="1901784"/>
          </a:xfrm>
          <a:prstGeom prst="roundRect">
            <a:avLst>
              <a:gd name="adj" fmla="val 4211"/>
            </a:avLst>
          </a:prstGeom>
          <a:solidFill>
            <a:srgbClr val="1A0D10"/>
          </a:solidFill>
          <a:ln w="19050">
            <a:solidFill>
              <a:srgbClr val="FF5C4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746504" y="4444261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500"/>
              </a:spcAft>
              <a:buNone/>
            </a:pPr>
            <a:r>
              <a:rPr lang="en-US" sz="1900" b="1" dirty="0">
                <a:solidFill>
                  <a:srgbClr val="FF5C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可是……地球收到的照片只有黑與白！
</a:t>
            </a:r>
            <a:endParaRPr lang="en-US" sz="1900" dirty="0"/>
          </a:p>
          <a:p>
            <a:pPr marL="0" indent="0" algn="ctr">
              <a:spcAft>
                <a:spcPts val="500"/>
              </a:spcAft>
              <a:buNone/>
            </a:pPr>
            <a:r>
              <a:rPr lang="en-US" sz="2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真正的火星有</a:t>
            </a:r>
            <a:r>
              <a:rPr lang="zh-TW" altLang="en-US" sz="2500" dirty="0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</a:t>
            </a:r>
            <a:r>
              <a:rPr lang="en-US" sz="2500" dirty="0" err="1" smtClean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有暗</a:t>
            </a:r>
            <a:r>
              <a:rPr lang="en-US" sz="2500" dirty="0" err="1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、深深淺淺。只用</a:t>
            </a:r>
            <a:r>
              <a:rPr lang="en-US" sz="2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0 和 1，夠嗎？</a:t>
            </a:r>
            <a:r>
              <a:rPr lang="en-US" sz="1500" dirty="0">
                <a:solidFill>
                  <a:srgbClr val="F2E3C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
</a:t>
            </a:r>
            <a:endParaRPr lang="en-US" sz="19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FFB34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下一節：火星的深與淺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1091</Words>
  <Application>Microsoft Office PowerPoint</Application>
  <PresentationFormat>寬螢幕</PresentationFormat>
  <Paragraphs>237</Paragraphs>
  <Slides>16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2" baseType="lpstr">
      <vt:lpstr>Microsoft JhengHei</vt:lpstr>
      <vt:lpstr>新細明體</vt:lpstr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Wen-Yi Chang</cp:lastModifiedBy>
  <cp:revision>37</cp:revision>
  <dcterms:created xsi:type="dcterms:W3CDTF">2026-07-12T01:17:51Z</dcterms:created>
  <dcterms:modified xsi:type="dcterms:W3CDTF">2026-07-13T12:55:29Z</dcterms:modified>
</cp:coreProperties>
</file>