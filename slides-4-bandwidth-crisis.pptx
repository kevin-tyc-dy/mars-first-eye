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7" r:id="rId5"/>
    <p:sldId id="259" r:id="rId6"/>
    <p:sldId id="260" r:id="rId7"/>
    <p:sldId id="261" r:id="rId8"/>
    <p:sldId id="269" r:id="rId9"/>
    <p:sldId id="264" r:id="rId10"/>
    <p:sldId id="263" r:id="rId11"/>
    <p:sldId id="271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70B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194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92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開場前播放。本節任務：通訊中斷前把所有照片傳完，資料必須變短。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可先用「太陽風暴警報台」頁面投影 30 秒警報開場。史實：1976 年 11 月維京任務確因太陽合中斷通訊數週。時間壓力只留在敘事，操作任務不限時。（情境引入共 8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建立急迫感：無線電每秒只能送出幾百個訊號，照片卻越來越多（上一節剛翻倍成 128）。提問：有沒有辦法讓資料變短？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開放腦力激盪，任何點子都先寫下來，不急著否定。約 3 分鐘收集想法。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5246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學生檢視自組影像的編碼表，圈出連續重複的段落。火星地貌的天空與地面必然出現大段連續代號。討論：一直重複寫同一個數字很浪費，可不可以只寫一次、再註明連續幾個？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收斂寫法：連續資料簡寫為「代號×數量」。規則：解開後必須一格不差（無損）。30 秒暖身（2 個 0/1 可表示幾種？）若答不出改講述帶過；「每段＝4 個訊號」由教師直接告知，不要求推導。（10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三題縮短＋一題還原，全班口頭快答或小白板。答案：①2×6，1×2 ②0×3，3×2，0×3 ③還原為 1 1 2 2 2 2 1 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分組傳輸 5×5 圖卡。遮光是成功關鍵（拉窗簾、關靠窗燈）。干擾太大改三組傳、三組觀察再交換。時間允許才輪替第二張；8×8 為選配進階。（12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45314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命名收斂：這種「代號×數量」的方法，電腦科學叫「壓縮」（遊程編碼）。數位任務頁全程刻意不出現「壓縮」一詞，請在此刻才命名。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反例實算：棋盤格逐列改寫後段數＝64，以每段 4 個訊號計＝256 個訊號，比原本 64 筆更長（四倍）。打破「壓縮一定較短」迷思。（反例與總結 6 分鐘）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投影「協定實驗室」：同一串訊號，寬度猜錯或 0/1 相反，照片立刻亂掉。歸納：代號、大小、順序、節拍缺一不可。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7332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總結並預告第五節：照片趕在通訊中斷前傳完了！可是真正的維京一號，每一格記的不是 4 階，而是……下一節揭曉真相。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10515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kern="0" spc="600" dirty="0">
                <a:solidFill>
                  <a:srgbClr val="5EC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 I S S I O N   0 4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0" y="1463040"/>
            <a:ext cx="1219169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6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頻寬告急</a:t>
            </a:r>
            <a:endParaRPr lang="en-US" sz="6600" dirty="0"/>
          </a:p>
        </p:txBody>
      </p:sp>
      <p:sp>
        <p:nvSpPr>
          <p:cNvPr id="6" name="Text 3"/>
          <p:cNvSpPr/>
          <p:nvPr/>
        </p:nvSpPr>
        <p:spPr>
          <a:xfrm>
            <a:off x="0" y="26974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火星第一眼：1976 維京一號的拍照任務・第四節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087368" y="365760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81144" y="365760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74920" y="365760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568696" y="365760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62472" y="3657600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56248" y="365760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050024" y="365760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543800" y="3657600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543800" y="3639312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0" y="557784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任務控制中心・警報即將響起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2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822960" y="640080"/>
            <a:ext cx="10515600" cy="1737360"/>
          </a:xfrm>
          <a:prstGeom prst="roundRect">
            <a:avLst>
              <a:gd name="adj" fmla="val 4211"/>
            </a:avLst>
          </a:prstGeom>
          <a:solidFill>
            <a:srgbClr val="1A0D10"/>
          </a:solidFill>
          <a:ln w="25400">
            <a:solidFill>
              <a:srgbClr val="FF5C4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43000" y="86868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🚨 </a:t>
            </a:r>
            <a:r>
              <a:rPr lang="en-US" sz="2200" b="1" dirty="0" err="1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任務警</a:t>
            </a:r>
            <a:r>
              <a:rPr lang="zh-TW" altLang="en-US" sz="22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143000" y="1417320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即將移動</a:t>
            </a:r>
            <a:r>
              <a:rPr lang="en-US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太陽正後方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太陽風暴同時來襲</a:t>
            </a:r>
            <a:r>
              <a:rPr lang="zh-TW" altLang="en-US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，這會造成與維京一號</a:t>
            </a:r>
            <a:r>
              <a:rPr lang="en-US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通訊即將中斷好幾個星期</a:t>
            </a:r>
            <a:r>
              <a:rPr lang="en-US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b="1" dirty="0"/>
          </a:p>
        </p:txBody>
      </p:sp>
      <p:sp>
        <p:nvSpPr>
          <p:cNvPr id="7" name="Text 4"/>
          <p:cNvSpPr/>
          <p:nvPr/>
        </p:nvSpPr>
        <p:spPr>
          <a:xfrm>
            <a:off x="155448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2"/>
                </a:solidFill>
              </a:rPr>
              <a:t>🔴</a:t>
            </a:r>
          </a:p>
        </p:txBody>
      </p:sp>
      <p:sp>
        <p:nvSpPr>
          <p:cNvPr id="8" name="Text 5"/>
          <p:cNvSpPr/>
          <p:nvPr/>
        </p:nvSpPr>
        <p:spPr>
          <a:xfrm>
            <a:off x="1554480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274320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 · ·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4937760" y="2788920"/>
            <a:ext cx="1463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FFFF00"/>
                </a:solidFill>
              </a:rPr>
              <a:t>☀</a:t>
            </a:r>
          </a:p>
        </p:txBody>
      </p:sp>
      <p:sp>
        <p:nvSpPr>
          <p:cNvPr id="11" name="Text 8"/>
          <p:cNvSpPr/>
          <p:nvPr/>
        </p:nvSpPr>
        <p:spPr>
          <a:xfrm>
            <a:off x="4572000" y="4114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太陽擋住了訊號</a:t>
            </a:r>
            <a:endParaRPr lang="en-US" sz="2500" dirty="0"/>
          </a:p>
        </p:txBody>
      </p:sp>
      <p:sp>
        <p:nvSpPr>
          <p:cNvPr id="12" name="Text 9"/>
          <p:cNvSpPr/>
          <p:nvPr/>
        </p:nvSpPr>
        <p:spPr>
          <a:xfrm>
            <a:off x="7315200" y="31546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· · · ·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9144000" y="30175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🌍</a:t>
            </a:r>
          </a:p>
        </p:txBody>
      </p:sp>
      <p:sp>
        <p:nvSpPr>
          <p:cNvPr id="14" name="Text 11"/>
          <p:cNvSpPr/>
          <p:nvPr/>
        </p:nvSpPr>
        <p:spPr>
          <a:xfrm>
            <a:off x="9144000" y="39776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地球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0" y="489204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中斷之前，所有照片必須傳完。</a:t>
            </a:r>
            <a:endParaRPr lang="en-US" sz="2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糟糕：時間根本不夠！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57200" y="13716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128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 8×8 灰階照片</a:t>
            </a:r>
            <a:endParaRPr lang="en-US" sz="2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要傳的訊號數</a:t>
            </a:r>
            <a:endParaRPr lang="en-US" sz="2500" dirty="0"/>
          </a:p>
        </p:txBody>
      </p:sp>
      <p:sp>
        <p:nvSpPr>
          <p:cNvPr id="8" name="Shape 5"/>
          <p:cNvSpPr/>
          <p:nvPr/>
        </p:nvSpPr>
        <p:spPr>
          <a:xfrm>
            <a:off x="4434840" y="13716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3484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E3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很多張</a:t>
            </a:r>
            <a:endParaRPr lang="en-US" sz="4400" dirty="0"/>
          </a:p>
        </p:txBody>
      </p:sp>
      <p:sp>
        <p:nvSpPr>
          <p:cNvPr id="10" name="Text 7"/>
          <p:cNvSpPr/>
          <p:nvPr/>
        </p:nvSpPr>
        <p:spPr>
          <a:xfrm>
            <a:off x="4434840" y="2834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還沒傳完的</a:t>
            </a:r>
            <a:endParaRPr lang="en-US" sz="2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火星照片</a:t>
            </a:r>
            <a:endParaRPr lang="en-US" sz="2500" dirty="0"/>
          </a:p>
        </p:txBody>
      </p:sp>
      <p:sp>
        <p:nvSpPr>
          <p:cNvPr id="11" name="Shape 8"/>
          <p:cNvSpPr/>
          <p:nvPr/>
        </p:nvSpPr>
        <p:spPr>
          <a:xfrm>
            <a:off x="8412480" y="1371600"/>
            <a:ext cx="3611880" cy="2651760"/>
          </a:xfrm>
          <a:prstGeom prst="roundRect">
            <a:avLst>
              <a:gd name="adj" fmla="val 275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0" y="169164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5C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幾百個/秒</a:t>
            </a:r>
            <a:endParaRPr lang="en-US" sz="4400" dirty="0"/>
          </a:p>
        </p:txBody>
      </p:sp>
      <p:sp>
        <p:nvSpPr>
          <p:cNvPr id="13" name="Text 10"/>
          <p:cNvSpPr/>
          <p:nvPr/>
        </p:nvSpPr>
        <p:spPr>
          <a:xfrm>
            <a:off x="8412480" y="283464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無線電每秒</a:t>
            </a:r>
            <a:endParaRPr lang="en-US" sz="250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只能送出的訊號</a:t>
            </a:r>
            <a:endParaRPr lang="en-US" sz="25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傳不完就要斷線了……資料，有沒有辦法變短？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3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❓ </a:t>
            </a:r>
            <a:r>
              <a:rPr lang="zh-TW" altLang="en-US" sz="24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我來考考你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182880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2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一樣是傳送訊號，如何讓訊號變得更少？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237744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要用什麼方法</a:t>
            </a:r>
            <a:r>
              <a:rPr 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用更少的訊號傳送更多的訊息</a:t>
            </a:r>
            <a:r>
              <a:rPr lang="en-US" sz="4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？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3108959" y="3931920"/>
            <a:ext cx="7360501" cy="1371600"/>
          </a:xfrm>
          <a:prstGeom prst="roundRect">
            <a:avLst>
              <a:gd name="adj" fmla="val 5333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29000" y="4206240"/>
            <a:ext cx="68978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小組腦力激盪 2 </a:t>
            </a:r>
            <a:r>
              <a:rPr lang="en-US" sz="1800" b="1" dirty="0" err="1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分鐘</a:t>
            </a:r>
            <a:endParaRPr lang="en-US" sz="1800" dirty="0"/>
          </a:p>
          <a:p>
            <a:endParaRPr lang="en-US" dirty="0" smtClean="0">
              <a:solidFill>
                <a:srgbClr val="C9D6E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</a:t>
            </a:r>
            <a:r>
              <a:rPr lang="zh-TW" altLang="en-US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組想一想，如何減少訊號量，但還是能正確的傳遞訊息呢？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798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4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看看你們的編碼表：發現了什麼？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188720" y="1554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列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2468880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468880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08376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08376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47872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547872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087368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087368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26864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26864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166360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166360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705856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705856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245352" y="1554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45352" y="2075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1188720" y="26974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4 列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2468880" y="2697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68880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3008376" y="2697480"/>
            <a:ext cx="502920" cy="50292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008376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3547872" y="269748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547872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4087368" y="269748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087368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4626864" y="269748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626864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5166360" y="2697480"/>
            <a:ext cx="502920" cy="502920"/>
          </a:xfrm>
          <a:prstGeom prst="rect">
            <a:avLst/>
          </a:prstGeom>
          <a:solidFill>
            <a:srgbClr val="4F4F4F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166360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5705856" y="2697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705856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6245352" y="269748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245352" y="321868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2404872" y="1481328"/>
            <a:ext cx="4389120" cy="658368"/>
          </a:xfrm>
          <a:prstGeom prst="roundRect">
            <a:avLst>
              <a:gd name="adj" fmla="val 13889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483864" y="2624328"/>
            <a:ext cx="1691640" cy="658368"/>
          </a:xfrm>
          <a:prstGeom prst="roundRect">
            <a:avLst>
              <a:gd name="adj" fmla="val 13889"/>
            </a:avLst>
          </a:prstGeom>
          <a:solidFill>
            <a:srgbClr val="000000">
              <a:alpha val="0"/>
            </a:srgbClr>
          </a:solidFill>
          <a:ln w="25400">
            <a:solidFill>
              <a:srgbClr val="FFB347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863840" y="1463039"/>
            <a:ext cx="3840480" cy="2379287"/>
          </a:xfrm>
          <a:prstGeom prst="roundRect">
            <a:avLst>
              <a:gd name="adj" fmla="val 3810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138160" y="169164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同一個數字，
一直連續出現！</a:t>
            </a:r>
            <a:r>
              <a:rPr lang="en-US" sz="1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800" dirty="0"/>
          </a:p>
          <a:p>
            <a:pPr marL="0" indent="0"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天空一大片 2、</a:t>
            </a:r>
            <a:endParaRPr lang="en-US" sz="2500" dirty="0"/>
          </a:p>
          <a:p>
            <a:pPr marL="0" indent="0">
              <a:buNone/>
            </a:pPr>
            <a:r>
              <a:rPr lang="en-US" sz="25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坑底一整段 0……</a:t>
            </a:r>
            <a:endParaRPr lang="en-US" sz="2500" dirty="0"/>
          </a:p>
        </p:txBody>
      </p:sp>
      <p:sp>
        <p:nvSpPr>
          <p:cNvPr id="43" name="Text 40"/>
          <p:cNvSpPr/>
          <p:nvPr/>
        </p:nvSpPr>
        <p:spPr>
          <a:xfrm>
            <a:off x="457200" y="41605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一直重複寫同一個數字，好浪費……</a:t>
            </a:r>
            <a:endParaRPr lang="en-US" sz="3000" dirty="0"/>
          </a:p>
        </p:txBody>
      </p:sp>
      <p:sp>
        <p:nvSpPr>
          <p:cNvPr id="44" name="Text 41"/>
          <p:cNvSpPr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可不可以只寫一次，再註明「連續幾個」？</a:t>
            </a:r>
            <a:endParaRPr lang="en-US" sz="3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5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新的協定「</a:t>
            </a:r>
            <a:r>
              <a:rPr lang="en-US" sz="3000" b="1" dirty="0" err="1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</a:t>
            </a:r>
            <a:r>
              <a:rPr 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碼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代號 × 數量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2011680" y="146304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011680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51176" y="146304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551176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090672" y="146304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90672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630168" y="146304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30168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69664" y="1463040"/>
            <a:ext cx="502920" cy="50292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69664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709160" y="146304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9160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248656" y="146304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48656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788152" y="1463040"/>
            <a:ext cx="502920" cy="50292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88152" y="198424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37960" y="1508760"/>
            <a:ext cx="640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B347"/>
                </a:solidFill>
              </a:rPr>
              <a:t>→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7269480" y="141732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0×5，2×3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201168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筆資料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26948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段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457200" y="30632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3152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規則一</a:t>
            </a:r>
            <a:endParaRPr lang="en-US" sz="2500" dirty="0"/>
          </a:p>
        </p:txBody>
      </p:sp>
      <p:sp>
        <p:nvSpPr>
          <p:cNvPr id="27" name="Text 24"/>
          <p:cNvSpPr/>
          <p:nvPr/>
        </p:nvSpPr>
        <p:spPr>
          <a:xfrm>
            <a:off x="73152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連續相同的代號，寫成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「代號×數量」一段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4434840" y="30632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70916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規則二</a:t>
            </a:r>
            <a:endParaRPr lang="en-US" sz="2500" dirty="0"/>
          </a:p>
        </p:txBody>
      </p:sp>
      <p:sp>
        <p:nvSpPr>
          <p:cNvPr id="30" name="Text 27"/>
          <p:cNvSpPr/>
          <p:nvPr/>
        </p:nvSpPr>
        <p:spPr>
          <a:xfrm>
            <a:off x="470916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解開後必須一格不差</a:t>
            </a:r>
            <a:endParaRPr lang="en-US" sz="2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</a:t>
            </a:r>
            <a:r>
              <a:rPr lang="en-US" sz="20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一個都不能少</a:t>
            </a:r>
            <a:r>
              <a:rPr 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</a:t>
            </a:r>
            <a:r>
              <a:rPr lang="zh-TW" alt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要一樣</a:t>
            </a:r>
            <a:r>
              <a:rPr 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）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8412480" y="3063240"/>
            <a:ext cx="3611880" cy="1737360"/>
          </a:xfrm>
          <a:prstGeom prst="roundRect">
            <a:avLst>
              <a:gd name="adj" fmla="val 4211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86800" y="32461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規則三</a:t>
            </a:r>
            <a:endParaRPr lang="en-US" sz="2500" dirty="0"/>
          </a:p>
        </p:txBody>
      </p:sp>
      <p:sp>
        <p:nvSpPr>
          <p:cNvPr id="33" name="Text 30"/>
          <p:cNvSpPr/>
          <p:nvPr/>
        </p:nvSpPr>
        <p:spPr>
          <a:xfrm>
            <a:off x="8686800" y="3703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000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數量也是數字</a:t>
            </a:r>
            <a:r>
              <a:rPr 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也要變成</a:t>
            </a:r>
            <a:r>
              <a:rPr lang="en-US" altLang="zh-TW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1/0</a:t>
            </a:r>
            <a:r>
              <a:rPr lang="zh-TW" altLang="en-US" sz="2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的訊號</a:t>
            </a:r>
            <a:endParaRPr lang="en-US" sz="2000" dirty="0"/>
          </a:p>
        </p:txBody>
      </p:sp>
      <p:sp>
        <p:nvSpPr>
          <p:cNvPr id="35" name="矩形 34"/>
          <p:cNvSpPr/>
          <p:nvPr/>
        </p:nvSpPr>
        <p:spPr>
          <a:xfrm>
            <a:off x="5597237" y="5439094"/>
            <a:ext cx="6209608" cy="4770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5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※</a:t>
            </a:r>
            <a:r>
              <a:rPr lang="zh-TW" altLang="en-US" sz="25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我們先來試著用連續代碼改寫訊號吧！</a:t>
            </a:r>
            <a:endParaRPr lang="en-US" altLang="zh-TW" sz="2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6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小試身手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讓代碼</a:t>
            </a:r>
            <a:r>
              <a:rPr lang="en-US" sz="3000" b="1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縮短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3000" dirty="0"/>
          </a:p>
        </p:txBody>
      </p:sp>
      <p:grpSp>
        <p:nvGrpSpPr>
          <p:cNvPr id="45" name="群組 44"/>
          <p:cNvGrpSpPr/>
          <p:nvPr/>
        </p:nvGrpSpPr>
        <p:grpSpPr>
          <a:xfrm>
            <a:off x="1097280" y="1463040"/>
            <a:ext cx="7406640" cy="795528"/>
            <a:chOff x="1097280" y="1463040"/>
            <a:chExt cx="7406640" cy="795528"/>
          </a:xfrm>
        </p:grpSpPr>
        <p:sp>
          <p:nvSpPr>
            <p:cNvPr id="5" name="Text 2"/>
            <p:cNvSpPr/>
            <p:nvPr/>
          </p:nvSpPr>
          <p:spPr>
            <a:xfrm>
              <a:off x="1097280" y="1463040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A93A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第 ① 題</a:t>
              </a:r>
              <a:endParaRPr lang="en-US" sz="1600" dirty="0"/>
            </a:p>
          </p:txBody>
        </p:sp>
        <p:sp>
          <p:nvSpPr>
            <p:cNvPr id="6" name="Shape 3"/>
            <p:cNvSpPr/>
            <p:nvPr/>
          </p:nvSpPr>
          <p:spPr>
            <a:xfrm>
              <a:off x="2651760" y="1463040"/>
              <a:ext cx="502920" cy="502920"/>
            </a:xfrm>
            <a:prstGeom prst="rect">
              <a:avLst/>
            </a:prstGeom>
            <a:solidFill>
              <a:srgbClr val="A9A9A9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7" name="Text 4"/>
            <p:cNvSpPr/>
            <p:nvPr/>
          </p:nvSpPr>
          <p:spPr>
            <a:xfrm>
              <a:off x="2651760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8" name="Shape 5"/>
            <p:cNvSpPr/>
            <p:nvPr/>
          </p:nvSpPr>
          <p:spPr>
            <a:xfrm>
              <a:off x="3191256" y="1463040"/>
              <a:ext cx="502920" cy="502920"/>
            </a:xfrm>
            <a:prstGeom prst="rect">
              <a:avLst/>
            </a:prstGeom>
            <a:solidFill>
              <a:srgbClr val="A9A9A9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9" name="Text 6"/>
            <p:cNvSpPr/>
            <p:nvPr/>
          </p:nvSpPr>
          <p:spPr>
            <a:xfrm>
              <a:off x="3191256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0" name="Shape 7"/>
            <p:cNvSpPr/>
            <p:nvPr/>
          </p:nvSpPr>
          <p:spPr>
            <a:xfrm>
              <a:off x="3730752" y="1463040"/>
              <a:ext cx="502920" cy="502920"/>
            </a:xfrm>
            <a:prstGeom prst="rect">
              <a:avLst/>
            </a:prstGeom>
            <a:solidFill>
              <a:srgbClr val="A9A9A9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11" name="Text 8"/>
            <p:cNvSpPr/>
            <p:nvPr/>
          </p:nvSpPr>
          <p:spPr>
            <a:xfrm>
              <a:off x="3730752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4270248" y="1463040"/>
              <a:ext cx="502920" cy="502920"/>
            </a:xfrm>
            <a:prstGeom prst="rect">
              <a:avLst/>
            </a:prstGeom>
            <a:solidFill>
              <a:srgbClr val="A9A9A9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13" name="Text 10"/>
            <p:cNvSpPr/>
            <p:nvPr/>
          </p:nvSpPr>
          <p:spPr>
            <a:xfrm>
              <a:off x="4270248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4" name="Shape 11"/>
            <p:cNvSpPr/>
            <p:nvPr/>
          </p:nvSpPr>
          <p:spPr>
            <a:xfrm>
              <a:off x="4809744" y="1463040"/>
              <a:ext cx="502920" cy="502920"/>
            </a:xfrm>
            <a:prstGeom prst="rect">
              <a:avLst/>
            </a:prstGeom>
            <a:solidFill>
              <a:srgbClr val="A9A9A9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15" name="Text 12"/>
            <p:cNvSpPr/>
            <p:nvPr/>
          </p:nvSpPr>
          <p:spPr>
            <a:xfrm>
              <a:off x="4809744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6" name="Shape 13"/>
            <p:cNvSpPr/>
            <p:nvPr/>
          </p:nvSpPr>
          <p:spPr>
            <a:xfrm>
              <a:off x="5349240" y="1463040"/>
              <a:ext cx="502920" cy="502920"/>
            </a:xfrm>
            <a:prstGeom prst="rect">
              <a:avLst/>
            </a:prstGeom>
            <a:solidFill>
              <a:srgbClr val="A9A9A9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17" name="Text 14"/>
            <p:cNvSpPr/>
            <p:nvPr/>
          </p:nvSpPr>
          <p:spPr>
            <a:xfrm>
              <a:off x="5349240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2</a:t>
              </a:r>
              <a:endParaRPr lang="en-US" sz="1300" dirty="0"/>
            </a:p>
          </p:txBody>
        </p:sp>
        <p:sp>
          <p:nvSpPr>
            <p:cNvPr id="18" name="Shape 15"/>
            <p:cNvSpPr/>
            <p:nvPr/>
          </p:nvSpPr>
          <p:spPr>
            <a:xfrm>
              <a:off x="5888736" y="1463040"/>
              <a:ext cx="502920" cy="502920"/>
            </a:xfrm>
            <a:prstGeom prst="rect">
              <a:avLst/>
            </a:prstGeom>
            <a:solidFill>
              <a:srgbClr val="4F4F4F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19" name="Text 16"/>
            <p:cNvSpPr/>
            <p:nvPr/>
          </p:nvSpPr>
          <p:spPr>
            <a:xfrm>
              <a:off x="5888736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300" dirty="0"/>
            </a:p>
          </p:txBody>
        </p:sp>
        <p:sp>
          <p:nvSpPr>
            <p:cNvPr id="20" name="Shape 17"/>
            <p:cNvSpPr/>
            <p:nvPr/>
          </p:nvSpPr>
          <p:spPr>
            <a:xfrm>
              <a:off x="6428232" y="1463040"/>
              <a:ext cx="502920" cy="502920"/>
            </a:xfrm>
            <a:prstGeom prst="rect">
              <a:avLst/>
            </a:prstGeom>
            <a:solidFill>
              <a:srgbClr val="4F4F4F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21" name="Text 18"/>
            <p:cNvSpPr/>
            <p:nvPr/>
          </p:nvSpPr>
          <p:spPr>
            <a:xfrm>
              <a:off x="6428232" y="1984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</a:t>
              </a:r>
              <a:endParaRPr lang="en-US" sz="1300" dirty="0"/>
            </a:p>
          </p:txBody>
        </p:sp>
        <p:sp>
          <p:nvSpPr>
            <p:cNvPr id="22" name="Text 19"/>
            <p:cNvSpPr/>
            <p:nvPr/>
          </p:nvSpPr>
          <p:spPr>
            <a:xfrm>
              <a:off x="6858000" y="146304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B34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→ ？</a:t>
              </a:r>
              <a:endParaRPr lang="en-US" sz="2400" dirty="0"/>
            </a:p>
          </p:txBody>
        </p:sp>
      </p:grpSp>
      <p:grpSp>
        <p:nvGrpSpPr>
          <p:cNvPr id="3" name="群組 2"/>
          <p:cNvGrpSpPr/>
          <p:nvPr/>
        </p:nvGrpSpPr>
        <p:grpSpPr>
          <a:xfrm>
            <a:off x="1097280" y="2606040"/>
            <a:ext cx="7406640" cy="795528"/>
            <a:chOff x="1097280" y="2606040"/>
            <a:chExt cx="7406640" cy="795528"/>
          </a:xfrm>
        </p:grpSpPr>
        <p:sp>
          <p:nvSpPr>
            <p:cNvPr id="23" name="Text 20"/>
            <p:cNvSpPr/>
            <p:nvPr/>
          </p:nvSpPr>
          <p:spPr>
            <a:xfrm>
              <a:off x="1097280" y="2606040"/>
              <a:ext cx="1371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A93A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第 ② 題</a:t>
              </a:r>
              <a:endParaRPr lang="en-US" sz="1600" dirty="0"/>
            </a:p>
          </p:txBody>
        </p:sp>
        <p:sp>
          <p:nvSpPr>
            <p:cNvPr id="24" name="Shape 21"/>
            <p:cNvSpPr/>
            <p:nvPr/>
          </p:nvSpPr>
          <p:spPr>
            <a:xfrm>
              <a:off x="2651760" y="2606040"/>
              <a:ext cx="502920" cy="50292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25" name="Text 22"/>
            <p:cNvSpPr/>
            <p:nvPr/>
          </p:nvSpPr>
          <p:spPr>
            <a:xfrm>
              <a:off x="2651760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300" dirty="0"/>
            </a:p>
          </p:txBody>
        </p:sp>
        <p:sp>
          <p:nvSpPr>
            <p:cNvPr id="26" name="Shape 23"/>
            <p:cNvSpPr/>
            <p:nvPr/>
          </p:nvSpPr>
          <p:spPr>
            <a:xfrm>
              <a:off x="3191256" y="2606040"/>
              <a:ext cx="502920" cy="50292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27" name="Text 24"/>
            <p:cNvSpPr/>
            <p:nvPr/>
          </p:nvSpPr>
          <p:spPr>
            <a:xfrm>
              <a:off x="3191256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300" dirty="0"/>
            </a:p>
          </p:txBody>
        </p:sp>
        <p:sp>
          <p:nvSpPr>
            <p:cNvPr id="28" name="Shape 25"/>
            <p:cNvSpPr/>
            <p:nvPr/>
          </p:nvSpPr>
          <p:spPr>
            <a:xfrm>
              <a:off x="3730752" y="2606040"/>
              <a:ext cx="502920" cy="50292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29" name="Text 26"/>
            <p:cNvSpPr/>
            <p:nvPr/>
          </p:nvSpPr>
          <p:spPr>
            <a:xfrm>
              <a:off x="3730752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300" dirty="0"/>
            </a:p>
          </p:txBody>
        </p:sp>
        <p:sp>
          <p:nvSpPr>
            <p:cNvPr id="30" name="Shape 27"/>
            <p:cNvSpPr/>
            <p:nvPr/>
          </p:nvSpPr>
          <p:spPr>
            <a:xfrm>
              <a:off x="4270248" y="2606040"/>
              <a:ext cx="502920" cy="502920"/>
            </a:xfrm>
            <a:prstGeom prst="rect">
              <a:avLst/>
            </a:prstGeom>
            <a:solidFill>
              <a:srgbClr val="F5F1E8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31" name="Text 28"/>
            <p:cNvSpPr/>
            <p:nvPr/>
          </p:nvSpPr>
          <p:spPr>
            <a:xfrm>
              <a:off x="4270248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1300" dirty="0"/>
            </a:p>
          </p:txBody>
        </p:sp>
        <p:sp>
          <p:nvSpPr>
            <p:cNvPr id="32" name="Shape 29"/>
            <p:cNvSpPr/>
            <p:nvPr/>
          </p:nvSpPr>
          <p:spPr>
            <a:xfrm>
              <a:off x="4809744" y="2606040"/>
              <a:ext cx="502920" cy="502920"/>
            </a:xfrm>
            <a:prstGeom prst="rect">
              <a:avLst/>
            </a:prstGeom>
            <a:solidFill>
              <a:srgbClr val="F5F1E8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33" name="Text 30"/>
            <p:cNvSpPr/>
            <p:nvPr/>
          </p:nvSpPr>
          <p:spPr>
            <a:xfrm>
              <a:off x="4809744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3</a:t>
              </a:r>
              <a:endParaRPr lang="en-US" sz="1300" dirty="0"/>
            </a:p>
          </p:txBody>
        </p:sp>
        <p:sp>
          <p:nvSpPr>
            <p:cNvPr id="34" name="Shape 31"/>
            <p:cNvSpPr/>
            <p:nvPr/>
          </p:nvSpPr>
          <p:spPr>
            <a:xfrm>
              <a:off x="5349240" y="2606040"/>
              <a:ext cx="502920" cy="50292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35" name="Text 32"/>
            <p:cNvSpPr/>
            <p:nvPr/>
          </p:nvSpPr>
          <p:spPr>
            <a:xfrm>
              <a:off x="5349240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300" dirty="0"/>
            </a:p>
          </p:txBody>
        </p:sp>
        <p:sp>
          <p:nvSpPr>
            <p:cNvPr id="36" name="Shape 33"/>
            <p:cNvSpPr/>
            <p:nvPr/>
          </p:nvSpPr>
          <p:spPr>
            <a:xfrm>
              <a:off x="5888736" y="2606040"/>
              <a:ext cx="502920" cy="50292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37" name="Text 34"/>
            <p:cNvSpPr/>
            <p:nvPr/>
          </p:nvSpPr>
          <p:spPr>
            <a:xfrm>
              <a:off x="5888736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300" dirty="0"/>
            </a:p>
          </p:txBody>
        </p:sp>
        <p:sp>
          <p:nvSpPr>
            <p:cNvPr id="38" name="Shape 35"/>
            <p:cNvSpPr/>
            <p:nvPr/>
          </p:nvSpPr>
          <p:spPr>
            <a:xfrm>
              <a:off x="6428232" y="2606040"/>
              <a:ext cx="502920" cy="502920"/>
            </a:xfrm>
            <a:prstGeom prst="rect">
              <a:avLst/>
            </a:prstGeom>
            <a:solidFill>
              <a:srgbClr val="111111"/>
            </a:solidFill>
            <a:ln w="9525">
              <a:solidFill>
                <a:srgbClr val="1E3A5C"/>
              </a:solidFill>
              <a:prstDash val="solid"/>
            </a:ln>
          </p:spPr>
        </p:sp>
        <p:sp>
          <p:nvSpPr>
            <p:cNvPr id="39" name="Text 36"/>
            <p:cNvSpPr/>
            <p:nvPr/>
          </p:nvSpPr>
          <p:spPr>
            <a:xfrm>
              <a:off x="6428232" y="3127248"/>
              <a:ext cx="50292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dirty="0">
                  <a:solidFill>
                    <a:srgbClr val="7A93AE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</a:t>
              </a:r>
              <a:endParaRPr lang="en-US" sz="1300" dirty="0"/>
            </a:p>
          </p:txBody>
        </p:sp>
        <p:sp>
          <p:nvSpPr>
            <p:cNvPr id="40" name="Text 37"/>
            <p:cNvSpPr/>
            <p:nvPr/>
          </p:nvSpPr>
          <p:spPr>
            <a:xfrm>
              <a:off x="6858000" y="2606040"/>
              <a:ext cx="164592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FFB347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→ ？</a:t>
              </a:r>
              <a:endParaRPr lang="en-US" sz="2400" dirty="0"/>
            </a:p>
          </p:txBody>
        </p:sp>
      </p:grpSp>
      <p:grpSp>
        <p:nvGrpSpPr>
          <p:cNvPr id="46" name="群組 45"/>
          <p:cNvGrpSpPr/>
          <p:nvPr/>
        </p:nvGrpSpPr>
        <p:grpSpPr>
          <a:xfrm>
            <a:off x="1097280" y="3886200"/>
            <a:ext cx="4114800" cy="1097280"/>
            <a:chOff x="1097280" y="3886200"/>
            <a:chExt cx="4114800" cy="1097280"/>
          </a:xfrm>
        </p:grpSpPr>
        <p:sp>
          <p:nvSpPr>
            <p:cNvPr id="41" name="Text 38"/>
            <p:cNvSpPr/>
            <p:nvPr/>
          </p:nvSpPr>
          <p:spPr>
            <a:xfrm>
              <a:off x="1097280" y="38862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dirty="0">
                  <a:solidFill>
                    <a:srgbClr val="7A93AE"/>
                  </a:solidFill>
                  <a:latin typeface="Microsoft JhengHei" pitchFamily="34" charset="0"/>
                  <a:ea typeface="Microsoft JhengHei" pitchFamily="34" charset="-122"/>
                  <a:cs typeface="Microsoft JhengHei" pitchFamily="34" charset="-120"/>
                </a:rPr>
                <a:t>第 ③ 題（反過來：還原它！）</a:t>
              </a:r>
              <a:endParaRPr lang="en-US" sz="1600" dirty="0"/>
            </a:p>
          </p:txBody>
        </p:sp>
        <p:sp>
          <p:nvSpPr>
            <p:cNvPr id="42" name="Text 39"/>
            <p:cNvSpPr/>
            <p:nvPr/>
          </p:nvSpPr>
          <p:spPr>
            <a:xfrm>
              <a:off x="1097280" y="4389120"/>
              <a:ext cx="4114800" cy="5943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5EC8F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1×2，2×4，1×2</a:t>
              </a:r>
              <a:endParaRPr lang="en-US" sz="2800" dirty="0"/>
            </a:p>
          </p:txBody>
        </p:sp>
      </p:grpSp>
      <p:sp>
        <p:nvSpPr>
          <p:cNvPr id="43" name="Text 40"/>
          <p:cNvSpPr/>
          <p:nvPr/>
        </p:nvSpPr>
        <p:spPr>
          <a:xfrm>
            <a:off x="5394960" y="4389120"/>
            <a:ext cx="5029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塗回 8 格，長什麼樣子？</a:t>
            </a:r>
            <a:endParaRPr lang="en-US" sz="1800" dirty="0"/>
          </a:p>
        </p:txBody>
      </p:sp>
      <p:sp>
        <p:nvSpPr>
          <p:cNvPr id="44" name="Text 41"/>
          <p:cNvSpPr/>
          <p:nvPr/>
        </p:nvSpPr>
        <p:spPr>
          <a:xfrm>
            <a:off x="457200" y="539496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⚡ 30 秒暖身：2 個 0／1 可以表示幾種？3 個呢？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初階任務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</a:t>
            </a:r>
            <a:r>
              <a:rPr lang="zh-TW" alt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縮短與還原：讓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照片少一點訊號</a:t>
            </a:r>
            <a:endParaRPr lang="zh-TW" altLang="en-US" sz="3000" b="1" dirty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457199" y="1280160"/>
            <a:ext cx="11402291" cy="4434840"/>
          </a:xfrm>
          <a:prstGeom prst="roundRect">
            <a:avLst>
              <a:gd name="adj" fmla="val 164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28073" y="1554480"/>
            <a:ext cx="10760363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任務流程</a:t>
            </a:r>
            <a:r>
              <a:rPr lang="en-US" sz="18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18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組成員都是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火星</a:t>
            </a:r>
            <a:r>
              <a:rPr lang="en-US" sz="3000" b="1" dirty="0" err="1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訊號官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：將小組原有的，</a:t>
            </a:r>
            <a:r>
              <a:rPr 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連續代碼協助改寫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訊號逐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列改寫成「代號</a:t>
            </a:r>
            <a:r>
              <a:rPr lang="en-US" altLang="zh-TW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×</a:t>
            </a:r>
            <a:r>
              <a:rPr lang="zh-TW" alt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數量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」。完成後請將小組的訊號單交給老師。</a:t>
            </a:r>
            <a:endParaRPr lang="zh-TW" altLang="en-US" sz="3000" dirty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老師隨機將各組的訊號單派發給其他組，這時各組化身為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地球</a:t>
            </a:r>
            <a:r>
              <a:rPr lang="zh-TW" altLang="en-US" sz="3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訊號官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，任務：讀取訊號</a:t>
            </a:r>
            <a:r>
              <a:rPr lang="en-US" altLang="zh-TW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記錄訊號</a:t>
            </a:r>
            <a:r>
              <a:rPr 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30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塗格還原</a:t>
            </a:r>
            <a:endParaRPr lang="en-US" sz="3000" dirty="0" smtClean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最後和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原圖比對</a:t>
            </a:r>
            <a:r>
              <a:rPr lang="zh-TW" altLang="en-US" sz="30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，看看你的</a:t>
            </a:r>
            <a:r>
              <a:rPr lang="en-US" sz="30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正確格數</a:t>
            </a:r>
            <a:endParaRPr lang="en-US" sz="3000" dirty="0"/>
          </a:p>
        </p:txBody>
      </p:sp>
      <p:sp>
        <p:nvSpPr>
          <p:cNvPr id="9" name="Shape 2"/>
          <p:cNvSpPr/>
          <p:nvPr/>
        </p:nvSpPr>
        <p:spPr>
          <a:xfrm>
            <a:off x="4036291" y="5847958"/>
            <a:ext cx="7823199" cy="792988"/>
          </a:xfrm>
          <a:prstGeom prst="roundRect">
            <a:avLst>
              <a:gd name="adj" fmla="val 1649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10" name="Text 3"/>
          <p:cNvSpPr/>
          <p:nvPr/>
        </p:nvSpPr>
        <p:spPr>
          <a:xfrm>
            <a:off x="4382655" y="6026913"/>
            <a:ext cx="6894946" cy="61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800"/>
              </a:spcAft>
            </a:pPr>
            <a:r>
              <a:rPr lang="en-US" sz="30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🔦 </a:t>
            </a:r>
            <a:r>
              <a:rPr lang="zh-TW" altLang="en-US" sz="3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高階挑戰 </a:t>
            </a: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利用你們上次的</a:t>
            </a:r>
            <a:r>
              <a:rPr lang="en-US" altLang="zh-TW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8*8</a:t>
            </a:r>
            <a:r>
              <a:rPr lang="zh-TW" altLang="en-US" sz="20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圖片再挑戰一次吧！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911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9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4114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🏷 </a:t>
            </a:r>
            <a:r>
              <a:rPr lang="zh-TW" altLang="en-US" sz="2400" b="1" dirty="0" smtClean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科學知識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0" y="20116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26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</a:t>
            </a:r>
            <a:r>
              <a:rPr lang="en-US" sz="26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們今天發明的</a:t>
            </a:r>
            <a:r>
              <a:rPr lang="en-US" sz="26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「代號×數量</a:t>
            </a:r>
            <a:r>
              <a:rPr lang="en-US" sz="2600" dirty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」，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-1" y="31165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電腦科學叫它：壓縮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0" y="466344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30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直到現在，</a:t>
            </a:r>
            <a:r>
              <a:rPr lang="en-US" sz="30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你的手機每天</a:t>
            </a:r>
            <a:r>
              <a:rPr lang="zh-TW" altLang="en-US" sz="3000" dirty="0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還是</a:t>
            </a:r>
            <a:r>
              <a:rPr lang="en-US" sz="30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都在做同一件事</a:t>
            </a:r>
            <a:endParaRPr lang="en-US" sz="3000" dirty="0" smtClean="0">
              <a:solidFill>
                <a:srgbClr val="5EC8F2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  <a:p>
            <a:pPr marL="0" indent="0" algn="ctr">
              <a:buNone/>
            </a:pPr>
            <a:r>
              <a:rPr lang="en-US" sz="3000" dirty="0" err="1" smtClean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照片</a:t>
            </a:r>
            <a:r>
              <a:rPr lang="en-US" sz="3000" dirty="0" err="1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、影片、音樂，全都先壓縮再傳送</a:t>
            </a:r>
            <a:r>
              <a:rPr lang="en-US" sz="3000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！</a:t>
            </a:r>
            <a:endParaRPr lang="en-US" sz="3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8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進階</a:t>
            </a:r>
            <a:r>
              <a:rPr lang="zh-TW" altLang="en-US" sz="30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</a:t>
            </a:r>
            <a:r>
              <a:rPr lang="en-US" altLang="zh-TW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｜</a:t>
            </a:r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棋盤格的壓縮</a:t>
            </a:r>
            <a:endParaRPr lang="zh-TW" altLang="en-US" sz="3000" b="1" dirty="0">
              <a:solidFill>
                <a:srgbClr val="F2E3C8"/>
              </a:solidFill>
              <a:latin typeface="Microsoft JhengHei" pitchFamily="34" charset="0"/>
              <a:ea typeface="Microsoft JhengHei" pitchFamily="34" charset="-122"/>
              <a:cs typeface="Microsoft JhengHei" pitchFamily="34" charset="-12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1463040" y="137160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938528" y="137160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414016" y="137160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89504" y="137160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364992" y="137160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40480" y="137160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15968" y="137160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91456" y="137160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463040" y="184708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938528" y="184708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14016" y="184708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889504" y="184708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64992" y="184708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840480" y="184708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15968" y="184708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791456" y="184708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63040" y="232257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938528" y="232257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14016" y="232257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889504" y="232257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64992" y="232257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0" y="232257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315968" y="232257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791456" y="232257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463040" y="2798064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38528" y="2798064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2414016" y="2798064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2889504" y="2798064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364992" y="2798064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3840480" y="2798064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315968" y="2798064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791456" y="2798064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463040" y="3273552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938528" y="3273552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2414016" y="3273552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2889504" y="3273552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3364992" y="3273552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840480" y="3273552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315968" y="3273552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791456" y="3273552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463040" y="374904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938528" y="374904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2414016" y="374904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2889504" y="374904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3364992" y="374904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3840480" y="374904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68" y="3749040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791456" y="3749040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463040" y="422452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938528" y="422452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2414016" y="422452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889504" y="422452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364992" y="422452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840480" y="422452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315968" y="4224528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791456" y="4224528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1463040" y="470001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1938528" y="470001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2414016" y="470001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2889504" y="470001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3364992" y="470001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3840480" y="470001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315968" y="4700016"/>
            <a:ext cx="475488" cy="475488"/>
          </a:xfrm>
          <a:prstGeom prst="rect">
            <a:avLst/>
          </a:prstGeom>
          <a:solidFill>
            <a:srgbClr val="F5F1E8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4791456" y="4700016"/>
            <a:ext cx="475488" cy="475488"/>
          </a:xfrm>
          <a:prstGeom prst="rect">
            <a:avLst/>
          </a:prstGeom>
          <a:solidFill>
            <a:srgbClr val="111111"/>
          </a:solidFill>
          <a:ln w="6350">
            <a:solidFill>
              <a:srgbClr val="1E3A5C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005840" y="53492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棋盤格影像（0、1 交錯）</a:t>
            </a:r>
            <a:endParaRPr lang="en-US" sz="1400" dirty="0"/>
          </a:p>
        </p:txBody>
      </p:sp>
      <p:sp>
        <p:nvSpPr>
          <p:cNvPr id="70" name="Shape 67"/>
          <p:cNvSpPr/>
          <p:nvPr/>
        </p:nvSpPr>
        <p:spPr>
          <a:xfrm>
            <a:off x="5913120" y="2386584"/>
            <a:ext cx="5791200" cy="2490216"/>
          </a:xfrm>
          <a:prstGeom prst="roundRect">
            <a:avLst>
              <a:gd name="adj" fmla="val 190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6337300" y="2692400"/>
            <a:ext cx="5138420" cy="2428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3000" b="1" dirty="0" err="1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改寫後</a:t>
            </a:r>
            <a:r>
              <a:rPr lang="zh-TW" altLang="en-US" sz="30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，有比較節省訊號嗎？</a:t>
            </a:r>
            <a:r>
              <a:rPr lang="en-US" sz="3000" b="1" dirty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endParaRPr lang="en-US" sz="3000" dirty="0"/>
          </a:p>
          <a:p>
            <a:pPr marL="0" indent="0">
              <a:buNone/>
            </a:pPr>
            <a:r>
              <a:rPr lang="zh-TW" altLang="en-US" sz="3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小組討論：怎樣的圖片比較適合我們的壓縮方式呢？</a:t>
            </a:r>
            <a:endParaRPr lang="en-US" sz="3000" dirty="0"/>
          </a:p>
        </p:txBody>
      </p:sp>
      <p:sp>
        <p:nvSpPr>
          <p:cNvPr id="3" name="矩形 2"/>
          <p:cNvSpPr/>
          <p:nvPr/>
        </p:nvSpPr>
        <p:spPr>
          <a:xfrm>
            <a:off x="6080760" y="985314"/>
            <a:ext cx="44756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3000" b="1" dirty="0" smtClean="0">
                <a:solidFill>
                  <a:srgbClr val="FFC0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請將右邊的棋盤格用同樣的方式進行代碼改寫</a:t>
            </a:r>
            <a:endParaRPr lang="zh-TW" altLang="en-US" sz="3000" dirty="0">
              <a:solidFill>
                <a:srgbClr val="FFC000"/>
              </a:solidFill>
            </a:endParaRPr>
          </a:p>
        </p:txBody>
      </p:sp>
      <p:sp>
        <p:nvSpPr>
          <p:cNvPr id="73" name="Shape 67"/>
          <p:cNvSpPr/>
          <p:nvPr/>
        </p:nvSpPr>
        <p:spPr>
          <a:xfrm>
            <a:off x="4797552" y="5590812"/>
            <a:ext cx="7140448" cy="1053049"/>
          </a:xfrm>
          <a:prstGeom prst="roundRect">
            <a:avLst>
              <a:gd name="adj" fmla="val 1905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72" name="矩形 71"/>
          <p:cNvSpPr/>
          <p:nvPr/>
        </p:nvSpPr>
        <p:spPr>
          <a:xfrm>
            <a:off x="5005317" y="5819099"/>
            <a:ext cx="6724918" cy="5539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000" b="1" dirty="0" smtClean="0">
                <a:solidFill>
                  <a:schemeClr val="accent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不是所有的圖片都能有效的減少訊號喔</a:t>
            </a:r>
            <a:endParaRPr lang="zh-TW" altLang="en-US" sz="30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02 · 火星第一眼：1976 維京一號的拍照任務　11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課後延伸挑戰</a:t>
            </a:r>
            <a:r>
              <a:rPr lang="en-US" sz="3000" b="1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</a:t>
            </a:r>
            <a:r>
              <a:rPr lang="zh-TW" altLang="en-US" sz="2500" b="1" dirty="0" smtClean="0">
                <a:solidFill>
                  <a:schemeClr val="accent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 </a:t>
            </a:r>
            <a:r>
              <a:rPr lang="en-US" altLang="zh-TW" sz="2500" b="1" dirty="0" smtClean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×5</a:t>
            </a:r>
            <a:r>
              <a:rPr lang="zh-TW" altLang="en-US" sz="2500" b="1" dirty="0" smtClean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」的傳送。</a:t>
            </a:r>
            <a:endParaRPr lang="en-US" sz="2500" dirty="0">
              <a:solidFill>
                <a:schemeClr val="accent2"/>
              </a:solidFill>
            </a:endParaRPr>
          </a:p>
        </p:txBody>
      </p:sp>
      <p:sp>
        <p:nvSpPr>
          <p:cNvPr id="23" name="Shape 20"/>
          <p:cNvSpPr/>
          <p:nvPr/>
        </p:nvSpPr>
        <p:spPr>
          <a:xfrm>
            <a:off x="457200" y="3520440"/>
            <a:ext cx="11074400" cy="1554480"/>
          </a:xfrm>
          <a:prstGeom prst="roundRect">
            <a:avLst>
              <a:gd name="adj" fmla="val 4706"/>
            </a:avLst>
          </a:prstGeom>
          <a:solidFill>
            <a:srgbClr val="0D1424"/>
          </a:solidFill>
          <a:ln w="12700">
            <a:solidFill>
              <a:srgbClr val="1E3A5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31520" y="370332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TW" altLang="en-US" sz="2500" b="1" dirty="0" smtClean="0">
                <a:solidFill>
                  <a:srgbClr val="FF5C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關鍵提示 </a:t>
            </a:r>
            <a:endParaRPr lang="en-US" sz="2500" dirty="0"/>
          </a:p>
        </p:txBody>
      </p:sp>
      <p:sp>
        <p:nvSpPr>
          <p:cNvPr id="25" name="Text 22"/>
          <p:cNvSpPr/>
          <p:nvPr/>
        </p:nvSpPr>
        <p:spPr>
          <a:xfrm>
            <a:off x="731519" y="4160520"/>
            <a:ext cx="10419081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</a:t>
            </a:r>
            <a:r>
              <a:rPr lang="en-US" sz="2400" b="1" dirty="0" smtClean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zh-TW" altLang="en-US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這個數量可不可以也用</a:t>
            </a:r>
            <a:r>
              <a:rPr lang="en-US" altLang="zh-TW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1/0</a:t>
            </a:r>
            <a:r>
              <a:rPr lang="zh-TW" altLang="en-US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來表示呢？會需要幾組才能完整表示？</a:t>
            </a:r>
            <a:endParaRPr lang="en-US" sz="2400" b="1" dirty="0">
              <a:solidFill>
                <a:srgbClr val="FFB34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>
              <a:lnSpc>
                <a:spcPct val="115000"/>
              </a:lnSpc>
            </a:pPr>
            <a:r>
              <a:rPr lang="en-US" altLang="zh-TW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r>
              <a:rPr lang="zh-TW" altLang="en-US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「</a:t>
            </a:r>
            <a:r>
              <a:rPr lang="en-US" altLang="zh-TW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zh-TW" altLang="en-US" sz="24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」這個符號真的一定要嗎？可不可以用數字位置</a:t>
            </a:r>
            <a:endParaRPr lang="en-US" sz="2400" b="1" dirty="0">
              <a:solidFill>
                <a:srgbClr val="FFB347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</p:txBody>
      </p:sp>
      <p:sp>
        <p:nvSpPr>
          <p:cNvPr id="32" name="Text 29"/>
          <p:cNvSpPr/>
          <p:nvPr/>
        </p:nvSpPr>
        <p:spPr>
          <a:xfrm>
            <a:off x="457200" y="539496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zh-TW" alt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你會發現其實用</a:t>
            </a:r>
            <a:r>
              <a:rPr lang="en-US" altLang="zh-TW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1/0</a:t>
            </a:r>
            <a:r>
              <a:rPr lang="zh-TW" altLang="en-US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可以傳送很多不同意義的訊息</a:t>
            </a:r>
            <a:r>
              <a:rPr lang="en-US" altLang="zh-TW" sz="2000" b="1" dirty="0" smtClean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…..</a:t>
            </a:r>
            <a:endParaRPr lang="en-US" sz="2000" dirty="0"/>
          </a:p>
        </p:txBody>
      </p:sp>
      <p:sp>
        <p:nvSpPr>
          <p:cNvPr id="33" name="Text 3"/>
          <p:cNvSpPr/>
          <p:nvPr/>
        </p:nvSpPr>
        <p:spPr>
          <a:xfrm>
            <a:off x="731519" y="1382904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zh-TW" altLang="en-US" sz="2800" b="1" dirty="0" smtClean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我們將代碼改成</a:t>
            </a:r>
            <a:r>
              <a:rPr lang="en-US" sz="2800" b="1" dirty="0" smtClean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0×5，2×3</a:t>
            </a:r>
            <a:r>
              <a:rPr lang="zh-TW" altLang="en-US" sz="2800" b="1" dirty="0" smtClean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這樣的方式，但這個</a:t>
            </a:r>
            <a:r>
              <a:rPr lang="en-US" altLang="zh-TW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</a:t>
            </a:r>
            <a:r>
              <a:rPr lang="en-US" altLang="zh-TW" sz="2800" b="1" dirty="0" smtClean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r>
              <a:rPr lang="zh-TW" altLang="en-US" sz="2800" b="1" dirty="0" smtClean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又要怎麼傳送呢？</a:t>
            </a:r>
            <a:endParaRPr lang="en-US" sz="2800" dirty="0"/>
          </a:p>
        </p:txBody>
      </p:sp>
      <p:grpSp>
        <p:nvGrpSpPr>
          <p:cNvPr id="42" name="群組 41"/>
          <p:cNvGrpSpPr/>
          <p:nvPr/>
        </p:nvGrpSpPr>
        <p:grpSpPr>
          <a:xfrm>
            <a:off x="1297940" y="2036376"/>
            <a:ext cx="4251960" cy="1096056"/>
            <a:chOff x="2779268" y="2010456"/>
            <a:chExt cx="4251960" cy="1096056"/>
          </a:xfrm>
        </p:grpSpPr>
        <p:sp>
          <p:nvSpPr>
            <p:cNvPr id="6" name="Text 3"/>
            <p:cNvSpPr/>
            <p:nvPr/>
          </p:nvSpPr>
          <p:spPr>
            <a:xfrm>
              <a:off x="2779268" y="2010456"/>
              <a:ext cx="4251960" cy="7315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200" b="1" kern="0" spc="400" dirty="0" smtClean="0">
                  <a:solidFill>
                    <a:srgbClr val="5EC8F2"/>
                  </a:solidFill>
                  <a:latin typeface="Courier New" pitchFamily="34" charset="0"/>
                  <a:ea typeface="Courier New" pitchFamily="34" charset="-122"/>
                  <a:cs typeface="Courier New" pitchFamily="34" charset="-120"/>
                </a:rPr>
                <a:t>000000000001010101</a:t>
              </a:r>
              <a:endParaRPr lang="en-US" sz="2200" dirty="0"/>
            </a:p>
          </p:txBody>
        </p:sp>
        <p:grpSp>
          <p:nvGrpSpPr>
            <p:cNvPr id="3" name="群組 2"/>
            <p:cNvGrpSpPr/>
            <p:nvPr/>
          </p:nvGrpSpPr>
          <p:grpSpPr>
            <a:xfrm>
              <a:off x="2930144" y="2649312"/>
              <a:ext cx="3913632" cy="457200"/>
              <a:chOff x="2930144" y="2649312"/>
              <a:chExt cx="3913632" cy="457200"/>
            </a:xfrm>
          </p:grpSpPr>
          <p:sp>
            <p:nvSpPr>
              <p:cNvPr id="34" name="Shape 4"/>
              <p:cNvSpPr/>
              <p:nvPr/>
            </p:nvSpPr>
            <p:spPr>
              <a:xfrm>
                <a:off x="2930144" y="2649312"/>
                <a:ext cx="457200" cy="457200"/>
              </a:xfrm>
              <a:prstGeom prst="rect">
                <a:avLst/>
              </a:prstGeom>
              <a:solidFill>
                <a:srgbClr val="111111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35" name="Shape 5"/>
              <p:cNvSpPr/>
              <p:nvPr/>
            </p:nvSpPr>
            <p:spPr>
              <a:xfrm>
                <a:off x="3423920" y="2649312"/>
                <a:ext cx="457200" cy="457200"/>
              </a:xfrm>
              <a:prstGeom prst="rect">
                <a:avLst/>
              </a:prstGeom>
              <a:solidFill>
                <a:srgbClr val="111111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36" name="Shape 6"/>
              <p:cNvSpPr/>
              <p:nvPr/>
            </p:nvSpPr>
            <p:spPr>
              <a:xfrm>
                <a:off x="3917696" y="2649312"/>
                <a:ext cx="457200" cy="457200"/>
              </a:xfrm>
              <a:prstGeom prst="rect">
                <a:avLst/>
              </a:prstGeom>
              <a:solidFill>
                <a:srgbClr val="111111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37" name="Shape 7"/>
              <p:cNvSpPr/>
              <p:nvPr/>
            </p:nvSpPr>
            <p:spPr>
              <a:xfrm>
                <a:off x="4411472" y="2649312"/>
                <a:ext cx="457200" cy="457200"/>
              </a:xfrm>
              <a:prstGeom prst="rect">
                <a:avLst/>
              </a:prstGeom>
              <a:solidFill>
                <a:srgbClr val="111111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38" name="Shape 8"/>
              <p:cNvSpPr/>
              <p:nvPr/>
            </p:nvSpPr>
            <p:spPr>
              <a:xfrm>
                <a:off x="4905248" y="2649312"/>
                <a:ext cx="457200" cy="457200"/>
              </a:xfrm>
              <a:prstGeom prst="rect">
                <a:avLst/>
              </a:prstGeom>
              <a:solidFill>
                <a:srgbClr val="111111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39" name="Shape 9"/>
              <p:cNvSpPr/>
              <p:nvPr/>
            </p:nvSpPr>
            <p:spPr>
              <a:xfrm>
                <a:off x="5399024" y="2649312"/>
                <a:ext cx="457200" cy="457200"/>
              </a:xfrm>
              <a:prstGeom prst="rect">
                <a:avLst/>
              </a:prstGeom>
              <a:solidFill>
                <a:srgbClr val="A9A9A9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40" name="Shape 10"/>
              <p:cNvSpPr/>
              <p:nvPr/>
            </p:nvSpPr>
            <p:spPr>
              <a:xfrm>
                <a:off x="5892800" y="2649312"/>
                <a:ext cx="457200" cy="457200"/>
              </a:xfrm>
              <a:prstGeom prst="rect">
                <a:avLst/>
              </a:prstGeom>
              <a:solidFill>
                <a:srgbClr val="A9A9A9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  <p:sp>
            <p:nvSpPr>
              <p:cNvPr id="41" name="Shape 11"/>
              <p:cNvSpPr/>
              <p:nvPr/>
            </p:nvSpPr>
            <p:spPr>
              <a:xfrm>
                <a:off x="6386576" y="2649312"/>
                <a:ext cx="457200" cy="457200"/>
              </a:xfrm>
              <a:prstGeom prst="rect">
                <a:avLst/>
              </a:prstGeom>
              <a:solidFill>
                <a:srgbClr val="A9A9A9"/>
              </a:solidFill>
              <a:ln w="9525">
                <a:solidFill>
                  <a:srgbClr val="1E3A5C"/>
                </a:solidFill>
                <a:prstDash val="solid"/>
              </a:ln>
            </p:spPr>
          </p:sp>
        </p:grpSp>
      </p:grpSp>
    </p:spTree>
    <p:extLst>
      <p:ext uri="{BB962C8B-B14F-4D97-AF65-F5344CB8AC3E}">
        <p14:creationId xmlns:p14="http://schemas.microsoft.com/office/powerpoint/2010/main" val="9951013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B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93A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MISSION 04 · 火星第一眼：1976 維京一號的拍照任務　10</a:t>
            </a:r>
            <a:endParaRPr lang="en-US" sz="900" dirty="0"/>
          </a:p>
        </p:txBody>
      </p:sp>
      <p:sp>
        <p:nvSpPr>
          <p:cNvPr id="4" name="Text 1"/>
          <p:cNvSpPr/>
          <p:nvPr/>
        </p:nvSpPr>
        <p:spPr>
          <a:xfrm>
            <a:off x="0" y="73152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5EC8F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今日任務完成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1097280" y="173736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1000"/>
              </a:spcAft>
              <a:buNone/>
            </a:pPr>
            <a:r>
              <a:rPr lang="en-US" sz="2300" b="1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壓縮＝用更短的寫法，記一樣的資料（解開後一格不差）
</a:t>
            </a:r>
            <a:endParaRPr lang="en-US" sz="2300" dirty="0"/>
          </a:p>
          <a:p>
            <a:pPr marL="0" indent="0" algn="ctr">
              <a:buNone/>
            </a:pPr>
            <a:r>
              <a:rPr lang="en-US" sz="2500" dirty="0" err="1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大片相同好壓縮、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不斷交錯不划算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，</a:t>
            </a:r>
            <a:r>
              <a:rPr lang="en-US" sz="2500" dirty="0" err="1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壓縮</a:t>
            </a:r>
            <a:r>
              <a:rPr lang="zh-TW" altLang="en-US" sz="2500" dirty="0" smtClean="0">
                <a:solidFill>
                  <a:srgbClr val="C9D6E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的效用也要看原來的訊號喔！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4433621" y="3353308"/>
            <a:ext cx="66671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B3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0×5，2×3</a:t>
            </a:r>
            <a:endParaRPr lang="en-US" sz="2800" dirty="0"/>
          </a:p>
        </p:txBody>
      </p:sp>
      <p:sp>
        <p:nvSpPr>
          <p:cNvPr id="7" name="Shape 4"/>
          <p:cNvSpPr/>
          <p:nvPr/>
        </p:nvSpPr>
        <p:spPr>
          <a:xfrm>
            <a:off x="1386687" y="4352544"/>
            <a:ext cx="9418320" cy="1737360"/>
          </a:xfrm>
          <a:prstGeom prst="roundRect">
            <a:avLst>
              <a:gd name="adj" fmla="val 4211"/>
            </a:avLst>
          </a:prstGeom>
          <a:solidFill>
            <a:srgbClr val="1A0D10"/>
          </a:solidFill>
          <a:ln w="19050">
            <a:solidFill>
              <a:srgbClr val="FF5C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737360" y="45262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39D35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所有照片趕在通訊中斷前，傳完了！
</a:t>
            </a:r>
            <a:r>
              <a:rPr lang="en-US" sz="25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可是</a:t>
            </a:r>
            <a:r>
              <a:rPr lang="en-US" sz="2500" dirty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……1976 </a:t>
            </a:r>
            <a:r>
              <a:rPr lang="en-US" sz="2500" dirty="0" err="1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年真正的維京一號</a:t>
            </a:r>
            <a:r>
              <a:rPr lang="zh-TW" altLang="en-US" sz="25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的照片真相其實</a:t>
            </a:r>
            <a:r>
              <a:rPr lang="en-US" sz="2500" dirty="0" smtClean="0">
                <a:solidFill>
                  <a:srgbClr val="F2E3C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是……</a:t>
            </a:r>
            <a:endParaRPr lang="en-US" sz="2500" dirty="0"/>
          </a:p>
          <a:p>
            <a:pPr marL="0" indent="0" algn="ctr">
              <a:buNone/>
            </a:pPr>
            <a:r>
              <a:rPr lang="en-US" sz="2500" b="1" dirty="0">
                <a:solidFill>
                  <a:srgbClr val="FFB34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下一節：火星第一眼的真相</a:t>
            </a:r>
            <a:endParaRPr lang="en-US" sz="2500" dirty="0"/>
          </a:p>
        </p:txBody>
      </p:sp>
      <p:sp>
        <p:nvSpPr>
          <p:cNvPr id="9" name="Shape 4"/>
          <p:cNvSpPr/>
          <p:nvPr/>
        </p:nvSpPr>
        <p:spPr>
          <a:xfrm>
            <a:off x="2642616" y="3364992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136392" y="3364992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3630168" y="3364992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2" name="Shape 7"/>
          <p:cNvSpPr/>
          <p:nvPr/>
        </p:nvSpPr>
        <p:spPr>
          <a:xfrm>
            <a:off x="4123944" y="3364992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4617720" y="3364992"/>
            <a:ext cx="457200" cy="457200"/>
          </a:xfrm>
          <a:prstGeom prst="rect">
            <a:avLst/>
          </a:prstGeom>
          <a:solidFill>
            <a:srgbClr val="111111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5111496" y="3364992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5605272" y="3364992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099048" y="3364992"/>
            <a:ext cx="457200" cy="457200"/>
          </a:xfrm>
          <a:prstGeom prst="rect">
            <a:avLst/>
          </a:prstGeom>
          <a:solidFill>
            <a:srgbClr val="A9A9A9"/>
          </a:solidFill>
          <a:ln w="9525">
            <a:solidFill>
              <a:srgbClr val="1E3A5C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825</Words>
  <Application>Microsoft Office PowerPoint</Application>
  <PresentationFormat>寬螢幕</PresentationFormat>
  <Paragraphs>169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Microsoft JhengHei</vt:lpstr>
      <vt:lpstr>新細明體</vt:lpstr>
      <vt:lpstr>Arial</vt:lpstr>
      <vt:lpstr>Calibri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Wen-Yi Chang</cp:lastModifiedBy>
  <cp:revision>28</cp:revision>
  <dcterms:created xsi:type="dcterms:W3CDTF">2026-07-12T03:59:18Z</dcterms:created>
  <dcterms:modified xsi:type="dcterms:W3CDTF">2026-07-12T04:44:56Z</dcterms:modified>
</cp:coreProperties>
</file>