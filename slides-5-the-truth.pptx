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0B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622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開場前播放。收網之節：先演練、再揭曉真相。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 3 分鐘。先請完成第三節課後挑戰的學生分享 8 階約定（答案：3 個訊號、000～111 共 8 種），直接銜接本節倍增推理。再廣播：最後一次全流程演練。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演練 15 分鐘（含說明與分站）。演練圖用 4×4 大塊連續圖案。五站對應五節課的概念、互為上下游：哪一站理解不到位，錯誤會順流而下被下一站發現。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三條特別規則：副手制解決等待空窗；「原樣直傳」處理壓縮反而變長的列（呼應第四節棋盤格）；還原員可由全組協助核對。替代方案：故障診斷任務（發給各組出錯的傳圖案例，診斷哪一站出錯）。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演練完成後解密（8 分鐘）。出示真實維京一號第一張照片（登陸腳架照）。以數位任務頁「掃描帶演示」把真實照片逐條重現，是全課程歷史感最強的一刻。提問：照片裡看得出條紋嗎？和第一節的逐格掃描像不像？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分鐘。學生用的是自己第三節推出的規律：1 位元 2 階、2 位元 4 階，追問 3 位元？4 位元？一路數到 6 位元＝64 階。揭曉：維京每一格用 6 個 0／1 訊號記 64 階灰階；你們演練每格 2 個，維京用 6 個！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以漸層條感受位元深度：1 位元只有黑白、6 位元平滑細膩。可搭配數位任務頁「位元階梯」用真實照片對照 1、2、3、6 位元的樣子。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資料量估算 8 分鐘，以「約」表述量級。分組用資料量計算單逐步估算，答案量級對即可：500 萬 ÷ 250 ＝ 20,000 秒 ≈ 五個多小時。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現代橋接：可當場投影開啟一張手機實拍照片的檔案資訊（解析度如 4000×3000、大小數 MB），對照課堂的 4×4 與 128 個訊號——同一套旅程，只是規模不同。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課末每人抽站作答（口語表達之素養證據，評量規準 5-3；個人等級不與小組成敗連動）。接力紀錄單的組內互評欄也在此時填寫（C2 合作互評證據）。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五節課收網：五個任務對應五個概念，1976 年與今天是同一套資訊原理——表示、編碼、壓縮、取捨。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結業頁。恭喜完成全部任務！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05 · 火星第一眼：1976 維京一號的拍照任務　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0" y="9601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600" dirty="0">
                <a:solidFill>
                  <a:srgbClr val="5EC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I S S I O N   0 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137160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第一眼的真相</a:t>
            </a:r>
            <a:endParaRPr lang="en-US" sz="6200" dirty="0"/>
          </a:p>
        </p:txBody>
      </p:sp>
      <p:sp>
        <p:nvSpPr>
          <p:cNvPr id="6" name="Text 3"/>
          <p:cNvSpPr/>
          <p:nvPr/>
        </p:nvSpPr>
        <p:spPr>
          <a:xfrm>
            <a:off x="0" y="2606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火星第一眼：1976 維京一號的拍照任務・第五節</a:t>
            </a:r>
            <a:endParaRPr lang="en-US" sz="1600" dirty="0"/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" t="5232" r="2280" b="4145"/>
          <a:stretch/>
        </p:blipFill>
        <p:spPr>
          <a:xfrm>
            <a:off x="2253672" y="3106924"/>
            <a:ext cx="7897090" cy="27734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05 · 火星第一眼：1976 維京一號的拍照任務　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【任務控制中心廣播】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822960" y="1234440"/>
            <a:ext cx="10515600" cy="2011680"/>
          </a:xfrm>
          <a:prstGeom prst="roundRect">
            <a:avLst>
              <a:gd name="adj" fmla="val 3636"/>
            </a:avLst>
          </a:prstGeom>
          <a:solidFill>
            <a:srgbClr val="0D1424"/>
          </a:solidFill>
          <a:ln w="19050">
            <a:solidFill>
              <a:srgbClr val="39D35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88720" y="1508760"/>
            <a:ext cx="9784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39D3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📡 </a:t>
            </a:r>
            <a:r>
              <a:rPr lang="en-US" sz="2200" b="1" dirty="0" err="1">
                <a:solidFill>
                  <a:srgbClr val="39D3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好消息</a:t>
            </a:r>
            <a:r>
              <a:rPr lang="en-US" sz="2200" b="1" dirty="0" smtClean="0">
                <a:solidFill>
                  <a:srgbClr val="39D3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zh-TW" altLang="en-US" sz="2200" b="1" dirty="0" smtClean="0">
                <a:solidFill>
                  <a:srgbClr val="39D3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風暴</a:t>
            </a:r>
            <a:r>
              <a:rPr lang="en-US" sz="2200" b="1" dirty="0" err="1" smtClean="0">
                <a:solidFill>
                  <a:srgbClr val="39D3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即將結束</a:t>
            </a:r>
            <a:r>
              <a:rPr lang="en-US" sz="2200" b="1" dirty="0" err="1">
                <a:solidFill>
                  <a:srgbClr val="39D3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，通訊即將恢復</a:t>
            </a:r>
            <a:r>
              <a:rPr lang="en-US" sz="2200" b="1" dirty="0">
                <a:solidFill>
                  <a:srgbClr val="39D3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！
</a:t>
            </a:r>
            <a:endParaRPr lang="en-US" sz="2200" dirty="0"/>
          </a:p>
          <a:p>
            <a:pPr marL="0" indent="0">
              <a:buNone/>
            </a:pPr>
            <a:r>
              <a:rPr lang="en-US" sz="17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控制中心要求各組完成最後一次「全流程演練」：五人分站接力，把一張新影像從記錄、壓縮、編碼、傳送，一路跑到還原！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0" y="53949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先演練，再解密。出發！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05 · 火星第一眼：1976 維京一號的拍照任務　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任務｜</a:t>
            </a:r>
            <a:r>
              <a:rPr lang="en-US" sz="30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傳圖接力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554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相機手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66928" y="2697480"/>
            <a:ext cx="1929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逐格記下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亮度數字（0～3）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" y="379476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 個亮度數字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560320" y="26517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B347"/>
                </a:solidFill>
              </a:rPr>
              <a:t>→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834640" y="137160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34640" y="1554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834640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壓縮師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944368" y="2697480"/>
            <a:ext cx="1929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逐列改寫成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「代號×數量」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944368" y="379476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壓縮字串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937760" y="26517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B347"/>
                </a:solidFill>
              </a:rPr>
              <a:t>→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212080" y="137160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12080" y="1554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212080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編碼員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321808" y="2697480"/>
            <a:ext cx="1929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每段翻成 0／1 訊號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（每段 4 個）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321808" y="379476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0／1 訊號串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315200" y="26517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B347"/>
                </a:solidFill>
              </a:rPr>
              <a:t>→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589520" y="137160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89520" y="1554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7589520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傳訊員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7699248" y="2697480"/>
            <a:ext cx="1929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依約定格式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抄送鄰組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699248" y="379476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送出的訊息單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692640" y="26517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B347"/>
                </a:solidFill>
              </a:rPr>
              <a:t>→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9966960" y="137160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966960" y="15544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9966960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還原員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10076688" y="2697480"/>
            <a:ext cx="1929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（鄰組）解開、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塗回影像、比對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0076688" y="379476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還原圖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457200" y="48234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</a:t>
            </a:r>
            <a:r>
              <a:rPr lang="en-US" sz="35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</a:t>
            </a:r>
            <a:r>
              <a:rPr lang="en-US" sz="3500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壓縮</a:t>
            </a:r>
            <a:r>
              <a:rPr lang="en-US" sz="35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</a:t>
            </a:r>
            <a:r>
              <a:rPr lang="en-US" sz="3500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編碼</a:t>
            </a:r>
            <a:r>
              <a:rPr lang="en-US" sz="35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</a:t>
            </a:r>
            <a:r>
              <a:rPr lang="en-US" sz="3500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傳送</a:t>
            </a:r>
            <a:r>
              <a:rPr lang="en-US" sz="35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</a:t>
            </a:r>
            <a:r>
              <a:rPr lang="en-US" sz="3500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還原</a:t>
            </a:r>
            <a:endParaRPr lang="en-US" sz="3500" dirty="0"/>
          </a:p>
        </p:txBody>
      </p:sp>
      <p:sp>
        <p:nvSpPr>
          <p:cNvPr id="35" name="Text 32"/>
          <p:cNvSpPr/>
          <p:nvPr/>
        </p:nvSpPr>
        <p:spPr>
          <a:xfrm>
            <a:off x="457200" y="55321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9D3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🏁 演練成功條件：還原圖與原圖，一格不差！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05 · 火星第一眼：1976 維京一號的拍照任務　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r>
              <a:rPr lang="en-US" sz="30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三條特別規則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6002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</a:rPr>
              <a:t>🤝</a:t>
            </a:r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TW" altLang="en-US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</a:t>
            </a:r>
            <a:r>
              <a:rPr lang="zh-TW" altLang="en-US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說話</a:t>
            </a:r>
            <a:endParaRPr lang="en-US" altLang="zh-TW" dirty="0"/>
          </a:p>
        </p:txBody>
      </p:sp>
      <p:sp>
        <p:nvSpPr>
          <p:cNvPr id="8" name="Text 5"/>
          <p:cNvSpPr/>
          <p:nvPr/>
        </p:nvSpPr>
        <p:spPr>
          <a:xfrm>
            <a:off x="731520" y="28803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zh-TW" altLang="en-US" sz="25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太空</a:t>
            </a:r>
            <a:r>
              <a:rPr lang="zh-TW" altLang="en-US" sz="25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訊號的</a:t>
            </a:r>
            <a:r>
              <a:rPr lang="zh-TW" altLang="en-US" sz="25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傳送階段，只有訊號可以傳遞，不可溝通。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4434840" y="137160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4840" y="16002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</a:rPr>
              <a:t>📦</a:t>
            </a:r>
          </a:p>
        </p:txBody>
      </p:sp>
      <p:sp>
        <p:nvSpPr>
          <p:cNvPr id="11" name="Text 8"/>
          <p:cNvSpPr/>
          <p:nvPr/>
        </p:nvSpPr>
        <p:spPr>
          <a:xfrm>
            <a:off x="4434840" y="22860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TW" b="1" dirty="0" err="1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隨影像移</a:t>
            </a:r>
            <a:r>
              <a:rPr lang="zh-TW" altLang="en-US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動後</a:t>
            </a:r>
            <a:r>
              <a:rPr lang="en-US" altLang="zh-TW" b="1" dirty="0" err="1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當副手</a:t>
            </a:r>
            <a:endParaRPr lang="en-US" altLang="zh-TW" dirty="0"/>
          </a:p>
        </p:txBody>
      </p:sp>
      <p:sp>
        <p:nvSpPr>
          <p:cNvPr id="12" name="Text 9"/>
          <p:cNvSpPr/>
          <p:nvPr/>
        </p:nvSpPr>
        <p:spPr>
          <a:xfrm>
            <a:off x="4709160" y="28803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zh-TW" sz="22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完成自己的產出後</a:t>
            </a:r>
            <a:r>
              <a:rPr lang="en-US" altLang="zh-TW" sz="2200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，跟著影像移到下一站幫忙核對；</a:t>
            </a:r>
            <a:r>
              <a:rPr lang="en-US" altLang="zh-TW" sz="22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全組跟著影像逐站前進</a:t>
            </a:r>
            <a:r>
              <a:rPr lang="zh-TW" altLang="en-US" sz="22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8412480" y="137160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0" y="160020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</a:rPr>
              <a:t>🔍</a:t>
            </a:r>
          </a:p>
        </p:txBody>
      </p:sp>
      <p:sp>
        <p:nvSpPr>
          <p:cNvPr id="15" name="Text 12"/>
          <p:cNvSpPr/>
          <p:nvPr/>
        </p:nvSpPr>
        <p:spPr>
          <a:xfrm>
            <a:off x="8412480" y="22860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 dirty="0" err="1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還原員不孤單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686800" y="288036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最後的比對關卡，全組可以一起協助核對；發現錯誤時，回頭找出是哪一站出了問題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57200" y="50292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每站在接力紀錄單留下自己的產出並簽名——這就是你們的任務證據！</a:t>
            </a:r>
            <a:endParaRPr lang="en-US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05 · 火星第一眼：1976 維京一號的拍照任務　5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4114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【通訊恢復！控制中心解密】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0" y="11430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第一張火星照片的完整檔案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2898648" y="2194560"/>
            <a:ext cx="6400800" cy="274320"/>
          </a:xfrm>
          <a:prstGeom prst="rect">
            <a:avLst/>
          </a:prstGeom>
          <a:solidFill>
            <a:srgbClr val="1E1E1E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898648" y="2510028"/>
            <a:ext cx="6400800" cy="274320"/>
          </a:xfrm>
          <a:prstGeom prst="rect">
            <a:avLst/>
          </a:prstGeom>
          <a:solidFill>
            <a:srgbClr val="3A3A3A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98648" y="2825496"/>
            <a:ext cx="6400800" cy="274320"/>
          </a:xfrm>
          <a:prstGeom prst="rect">
            <a:avLst/>
          </a:prstGeom>
          <a:solidFill>
            <a:srgbClr val="575757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98648" y="3140964"/>
            <a:ext cx="6400800" cy="274320"/>
          </a:xfrm>
          <a:prstGeom prst="rect">
            <a:avLst/>
          </a:prstGeom>
          <a:solidFill>
            <a:srgbClr val="6E6E6E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98648" y="3456432"/>
            <a:ext cx="6400800" cy="274320"/>
          </a:xfrm>
          <a:prstGeom prst="rect">
            <a:avLst/>
          </a:prstGeom>
          <a:solidFill>
            <a:srgbClr val="8A8A8A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98648" y="3771900"/>
            <a:ext cx="6400800" cy="274320"/>
          </a:xfrm>
          <a:prstGeom prst="rect">
            <a:avLst/>
          </a:prstGeom>
          <a:solidFill>
            <a:srgbClr val="A5A5A5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98648" y="4087368"/>
            <a:ext cx="6400800" cy="274320"/>
          </a:xfrm>
          <a:prstGeom prst="rect">
            <a:avLst/>
          </a:prstGeom>
          <a:solidFill>
            <a:srgbClr val="C0C0C0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98648" y="4402836"/>
            <a:ext cx="6400800" cy="274320"/>
          </a:xfrm>
          <a:prstGeom prst="rect">
            <a:avLst/>
          </a:prstGeom>
          <a:solidFill>
            <a:srgbClr val="DCDCDC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0" y="48920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它是一條一條「掃描帶」拼出來的：相機逐條掃描、逐條傳送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0" y="54406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和你們剛剛演練的流程，一模一樣——只是規模大得多！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05 · 火星第一眼：1976 維京一號的拍照任務　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38404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位元的祕密：把倍增規律數上去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4504944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6146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位元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96214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階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459736" y="4120896"/>
            <a:ext cx="1691640" cy="1481328"/>
          </a:xfrm>
          <a:prstGeom prst="roundRect">
            <a:avLst>
              <a:gd name="adj" fmla="val 3704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59736" y="423062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位元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459736" y="4578096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階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370832" y="3736848"/>
            <a:ext cx="1691640" cy="1865376"/>
          </a:xfrm>
          <a:prstGeom prst="roundRect">
            <a:avLst>
              <a:gd name="adj" fmla="val 324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70832" y="38465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位元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370832" y="41940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階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281928" y="3352800"/>
            <a:ext cx="1691640" cy="2249424"/>
          </a:xfrm>
          <a:prstGeom prst="roundRect">
            <a:avLst>
              <a:gd name="adj" fmla="val 324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81928" y="34625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位元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81928" y="3810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階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193024" y="2968752"/>
            <a:ext cx="1691640" cy="2633472"/>
          </a:xfrm>
          <a:prstGeom prst="roundRect">
            <a:avLst>
              <a:gd name="adj" fmla="val 324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93024" y="30784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位元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193024" y="3425952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階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10104120" y="2584704"/>
            <a:ext cx="1691640" cy="3017520"/>
          </a:xfrm>
          <a:prstGeom prst="roundRect">
            <a:avLst>
              <a:gd name="adj" fmla="val 3243"/>
            </a:avLst>
          </a:prstGeom>
          <a:solidFill>
            <a:srgbClr val="241A10"/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104120" y="26944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位元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104120" y="3041904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階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502920" y="5830824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 err="1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每多一個位元，</a:t>
            </a:r>
            <a:r>
              <a:rPr lang="en-US" sz="1800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階數</a:t>
            </a:r>
            <a:r>
              <a:rPr lang="zh-TW" altLang="en-US" sz="18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（顏色數）就多</a:t>
            </a:r>
            <a:r>
              <a:rPr lang="en-US" sz="1800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一倍</a:t>
            </a:r>
            <a:r>
              <a:rPr lang="en-US" sz="1800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！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57200" y="1505712"/>
            <a:ext cx="114207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維京一號每一格</a:t>
            </a:r>
            <a:r>
              <a:rPr lang="zh-TW" altLang="en-US" sz="2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都用了</a:t>
            </a:r>
            <a:r>
              <a:rPr lang="en-US" sz="2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</a:t>
            </a:r>
            <a:r>
              <a:rPr lang="en-US" sz="2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 0／1 </a:t>
            </a:r>
            <a:r>
              <a:rPr lang="en-US" sz="20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</a:t>
            </a:r>
            <a:r>
              <a:rPr lang="zh-TW" altLang="en-US" sz="2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來表示</a:t>
            </a:r>
            <a:r>
              <a:rPr lang="en-US" sz="2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64 </a:t>
            </a:r>
            <a:r>
              <a:rPr lang="zh-TW" altLang="en-US" sz="2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種灰色（</a:t>
            </a:r>
            <a:r>
              <a:rPr lang="en-US" altLang="zh-TW" sz="2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64</a:t>
            </a:r>
            <a:r>
              <a:rPr lang="en-US" sz="2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階灰階</a:t>
            </a:r>
            <a:r>
              <a:rPr lang="zh-TW" altLang="en-US" sz="2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r>
              <a:rPr lang="en-US" sz="2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</a:t>
            </a:r>
            <a:r>
              <a:rPr lang="en-US" sz="20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你們</a:t>
            </a:r>
            <a:r>
              <a:rPr lang="zh-TW" altLang="en-US" sz="2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</a:t>
            </a:r>
            <a:r>
              <a:rPr lang="en-US" sz="2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</a:t>
            </a:r>
            <a:r>
              <a:rPr lang="en-US" sz="2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個，它用 6 個！）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05 · 火星第一眼：1976 維京一號的拍照任務　7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同一道天空，不同的位元深度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1463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位元（2 階）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74720" y="1463040"/>
            <a:ext cx="3931920" cy="64008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06640" y="1463040"/>
            <a:ext cx="3931920" cy="640080"/>
          </a:xfrm>
          <a:prstGeom prst="rect">
            <a:avLst/>
          </a:prstGeom>
          <a:solidFill>
            <a:srgbClr val="EEEEEE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2514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位元（4 階）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474720" y="2514600"/>
            <a:ext cx="1965960" cy="64008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40680" y="2514600"/>
            <a:ext cx="1965960" cy="640080"/>
          </a:xfrm>
          <a:prstGeom prst="rect">
            <a:avLst/>
          </a:prstGeom>
          <a:solidFill>
            <a:srgbClr val="5B5B5B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06640" y="2514600"/>
            <a:ext cx="1965960" cy="640080"/>
          </a:xfrm>
          <a:prstGeom prst="rect">
            <a:avLst/>
          </a:prstGeom>
          <a:solidFill>
            <a:srgbClr val="A4A4A4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372600" y="2514600"/>
            <a:ext cx="1965960" cy="640080"/>
          </a:xfrm>
          <a:prstGeom prst="rect">
            <a:avLst/>
          </a:prstGeom>
          <a:solidFill>
            <a:srgbClr val="EEEEEE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566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位元（8 階）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474720" y="3566160"/>
            <a:ext cx="982980" cy="64008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57700" y="3566160"/>
            <a:ext cx="982980" cy="640080"/>
          </a:xfrm>
          <a:prstGeom prst="rect">
            <a:avLst/>
          </a:prstGeom>
          <a:solidFill>
            <a:srgbClr val="31313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40680" y="3566160"/>
            <a:ext cx="982980" cy="640080"/>
          </a:xfrm>
          <a:prstGeom prst="rect">
            <a:avLst/>
          </a:prstGeom>
          <a:solidFill>
            <a:srgbClr val="505050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23660" y="3566160"/>
            <a:ext cx="982980" cy="640080"/>
          </a:xfrm>
          <a:prstGeom prst="rect">
            <a:avLst/>
          </a:prstGeom>
          <a:solidFill>
            <a:srgbClr val="707070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06640" y="3566160"/>
            <a:ext cx="982980" cy="640080"/>
          </a:xfrm>
          <a:prstGeom prst="rect">
            <a:avLst/>
          </a:prstGeom>
          <a:solidFill>
            <a:srgbClr val="8F8F8F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89620" y="3566160"/>
            <a:ext cx="982980" cy="640080"/>
          </a:xfrm>
          <a:prstGeom prst="rect">
            <a:avLst/>
          </a:prstGeom>
          <a:solidFill>
            <a:srgbClr val="AFAFAF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372600" y="3566160"/>
            <a:ext cx="982980" cy="640080"/>
          </a:xfrm>
          <a:prstGeom prst="rect">
            <a:avLst/>
          </a:prstGeom>
          <a:solidFill>
            <a:srgbClr val="CECECE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355580" y="3566160"/>
            <a:ext cx="982980" cy="640080"/>
          </a:xfrm>
          <a:prstGeom prst="rect">
            <a:avLst/>
          </a:prstGeom>
          <a:solidFill>
            <a:srgbClr val="EEEEEE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4617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位元（64 階）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474720" y="4617720"/>
            <a:ext cx="122873" cy="6400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4" name="Shape 21"/>
          <p:cNvSpPr/>
          <p:nvPr/>
        </p:nvSpPr>
        <p:spPr>
          <a:xfrm>
            <a:off x="3597592" y="4617720"/>
            <a:ext cx="122873" cy="640080"/>
          </a:xfrm>
          <a:prstGeom prst="rect">
            <a:avLst/>
          </a:prstGeom>
          <a:solidFill>
            <a:srgbClr val="151515"/>
          </a:solidFill>
          <a:ln/>
        </p:spPr>
      </p:sp>
      <p:sp>
        <p:nvSpPr>
          <p:cNvPr id="25" name="Shape 22"/>
          <p:cNvSpPr/>
          <p:nvPr/>
        </p:nvSpPr>
        <p:spPr>
          <a:xfrm>
            <a:off x="3720465" y="4617720"/>
            <a:ext cx="122873" cy="640080"/>
          </a:xfrm>
          <a:prstGeom prst="rect">
            <a:avLst/>
          </a:prstGeom>
          <a:solidFill>
            <a:srgbClr val="181818"/>
          </a:solidFill>
          <a:ln/>
        </p:spPr>
      </p:sp>
      <p:sp>
        <p:nvSpPr>
          <p:cNvPr id="26" name="Shape 23"/>
          <p:cNvSpPr/>
          <p:nvPr/>
        </p:nvSpPr>
        <p:spPr>
          <a:xfrm>
            <a:off x="3843338" y="4617720"/>
            <a:ext cx="122873" cy="64008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27" name="Shape 24"/>
          <p:cNvSpPr/>
          <p:nvPr/>
        </p:nvSpPr>
        <p:spPr>
          <a:xfrm>
            <a:off x="3966210" y="4617720"/>
            <a:ext cx="122873" cy="64008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28" name="Shape 25"/>
          <p:cNvSpPr/>
          <p:nvPr/>
        </p:nvSpPr>
        <p:spPr>
          <a:xfrm>
            <a:off x="4089083" y="4617720"/>
            <a:ext cx="122873" cy="640080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29" name="Shape 26"/>
          <p:cNvSpPr/>
          <p:nvPr/>
        </p:nvSpPr>
        <p:spPr>
          <a:xfrm>
            <a:off x="4211955" y="4617720"/>
            <a:ext cx="122873" cy="64008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30" name="Shape 27"/>
          <p:cNvSpPr/>
          <p:nvPr/>
        </p:nvSpPr>
        <p:spPr>
          <a:xfrm>
            <a:off x="4334828" y="4617720"/>
            <a:ext cx="122873" cy="6400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1" name="Shape 28"/>
          <p:cNvSpPr/>
          <p:nvPr/>
        </p:nvSpPr>
        <p:spPr>
          <a:xfrm>
            <a:off x="4457700" y="4617720"/>
            <a:ext cx="122873" cy="64008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32" name="Shape 29"/>
          <p:cNvSpPr/>
          <p:nvPr/>
        </p:nvSpPr>
        <p:spPr>
          <a:xfrm>
            <a:off x="4580572" y="4617720"/>
            <a:ext cx="122873" cy="640080"/>
          </a:xfrm>
          <a:prstGeom prst="rect">
            <a:avLst/>
          </a:prstGeom>
          <a:solidFill>
            <a:srgbClr val="313131"/>
          </a:solidFill>
          <a:ln/>
        </p:spPr>
      </p:sp>
      <p:sp>
        <p:nvSpPr>
          <p:cNvPr id="33" name="Shape 30"/>
          <p:cNvSpPr/>
          <p:nvPr/>
        </p:nvSpPr>
        <p:spPr>
          <a:xfrm>
            <a:off x="4703445" y="4617720"/>
            <a:ext cx="122873" cy="640080"/>
          </a:xfrm>
          <a:prstGeom prst="rect">
            <a:avLst/>
          </a:prstGeom>
          <a:solidFill>
            <a:srgbClr val="343434"/>
          </a:solidFill>
          <a:ln/>
        </p:spPr>
      </p:sp>
      <p:sp>
        <p:nvSpPr>
          <p:cNvPr id="34" name="Shape 31"/>
          <p:cNvSpPr/>
          <p:nvPr/>
        </p:nvSpPr>
        <p:spPr>
          <a:xfrm>
            <a:off x="4826317" y="4617720"/>
            <a:ext cx="122873" cy="640080"/>
          </a:xfrm>
          <a:prstGeom prst="rect">
            <a:avLst/>
          </a:prstGeom>
          <a:solidFill>
            <a:srgbClr val="383838"/>
          </a:solidFill>
          <a:ln/>
        </p:spPr>
      </p:sp>
      <p:sp>
        <p:nvSpPr>
          <p:cNvPr id="35" name="Shape 32"/>
          <p:cNvSpPr/>
          <p:nvPr/>
        </p:nvSpPr>
        <p:spPr>
          <a:xfrm>
            <a:off x="4949190" y="4617720"/>
            <a:ext cx="122873" cy="640080"/>
          </a:xfrm>
          <a:prstGeom prst="rect">
            <a:avLst/>
          </a:prstGeom>
          <a:solidFill>
            <a:srgbClr val="3B3B3B"/>
          </a:solidFill>
          <a:ln/>
        </p:spPr>
      </p:sp>
      <p:sp>
        <p:nvSpPr>
          <p:cNvPr id="36" name="Shape 33"/>
          <p:cNvSpPr/>
          <p:nvPr/>
        </p:nvSpPr>
        <p:spPr>
          <a:xfrm>
            <a:off x="5072063" y="4617720"/>
            <a:ext cx="122873" cy="640080"/>
          </a:xfrm>
          <a:prstGeom prst="rect">
            <a:avLst/>
          </a:prstGeom>
          <a:solidFill>
            <a:srgbClr val="3F3F3F"/>
          </a:solidFill>
          <a:ln/>
        </p:spPr>
      </p:sp>
      <p:sp>
        <p:nvSpPr>
          <p:cNvPr id="37" name="Shape 34"/>
          <p:cNvSpPr/>
          <p:nvPr/>
        </p:nvSpPr>
        <p:spPr>
          <a:xfrm>
            <a:off x="5194935" y="4617720"/>
            <a:ext cx="122873" cy="640080"/>
          </a:xfrm>
          <a:prstGeom prst="rect">
            <a:avLst/>
          </a:prstGeom>
          <a:solidFill>
            <a:srgbClr val="424242"/>
          </a:solidFill>
          <a:ln/>
        </p:spPr>
      </p:sp>
      <p:sp>
        <p:nvSpPr>
          <p:cNvPr id="38" name="Shape 35"/>
          <p:cNvSpPr/>
          <p:nvPr/>
        </p:nvSpPr>
        <p:spPr>
          <a:xfrm>
            <a:off x="5317808" y="4617720"/>
            <a:ext cx="122873" cy="640080"/>
          </a:xfrm>
          <a:prstGeom prst="rect">
            <a:avLst/>
          </a:prstGeom>
          <a:solidFill>
            <a:srgbClr val="464646"/>
          </a:solidFill>
          <a:ln/>
        </p:spPr>
      </p:sp>
      <p:sp>
        <p:nvSpPr>
          <p:cNvPr id="39" name="Shape 36"/>
          <p:cNvSpPr/>
          <p:nvPr/>
        </p:nvSpPr>
        <p:spPr>
          <a:xfrm>
            <a:off x="5440680" y="4617720"/>
            <a:ext cx="122873" cy="640080"/>
          </a:xfrm>
          <a:prstGeom prst="rect">
            <a:avLst/>
          </a:prstGeom>
          <a:solidFill>
            <a:srgbClr val="494949"/>
          </a:solidFill>
          <a:ln/>
        </p:spPr>
      </p:sp>
      <p:sp>
        <p:nvSpPr>
          <p:cNvPr id="40" name="Shape 37"/>
          <p:cNvSpPr/>
          <p:nvPr/>
        </p:nvSpPr>
        <p:spPr>
          <a:xfrm>
            <a:off x="5563553" y="4617720"/>
            <a:ext cx="122873" cy="640080"/>
          </a:xfrm>
          <a:prstGeom prst="rect">
            <a:avLst/>
          </a:prstGeom>
          <a:solidFill>
            <a:srgbClr val="4D4D4D"/>
          </a:solidFill>
          <a:ln/>
        </p:spPr>
      </p:sp>
      <p:sp>
        <p:nvSpPr>
          <p:cNvPr id="41" name="Shape 38"/>
          <p:cNvSpPr/>
          <p:nvPr/>
        </p:nvSpPr>
        <p:spPr>
          <a:xfrm>
            <a:off x="5686425" y="4617720"/>
            <a:ext cx="122873" cy="640080"/>
          </a:xfrm>
          <a:prstGeom prst="rect">
            <a:avLst/>
          </a:prstGeom>
          <a:solidFill>
            <a:srgbClr val="505050"/>
          </a:solidFill>
          <a:ln/>
        </p:spPr>
      </p:sp>
      <p:sp>
        <p:nvSpPr>
          <p:cNvPr id="42" name="Shape 39"/>
          <p:cNvSpPr/>
          <p:nvPr/>
        </p:nvSpPr>
        <p:spPr>
          <a:xfrm>
            <a:off x="5809298" y="4617720"/>
            <a:ext cx="122873" cy="640080"/>
          </a:xfrm>
          <a:prstGeom prst="rect">
            <a:avLst/>
          </a:prstGeom>
          <a:solidFill>
            <a:srgbClr val="545454"/>
          </a:solidFill>
          <a:ln/>
        </p:spPr>
      </p:sp>
      <p:sp>
        <p:nvSpPr>
          <p:cNvPr id="43" name="Shape 40"/>
          <p:cNvSpPr/>
          <p:nvPr/>
        </p:nvSpPr>
        <p:spPr>
          <a:xfrm>
            <a:off x="5932170" y="4617720"/>
            <a:ext cx="122873" cy="640080"/>
          </a:xfrm>
          <a:prstGeom prst="rect">
            <a:avLst/>
          </a:prstGeom>
          <a:solidFill>
            <a:srgbClr val="575757"/>
          </a:solidFill>
          <a:ln/>
        </p:spPr>
      </p:sp>
      <p:sp>
        <p:nvSpPr>
          <p:cNvPr id="44" name="Shape 41"/>
          <p:cNvSpPr/>
          <p:nvPr/>
        </p:nvSpPr>
        <p:spPr>
          <a:xfrm>
            <a:off x="6055042" y="4617720"/>
            <a:ext cx="122873" cy="640080"/>
          </a:xfrm>
          <a:prstGeom prst="rect">
            <a:avLst/>
          </a:prstGeom>
          <a:solidFill>
            <a:srgbClr val="5B5B5B"/>
          </a:solidFill>
          <a:ln/>
        </p:spPr>
      </p:sp>
      <p:sp>
        <p:nvSpPr>
          <p:cNvPr id="45" name="Shape 42"/>
          <p:cNvSpPr/>
          <p:nvPr/>
        </p:nvSpPr>
        <p:spPr>
          <a:xfrm>
            <a:off x="6177915" y="4617720"/>
            <a:ext cx="122873" cy="640080"/>
          </a:xfrm>
          <a:prstGeom prst="rect">
            <a:avLst/>
          </a:prstGeom>
          <a:solidFill>
            <a:srgbClr val="5E5E5E"/>
          </a:solidFill>
          <a:ln/>
        </p:spPr>
      </p:sp>
      <p:sp>
        <p:nvSpPr>
          <p:cNvPr id="46" name="Shape 43"/>
          <p:cNvSpPr/>
          <p:nvPr/>
        </p:nvSpPr>
        <p:spPr>
          <a:xfrm>
            <a:off x="6300788" y="4617720"/>
            <a:ext cx="122873" cy="640080"/>
          </a:xfrm>
          <a:prstGeom prst="rect">
            <a:avLst/>
          </a:prstGeom>
          <a:solidFill>
            <a:srgbClr val="626262"/>
          </a:solidFill>
          <a:ln/>
        </p:spPr>
      </p:sp>
      <p:sp>
        <p:nvSpPr>
          <p:cNvPr id="47" name="Shape 44"/>
          <p:cNvSpPr/>
          <p:nvPr/>
        </p:nvSpPr>
        <p:spPr>
          <a:xfrm>
            <a:off x="6423660" y="4617720"/>
            <a:ext cx="122873" cy="640080"/>
          </a:xfrm>
          <a:prstGeom prst="rect">
            <a:avLst/>
          </a:prstGeom>
          <a:solidFill>
            <a:srgbClr val="656565"/>
          </a:solidFill>
          <a:ln/>
        </p:spPr>
      </p:sp>
      <p:sp>
        <p:nvSpPr>
          <p:cNvPr id="48" name="Shape 45"/>
          <p:cNvSpPr/>
          <p:nvPr/>
        </p:nvSpPr>
        <p:spPr>
          <a:xfrm>
            <a:off x="6546533" y="4617720"/>
            <a:ext cx="122873" cy="640080"/>
          </a:xfrm>
          <a:prstGeom prst="rect">
            <a:avLst/>
          </a:prstGeom>
          <a:solidFill>
            <a:srgbClr val="696969"/>
          </a:solidFill>
          <a:ln/>
        </p:spPr>
      </p:sp>
      <p:sp>
        <p:nvSpPr>
          <p:cNvPr id="49" name="Shape 46"/>
          <p:cNvSpPr/>
          <p:nvPr/>
        </p:nvSpPr>
        <p:spPr>
          <a:xfrm>
            <a:off x="6669405" y="4617720"/>
            <a:ext cx="122873" cy="640080"/>
          </a:xfrm>
          <a:prstGeom prst="rect">
            <a:avLst/>
          </a:prstGeom>
          <a:solidFill>
            <a:srgbClr val="6C6C6C"/>
          </a:solidFill>
          <a:ln/>
        </p:spPr>
      </p:sp>
      <p:sp>
        <p:nvSpPr>
          <p:cNvPr id="50" name="Shape 47"/>
          <p:cNvSpPr/>
          <p:nvPr/>
        </p:nvSpPr>
        <p:spPr>
          <a:xfrm>
            <a:off x="6792278" y="4617720"/>
            <a:ext cx="122873" cy="640080"/>
          </a:xfrm>
          <a:prstGeom prst="rect">
            <a:avLst/>
          </a:prstGeom>
          <a:solidFill>
            <a:srgbClr val="707070"/>
          </a:solidFill>
          <a:ln/>
        </p:spPr>
      </p:sp>
      <p:sp>
        <p:nvSpPr>
          <p:cNvPr id="51" name="Shape 48"/>
          <p:cNvSpPr/>
          <p:nvPr/>
        </p:nvSpPr>
        <p:spPr>
          <a:xfrm>
            <a:off x="6915150" y="4617720"/>
            <a:ext cx="122873" cy="640080"/>
          </a:xfrm>
          <a:prstGeom prst="rect">
            <a:avLst/>
          </a:prstGeom>
          <a:solidFill>
            <a:srgbClr val="737373"/>
          </a:solidFill>
          <a:ln/>
        </p:spPr>
      </p:sp>
      <p:sp>
        <p:nvSpPr>
          <p:cNvPr id="52" name="Shape 49"/>
          <p:cNvSpPr/>
          <p:nvPr/>
        </p:nvSpPr>
        <p:spPr>
          <a:xfrm>
            <a:off x="7038022" y="4617720"/>
            <a:ext cx="122873" cy="640080"/>
          </a:xfrm>
          <a:prstGeom prst="rect">
            <a:avLst/>
          </a:prstGeom>
          <a:solidFill>
            <a:srgbClr val="777777"/>
          </a:solidFill>
          <a:ln/>
        </p:spPr>
      </p:sp>
      <p:sp>
        <p:nvSpPr>
          <p:cNvPr id="53" name="Shape 50"/>
          <p:cNvSpPr/>
          <p:nvPr/>
        </p:nvSpPr>
        <p:spPr>
          <a:xfrm>
            <a:off x="7160895" y="4617720"/>
            <a:ext cx="122873" cy="640080"/>
          </a:xfrm>
          <a:prstGeom prst="rect">
            <a:avLst/>
          </a:prstGeom>
          <a:solidFill>
            <a:srgbClr val="7A7A7A"/>
          </a:solidFill>
          <a:ln/>
        </p:spPr>
      </p:sp>
      <p:sp>
        <p:nvSpPr>
          <p:cNvPr id="54" name="Shape 51"/>
          <p:cNvSpPr/>
          <p:nvPr/>
        </p:nvSpPr>
        <p:spPr>
          <a:xfrm>
            <a:off x="7283767" y="4617720"/>
            <a:ext cx="122873" cy="640080"/>
          </a:xfrm>
          <a:prstGeom prst="rect">
            <a:avLst/>
          </a:prstGeom>
          <a:solidFill>
            <a:srgbClr val="7E7E7E"/>
          </a:solidFill>
          <a:ln/>
        </p:spPr>
      </p:sp>
      <p:sp>
        <p:nvSpPr>
          <p:cNvPr id="55" name="Shape 52"/>
          <p:cNvSpPr/>
          <p:nvPr/>
        </p:nvSpPr>
        <p:spPr>
          <a:xfrm>
            <a:off x="7406640" y="4617720"/>
            <a:ext cx="122873" cy="640080"/>
          </a:xfrm>
          <a:prstGeom prst="rect">
            <a:avLst/>
          </a:prstGeom>
          <a:solidFill>
            <a:srgbClr val="818181"/>
          </a:solidFill>
          <a:ln/>
        </p:spPr>
      </p:sp>
      <p:sp>
        <p:nvSpPr>
          <p:cNvPr id="56" name="Shape 53"/>
          <p:cNvSpPr/>
          <p:nvPr/>
        </p:nvSpPr>
        <p:spPr>
          <a:xfrm>
            <a:off x="7529513" y="4617720"/>
            <a:ext cx="122873" cy="640080"/>
          </a:xfrm>
          <a:prstGeom prst="rect">
            <a:avLst/>
          </a:prstGeom>
          <a:solidFill>
            <a:srgbClr val="858585"/>
          </a:solidFill>
          <a:ln/>
        </p:spPr>
      </p:sp>
      <p:sp>
        <p:nvSpPr>
          <p:cNvPr id="57" name="Shape 54"/>
          <p:cNvSpPr/>
          <p:nvPr/>
        </p:nvSpPr>
        <p:spPr>
          <a:xfrm>
            <a:off x="7652385" y="4617720"/>
            <a:ext cx="122873" cy="64008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58" name="Shape 55"/>
          <p:cNvSpPr/>
          <p:nvPr/>
        </p:nvSpPr>
        <p:spPr>
          <a:xfrm>
            <a:off x="7775258" y="4617720"/>
            <a:ext cx="122873" cy="64008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59" name="Shape 56"/>
          <p:cNvSpPr/>
          <p:nvPr/>
        </p:nvSpPr>
        <p:spPr>
          <a:xfrm>
            <a:off x="7898130" y="4617720"/>
            <a:ext cx="122873" cy="640080"/>
          </a:xfrm>
          <a:prstGeom prst="rect">
            <a:avLst/>
          </a:prstGeom>
          <a:solidFill>
            <a:srgbClr val="8F8F8F"/>
          </a:solidFill>
          <a:ln/>
        </p:spPr>
      </p:sp>
      <p:sp>
        <p:nvSpPr>
          <p:cNvPr id="60" name="Shape 57"/>
          <p:cNvSpPr/>
          <p:nvPr/>
        </p:nvSpPr>
        <p:spPr>
          <a:xfrm>
            <a:off x="8021003" y="4617720"/>
            <a:ext cx="122873" cy="640080"/>
          </a:xfrm>
          <a:prstGeom prst="rect">
            <a:avLst/>
          </a:prstGeom>
          <a:solidFill>
            <a:srgbClr val="939393"/>
          </a:solidFill>
          <a:ln/>
        </p:spPr>
      </p:sp>
      <p:sp>
        <p:nvSpPr>
          <p:cNvPr id="61" name="Shape 58"/>
          <p:cNvSpPr/>
          <p:nvPr/>
        </p:nvSpPr>
        <p:spPr>
          <a:xfrm>
            <a:off x="8143875" y="4617720"/>
            <a:ext cx="122873" cy="640080"/>
          </a:xfrm>
          <a:prstGeom prst="rect">
            <a:avLst/>
          </a:prstGeom>
          <a:solidFill>
            <a:srgbClr val="969696"/>
          </a:solidFill>
          <a:ln/>
        </p:spPr>
      </p:sp>
      <p:sp>
        <p:nvSpPr>
          <p:cNvPr id="62" name="Shape 59"/>
          <p:cNvSpPr/>
          <p:nvPr/>
        </p:nvSpPr>
        <p:spPr>
          <a:xfrm>
            <a:off x="8266747" y="4617720"/>
            <a:ext cx="122873" cy="64008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63" name="Shape 60"/>
          <p:cNvSpPr/>
          <p:nvPr/>
        </p:nvSpPr>
        <p:spPr>
          <a:xfrm>
            <a:off x="8389620" y="4617720"/>
            <a:ext cx="122873" cy="640080"/>
          </a:xfrm>
          <a:prstGeom prst="rect">
            <a:avLst/>
          </a:prstGeom>
          <a:solidFill>
            <a:srgbClr val="9D9D9D"/>
          </a:solidFill>
          <a:ln/>
        </p:spPr>
      </p:sp>
      <p:sp>
        <p:nvSpPr>
          <p:cNvPr id="64" name="Shape 61"/>
          <p:cNvSpPr/>
          <p:nvPr/>
        </p:nvSpPr>
        <p:spPr>
          <a:xfrm>
            <a:off x="8512493" y="4617720"/>
            <a:ext cx="122873" cy="640080"/>
          </a:xfrm>
          <a:prstGeom prst="rect">
            <a:avLst/>
          </a:prstGeom>
          <a:solidFill>
            <a:srgbClr val="A1A1A1"/>
          </a:solidFill>
          <a:ln/>
        </p:spPr>
      </p:sp>
      <p:sp>
        <p:nvSpPr>
          <p:cNvPr id="65" name="Shape 62"/>
          <p:cNvSpPr/>
          <p:nvPr/>
        </p:nvSpPr>
        <p:spPr>
          <a:xfrm>
            <a:off x="8635365" y="4617720"/>
            <a:ext cx="122873" cy="640080"/>
          </a:xfrm>
          <a:prstGeom prst="rect">
            <a:avLst/>
          </a:prstGeom>
          <a:solidFill>
            <a:srgbClr val="A4A4A4"/>
          </a:solidFill>
          <a:ln/>
        </p:spPr>
      </p:sp>
      <p:sp>
        <p:nvSpPr>
          <p:cNvPr id="66" name="Shape 63"/>
          <p:cNvSpPr/>
          <p:nvPr/>
        </p:nvSpPr>
        <p:spPr>
          <a:xfrm>
            <a:off x="8758238" y="4617720"/>
            <a:ext cx="122873" cy="640080"/>
          </a:xfrm>
          <a:prstGeom prst="rect">
            <a:avLst/>
          </a:prstGeom>
          <a:solidFill>
            <a:srgbClr val="A8A8A8"/>
          </a:solidFill>
          <a:ln/>
        </p:spPr>
      </p:sp>
      <p:sp>
        <p:nvSpPr>
          <p:cNvPr id="67" name="Shape 64"/>
          <p:cNvSpPr/>
          <p:nvPr/>
        </p:nvSpPr>
        <p:spPr>
          <a:xfrm>
            <a:off x="8881110" y="4617720"/>
            <a:ext cx="122873" cy="640080"/>
          </a:xfrm>
          <a:prstGeom prst="rect">
            <a:avLst/>
          </a:prstGeom>
          <a:solidFill>
            <a:srgbClr val="ABABAB"/>
          </a:solidFill>
          <a:ln/>
        </p:spPr>
      </p:sp>
      <p:sp>
        <p:nvSpPr>
          <p:cNvPr id="68" name="Shape 65"/>
          <p:cNvSpPr/>
          <p:nvPr/>
        </p:nvSpPr>
        <p:spPr>
          <a:xfrm>
            <a:off x="9003983" y="4617720"/>
            <a:ext cx="122873" cy="640080"/>
          </a:xfrm>
          <a:prstGeom prst="rect">
            <a:avLst/>
          </a:prstGeom>
          <a:solidFill>
            <a:srgbClr val="AFAFAF"/>
          </a:solidFill>
          <a:ln/>
        </p:spPr>
      </p:sp>
      <p:sp>
        <p:nvSpPr>
          <p:cNvPr id="69" name="Shape 66"/>
          <p:cNvSpPr/>
          <p:nvPr/>
        </p:nvSpPr>
        <p:spPr>
          <a:xfrm>
            <a:off x="9126855" y="4617720"/>
            <a:ext cx="122873" cy="640080"/>
          </a:xfrm>
          <a:prstGeom prst="rect">
            <a:avLst/>
          </a:prstGeom>
          <a:solidFill>
            <a:srgbClr val="B2B2B2"/>
          </a:solidFill>
          <a:ln/>
        </p:spPr>
      </p:sp>
      <p:sp>
        <p:nvSpPr>
          <p:cNvPr id="70" name="Shape 67"/>
          <p:cNvSpPr/>
          <p:nvPr/>
        </p:nvSpPr>
        <p:spPr>
          <a:xfrm>
            <a:off x="9249728" y="4617720"/>
            <a:ext cx="122873" cy="640080"/>
          </a:xfrm>
          <a:prstGeom prst="rect">
            <a:avLst/>
          </a:prstGeom>
          <a:solidFill>
            <a:srgbClr val="B6B6B6"/>
          </a:solidFill>
          <a:ln/>
        </p:spPr>
      </p:sp>
      <p:sp>
        <p:nvSpPr>
          <p:cNvPr id="71" name="Shape 68"/>
          <p:cNvSpPr/>
          <p:nvPr/>
        </p:nvSpPr>
        <p:spPr>
          <a:xfrm>
            <a:off x="9372600" y="4617720"/>
            <a:ext cx="122873" cy="640080"/>
          </a:xfrm>
          <a:prstGeom prst="rect">
            <a:avLst/>
          </a:prstGeom>
          <a:solidFill>
            <a:srgbClr val="B9B9B9"/>
          </a:solidFill>
          <a:ln/>
        </p:spPr>
      </p:sp>
      <p:sp>
        <p:nvSpPr>
          <p:cNvPr id="72" name="Shape 69"/>
          <p:cNvSpPr/>
          <p:nvPr/>
        </p:nvSpPr>
        <p:spPr>
          <a:xfrm>
            <a:off x="9495472" y="4617720"/>
            <a:ext cx="122873" cy="64008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73" name="Shape 70"/>
          <p:cNvSpPr/>
          <p:nvPr/>
        </p:nvSpPr>
        <p:spPr>
          <a:xfrm>
            <a:off x="9618345" y="4617720"/>
            <a:ext cx="122873" cy="640080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74" name="Shape 71"/>
          <p:cNvSpPr/>
          <p:nvPr/>
        </p:nvSpPr>
        <p:spPr>
          <a:xfrm>
            <a:off x="9741218" y="4617720"/>
            <a:ext cx="122873" cy="640080"/>
          </a:xfrm>
          <a:prstGeom prst="rect">
            <a:avLst/>
          </a:prstGeom>
          <a:solidFill>
            <a:srgbClr val="C4C4C4"/>
          </a:solidFill>
          <a:ln/>
        </p:spPr>
      </p:sp>
      <p:sp>
        <p:nvSpPr>
          <p:cNvPr id="75" name="Shape 72"/>
          <p:cNvSpPr/>
          <p:nvPr/>
        </p:nvSpPr>
        <p:spPr>
          <a:xfrm>
            <a:off x="9864090" y="4617720"/>
            <a:ext cx="122873" cy="640080"/>
          </a:xfrm>
          <a:prstGeom prst="rect">
            <a:avLst/>
          </a:prstGeom>
          <a:solidFill>
            <a:srgbClr val="C7C7C7"/>
          </a:solidFill>
          <a:ln/>
        </p:spPr>
      </p:sp>
      <p:sp>
        <p:nvSpPr>
          <p:cNvPr id="76" name="Shape 73"/>
          <p:cNvSpPr/>
          <p:nvPr/>
        </p:nvSpPr>
        <p:spPr>
          <a:xfrm>
            <a:off x="9986963" y="4617720"/>
            <a:ext cx="122873" cy="640080"/>
          </a:xfrm>
          <a:prstGeom prst="rect">
            <a:avLst/>
          </a:prstGeom>
          <a:solidFill>
            <a:srgbClr val="CBCBCB"/>
          </a:solidFill>
          <a:ln/>
        </p:spPr>
      </p:sp>
      <p:sp>
        <p:nvSpPr>
          <p:cNvPr id="77" name="Shape 74"/>
          <p:cNvSpPr/>
          <p:nvPr/>
        </p:nvSpPr>
        <p:spPr>
          <a:xfrm>
            <a:off x="10109835" y="4617720"/>
            <a:ext cx="122873" cy="640080"/>
          </a:xfrm>
          <a:prstGeom prst="rect">
            <a:avLst/>
          </a:prstGeom>
          <a:solidFill>
            <a:srgbClr val="CECECE"/>
          </a:solidFill>
          <a:ln/>
        </p:spPr>
      </p:sp>
      <p:sp>
        <p:nvSpPr>
          <p:cNvPr id="78" name="Shape 75"/>
          <p:cNvSpPr/>
          <p:nvPr/>
        </p:nvSpPr>
        <p:spPr>
          <a:xfrm>
            <a:off x="10232708" y="4617720"/>
            <a:ext cx="122873" cy="640080"/>
          </a:xfrm>
          <a:prstGeom prst="rect">
            <a:avLst/>
          </a:prstGeom>
          <a:solidFill>
            <a:srgbClr val="D2D2D2"/>
          </a:solidFill>
          <a:ln/>
        </p:spPr>
      </p:sp>
      <p:sp>
        <p:nvSpPr>
          <p:cNvPr id="79" name="Shape 76"/>
          <p:cNvSpPr/>
          <p:nvPr/>
        </p:nvSpPr>
        <p:spPr>
          <a:xfrm>
            <a:off x="10355580" y="4617720"/>
            <a:ext cx="122873" cy="640080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80" name="Shape 77"/>
          <p:cNvSpPr/>
          <p:nvPr/>
        </p:nvSpPr>
        <p:spPr>
          <a:xfrm>
            <a:off x="10478453" y="4617720"/>
            <a:ext cx="122873" cy="64008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1" name="Shape 78"/>
          <p:cNvSpPr/>
          <p:nvPr/>
        </p:nvSpPr>
        <p:spPr>
          <a:xfrm>
            <a:off x="10601325" y="4617720"/>
            <a:ext cx="122873" cy="640080"/>
          </a:xfrm>
          <a:prstGeom prst="rect">
            <a:avLst/>
          </a:prstGeom>
          <a:solidFill>
            <a:srgbClr val="DCDCDC"/>
          </a:solidFill>
          <a:ln/>
        </p:spPr>
      </p:sp>
      <p:sp>
        <p:nvSpPr>
          <p:cNvPr id="82" name="Shape 79"/>
          <p:cNvSpPr/>
          <p:nvPr/>
        </p:nvSpPr>
        <p:spPr>
          <a:xfrm>
            <a:off x="10724197" y="4617720"/>
            <a:ext cx="122873" cy="64008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3" name="Shape 80"/>
          <p:cNvSpPr/>
          <p:nvPr/>
        </p:nvSpPr>
        <p:spPr>
          <a:xfrm>
            <a:off x="10847070" y="4617720"/>
            <a:ext cx="122873" cy="64008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84" name="Shape 81"/>
          <p:cNvSpPr/>
          <p:nvPr/>
        </p:nvSpPr>
        <p:spPr>
          <a:xfrm>
            <a:off x="10969943" y="4617720"/>
            <a:ext cx="122873" cy="640080"/>
          </a:xfrm>
          <a:prstGeom prst="rect">
            <a:avLst/>
          </a:prstGeom>
          <a:solidFill>
            <a:srgbClr val="E7E7E7"/>
          </a:solidFill>
          <a:ln/>
        </p:spPr>
      </p:sp>
      <p:sp>
        <p:nvSpPr>
          <p:cNvPr id="85" name="Shape 82"/>
          <p:cNvSpPr/>
          <p:nvPr/>
        </p:nvSpPr>
        <p:spPr>
          <a:xfrm>
            <a:off x="11092815" y="4617720"/>
            <a:ext cx="122873" cy="640080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86" name="Shape 83"/>
          <p:cNvSpPr/>
          <p:nvPr/>
        </p:nvSpPr>
        <p:spPr>
          <a:xfrm>
            <a:off x="11215688" y="4617720"/>
            <a:ext cx="122873" cy="64008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87" name="Text 84"/>
          <p:cNvSpPr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 err="1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階數越多，</a:t>
            </a:r>
            <a:r>
              <a:rPr lang="en-US" sz="2500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天空越</a:t>
            </a:r>
            <a:r>
              <a:rPr lang="zh-TW" altLang="en-US" sz="25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細緻</a:t>
            </a:r>
            <a:r>
              <a:rPr lang="en-US" sz="25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</a:t>
            </a:r>
            <a:r>
              <a:rPr lang="en-US" sz="2500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這就是為什麼維京選了 64 階。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05 · 火星第一眼：1976 維京一號的拍照任務　8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算一算：傳一張真照片要多久？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2724912" cy="2377440"/>
          </a:xfrm>
          <a:prstGeom prst="roundRect">
            <a:avLst>
              <a:gd name="adj" fmla="val 3077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691640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≈3,000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94360" y="2651760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一條掃描帶的訊號</a:t>
            </a:r>
            <a:endParaRPr lang="en-US" sz="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（約 500 格 × 6 位元）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108960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93AE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419856" y="1417320"/>
            <a:ext cx="2724912" cy="2377440"/>
          </a:xfrm>
          <a:prstGeom prst="roundRect">
            <a:avLst>
              <a:gd name="adj" fmla="val 3077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19856" y="1691640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萬+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557016" y="2651760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整張照片的訊號</a:t>
            </a:r>
            <a:endParaRPr lang="en-US" sz="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（約 1,750 條掃描帶）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071616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93AE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382512" y="1417320"/>
            <a:ext cx="2724912" cy="2377440"/>
          </a:xfrm>
          <a:prstGeom prst="roundRect">
            <a:avLst>
              <a:gd name="adj" fmla="val 3077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2512" y="1691640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÷ 250/秒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6519672" y="2651760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直傳地球的速度</a:t>
            </a:r>
            <a:endParaRPr lang="en-US" sz="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（每秒約 250 個訊號）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9034272" y="2331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A93AE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345168" y="1417320"/>
            <a:ext cx="2724912" cy="2377440"/>
          </a:xfrm>
          <a:prstGeom prst="roundRect">
            <a:avLst>
              <a:gd name="adj" fmla="val 3077"/>
            </a:avLst>
          </a:prstGeom>
          <a:solidFill>
            <a:srgbClr val="0D1424"/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345168" y="1691640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小時+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9482328" y="2651760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傳完一張照片</a:t>
            </a:r>
            <a:endParaRPr lang="en-US" sz="8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8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（約 20,000 秒）</a:t>
            </a:r>
            <a:endParaRPr lang="en-US" sz="800" dirty="0"/>
          </a:p>
        </p:txBody>
      </p:sp>
      <p:sp>
        <p:nvSpPr>
          <p:cNvPr id="22" name="Shape 2"/>
          <p:cNvSpPr/>
          <p:nvPr/>
        </p:nvSpPr>
        <p:spPr>
          <a:xfrm>
            <a:off x="1680926" y="4434840"/>
            <a:ext cx="10251994" cy="1676862"/>
          </a:xfrm>
          <a:prstGeom prst="roundRect">
            <a:avLst>
              <a:gd name="adj" fmla="val 3077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007108" y="4884512"/>
            <a:ext cx="9025128" cy="694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20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知識點</a:t>
            </a:r>
            <a:endParaRPr lang="en-US" altLang="zh-TW" sz="2000" b="1" dirty="0" smtClean="0">
              <a:solidFill>
                <a:schemeClr val="accent2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0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科學家為了</a:t>
            </a:r>
            <a:r>
              <a:rPr lang="en-US" sz="20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</a:t>
            </a:r>
            <a:r>
              <a:rPr lang="zh-TW" altLang="en-US" sz="20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些困難和</a:t>
            </a:r>
            <a:r>
              <a:rPr lang="en-US" sz="2000" b="1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</a:t>
            </a:r>
            <a:r>
              <a:rPr lang="en-US" sz="20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zh-TW" altLang="en-US" sz="20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發明了</a:t>
            </a:r>
            <a:r>
              <a:rPr lang="en-US" altLang="zh-TW" sz="2000" b="1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壓縮</a:t>
            </a:r>
            <a:r>
              <a:rPr lang="en-US" altLang="zh-TW" sz="2000" b="1" dirty="0" err="1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、協定、</a:t>
            </a:r>
            <a:r>
              <a:rPr lang="en-US" altLang="zh-TW" sz="2000" b="1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中繼衛星</a:t>
            </a:r>
            <a:r>
              <a:rPr lang="zh-TW" altLang="en-US" sz="20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等等</a:t>
            </a:r>
            <a:r>
              <a:rPr lang="zh-TW" altLang="en-US" sz="20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，讓太空探索任務能夠傳送更多訊息，讓人類了解更多事實。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05 · 火星第一眼：1976 維京一號的拍照任務　9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比較一下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4891" y="137160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600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TW" altLang="en-US" sz="3000" dirty="0" smtClean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</a:t>
            </a:r>
            <a:r>
              <a:rPr lang="en-US" sz="3000" dirty="0" err="1" smtClean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們今天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02920" y="3488436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TW" sz="3600" b="1" dirty="0">
                <a:solidFill>
                  <a:srgbClr val="F2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</a:t>
            </a:r>
            <a:r>
              <a:rPr lang="en-US" sz="34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10分鐘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4434840" y="137160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4840" y="1600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維京一號（1976）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4434840" y="3488436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小時+</a:t>
            </a:r>
            <a:endParaRPr lang="en-US" sz="3400" dirty="0"/>
          </a:p>
        </p:txBody>
      </p:sp>
      <p:sp>
        <p:nvSpPr>
          <p:cNvPr id="13" name="Shape 10"/>
          <p:cNvSpPr/>
          <p:nvPr/>
        </p:nvSpPr>
        <p:spPr>
          <a:xfrm>
            <a:off x="8412480" y="137160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0" y="1600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你的手機（現在）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8412480" y="3488436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不到 1 秒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457200" y="4846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</a:t>
            </a:r>
            <a:r>
              <a:rPr lang="zh-TW" altLang="en-US" sz="1800" b="1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回家後，可以</a:t>
            </a:r>
            <a:r>
              <a:rPr lang="en-US" sz="1800" b="1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打開你的手機看看一張照片解析度多少</a:t>
            </a:r>
            <a:r>
              <a:rPr lang="en-US" sz="1800" b="1" dirty="0" err="1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？同一套旅程，只是規模不同</a:t>
            </a:r>
            <a:r>
              <a:rPr lang="en-US" sz="18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！</a:t>
            </a:r>
            <a:endParaRPr lang="en-US" sz="1800" dirty="0"/>
          </a:p>
        </p:txBody>
      </p:sp>
      <p:sp>
        <p:nvSpPr>
          <p:cNvPr id="18" name="Text 5"/>
          <p:cNvSpPr/>
          <p:nvPr/>
        </p:nvSpPr>
        <p:spPr>
          <a:xfrm>
            <a:off x="640080" y="24688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4×4 影像</a:t>
            </a:r>
            <a:endParaRPr lang="en-US" sz="2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0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五人分站接力</a:t>
            </a:r>
            <a:endParaRPr lang="en-US" sz="2000" dirty="0"/>
          </a:p>
        </p:txBody>
      </p:sp>
      <p:sp>
        <p:nvSpPr>
          <p:cNvPr id="19" name="Text 9"/>
          <p:cNvSpPr/>
          <p:nvPr/>
        </p:nvSpPr>
        <p:spPr>
          <a:xfrm>
            <a:off x="4617720" y="2318004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掃描帶照片</a:t>
            </a:r>
            <a:endParaRPr lang="en-US" sz="2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0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位元 × 500 萬訊號</a:t>
            </a:r>
            <a:endParaRPr lang="en-US" sz="2000" dirty="0"/>
          </a:p>
        </p:txBody>
      </p:sp>
      <p:sp>
        <p:nvSpPr>
          <p:cNvPr id="20" name="Text 13"/>
          <p:cNvSpPr/>
          <p:nvPr/>
        </p:nvSpPr>
        <p:spPr>
          <a:xfrm>
            <a:off x="8595360" y="2318004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0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4000×3000</a:t>
            </a:r>
            <a:r>
              <a:rPr lang="en-US" sz="20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/>
            </a:r>
            <a:br>
              <a:rPr lang="en-US" sz="20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r>
              <a:rPr lang="en-US" sz="20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</a:t>
            </a:r>
            <a:r>
              <a:rPr lang="en-US" sz="2000" dirty="0" err="1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→壓縮→編碼→傳送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05 · 火星第一眼：1976 維京一號的拍照任務　10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🎤 </a:t>
            </a:r>
            <a:r>
              <a:rPr lang="en-US" sz="24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</a:t>
            </a:r>
            <a:r>
              <a:rPr lang="zh-TW" altLang="en-US" sz="24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程節數前的</a:t>
            </a:r>
            <a:r>
              <a:rPr lang="en-US" sz="2400" b="1" dirty="0" err="1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反思</a:t>
            </a:r>
            <a:r>
              <a:rPr lang="en-US" sz="2400" b="1" dirty="0" err="1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：抽站作答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0" y="17373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抽到哪一站，就回答那一站：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0" y="23774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「這一站負責什麼？沒有它，照片會怎樣？」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1085272" y="3502152"/>
            <a:ext cx="10303164" cy="2390648"/>
          </a:xfrm>
          <a:prstGeom prst="roundRect">
            <a:avLst>
              <a:gd name="adj" fmla="val 5000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94477" y="3781552"/>
            <a:ext cx="97522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5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✏ 別忘了接力紀錄單最後的兩格：
</a:t>
            </a:r>
            <a:endParaRPr lang="en-US" sz="2500" dirty="0"/>
          </a:p>
          <a:p>
            <a:pPr marL="0" indent="0">
              <a:buNone/>
            </a:pPr>
            <a:r>
              <a:rPr lang="en-US" sz="25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「這次接力中最幫助我們成功的一站與原因」、「我想對隊友說」——寫下來，這是你們合作的證據！</a:t>
            </a:r>
            <a:endParaRPr lang="en-US" sz="2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05 · 火星第一眼：1976 維京一號的拍照任務　11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課程總結：影像</a:t>
            </a:r>
            <a:r>
              <a:rPr lang="en-US" sz="30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從火星到地球的旅程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82880" y="1597891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1780771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EC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74320" y="2237971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拍下火星第一眼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74320" y="3198091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像素・解析度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286000" y="2512291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93AE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60320" y="1597891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0" y="1780771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EC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M02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651760" y="2237971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把照片傳回地球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2651760" y="3198091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0／1・通訊協定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663440" y="2512291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93AE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937760" y="1597891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1780771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EC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029200" y="2237971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火星的深與淺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029200" y="3198091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灰階・位元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040880" y="2512291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93AE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315200" y="1597891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0" y="1780771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EC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406640" y="2237971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頻寬告急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7406640" y="3198091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 err="1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壓縮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418320" y="2512291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93AE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692640" y="1597891"/>
            <a:ext cx="2148840" cy="2286000"/>
          </a:xfrm>
          <a:prstGeom prst="roundRect">
            <a:avLst>
              <a:gd name="adj" fmla="val 3404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92640" y="1780771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EC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M05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9784080" y="2237971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第一眼的真相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9784080" y="3198091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位元・全流程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457200" y="42062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1976 年維京一號做的事，和今天你的手機做的事，是同一套資訊原理：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457200" y="48006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表示・編碼・壓縮・取捨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05 · 火星第一眼：1976 維京一號的拍照任務　12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0" y="15544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kern="0" spc="600" dirty="0">
                <a:solidFill>
                  <a:srgbClr val="39D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I S S I O N   C O M P L E T 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任務全部完成！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8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</a:t>
            </a:r>
            <a:r>
              <a:rPr lang="en-US" sz="18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們已經走完人類第一張火星照片的完整旅程</a:t>
            </a:r>
            <a:r>
              <a:rPr lang="en-US" sz="18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39776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從今天起，</a:t>
            </a:r>
            <a:r>
              <a:rPr lang="en-US" sz="2000" b="1" dirty="0" err="1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</a:t>
            </a:r>
            <a:r>
              <a:rPr lang="zh-TW" altLang="en-US" sz="20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拍下一張照片</a:t>
            </a:r>
            <a:r>
              <a:rPr lang="en-US" sz="20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20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你都知道那背後發生了什麼事。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VIKING 1 · 1976.7.20 · 任務控制中心</a:t>
            </a:r>
            <a:endParaRPr lang="en-US" sz="1200" dirty="0"/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" t="5232" r="2280" b="4145"/>
          <a:stretch/>
        </p:blipFill>
        <p:spPr>
          <a:xfrm>
            <a:off x="4627266" y="4572000"/>
            <a:ext cx="2937162" cy="10315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832</Words>
  <Application>Microsoft Office PowerPoint</Application>
  <PresentationFormat>寬螢幕</PresentationFormat>
  <Paragraphs>174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Microsoft JhengHei</vt:lpstr>
      <vt:lpstr>新細明體</vt:lpstr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Wen-Yi Chang</cp:lastModifiedBy>
  <cp:revision>24</cp:revision>
  <dcterms:created xsi:type="dcterms:W3CDTF">2026-07-12T04:37:06Z</dcterms:created>
  <dcterms:modified xsi:type="dcterms:W3CDTF">2026-07-12T05:06:48Z</dcterms:modified>
</cp:coreProperties>
</file>