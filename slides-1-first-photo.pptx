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6" r:id="rId12"/>
    <p:sldId id="269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3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47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8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拍下火星第一眼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火星第一眼：1976 維京一號的拍照任務・第一節</a:t>
            </a:r>
            <a:endParaRPr lang="en-US" sz="1800" dirty="0"/>
          </a:p>
        </p:txBody>
      </p:sp>
      <p:pic>
        <p:nvPicPr>
          <p:cNvPr id="13" name="Image 0" descr="slide_v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3794760"/>
            <a:ext cx="1645920" cy="1645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任務控制中心・廣播即將開始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【任務控制中心廣播】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" y="1371600"/>
            <a:ext cx="6492240" cy="448056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1976 年 7 月 20 日
</a:t>
            </a:r>
            <a:r>
              <a:rPr lang="en-US" sz="22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維京一號成功登陸火星・克里斯平原！
</a:t>
            </a: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任務：拍下人類史上第一張
火星地表照片。
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406640" y="1371600"/>
            <a:ext cx="4160520" cy="448056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1031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chemeClr val="bg1"/>
                </a:solidFill>
              </a:rPr>
              <a:t>🛰</a:t>
            </a:r>
          </a:p>
        </p:txBody>
      </p:sp>
      <p:sp>
        <p:nvSpPr>
          <p:cNvPr id="15" name="Text 13"/>
          <p:cNvSpPr/>
          <p:nvPr/>
        </p:nvSpPr>
        <p:spPr>
          <a:xfrm>
            <a:off x="7589520" y="3749040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 ⇄ 地球</a:t>
            </a:r>
            <a:endParaRPr lang="en-US" sz="18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距離約 3 億公里</a:t>
            </a:r>
            <a:endParaRPr lang="en-US" sz="1800" dirty="0"/>
          </a:p>
          <a:p>
            <a:pPr algn="ctr">
              <a:lnSpc>
                <a:spcPts val="3000"/>
              </a:lnSpc>
            </a:pPr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光線走</a:t>
            </a:r>
            <a:r>
              <a:rPr lang="zh-TW" altLang="en-US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這段</a:t>
            </a:r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</a:t>
            </a:r>
            <a:endParaRPr lang="en-US" altLang="zh-TW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algn="ctr">
              <a:lnSpc>
                <a:spcPts val="3000"/>
              </a:lnSpc>
            </a:pPr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單程</a:t>
            </a:r>
            <a:r>
              <a:rPr lang="zh-TW" altLang="en-US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大約需要 </a:t>
            </a:r>
            <a:r>
              <a:rPr lang="en-US" altLang="zh-TW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</a:t>
            </a:r>
            <a:r>
              <a:rPr lang="zh-TW" altLang="en-US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 </a:t>
            </a:r>
            <a:r>
              <a:rPr lang="en-US" altLang="zh-TW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</a:t>
            </a:r>
            <a:r>
              <a:rPr lang="zh-TW" altLang="en-US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❓ </a:t>
            </a:r>
            <a:r>
              <a:rPr lang="zh-TW" altLang="en-US" sz="3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問題來了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2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維京一號要</a:t>
            </a:r>
            <a:r>
              <a:rPr lang="zh-TW" altLang="en-US" sz="4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怎麼「記住」眼前的景象</a:t>
            </a:r>
            <a:r>
              <a:rPr lang="zh-TW" alt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zh-TW" altLang="en-US" sz="4000" b="1" dirty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94560" y="3657600"/>
            <a:ext cx="7799832" cy="19202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886200"/>
            <a:ext cx="7251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 2 分鐘
</a:t>
            </a:r>
            <a:r>
              <a:rPr lang="en-US" sz="16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</a:t>
            </a:r>
            <a:r>
              <a:rPr 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眼前的景像要用什麼方式儲存起來，最好的是印出來嗎？</a:t>
            </a:r>
            <a:endParaRPr lang="en-US" altLang="zh-TW" sz="1600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                   還是用什麼有用的工具來記錄呢？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掃描式相機的辦法</a:t>
            </a:r>
            <a:endParaRPr lang="en-US" sz="3000" dirty="0"/>
          </a:p>
        </p:txBody>
      </p:sp>
      <p:pic>
        <p:nvPicPr>
          <p:cNvPr id="11" name="Image 0" descr="slid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393192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5577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由左至右、由上至下，一格一格記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1737360"/>
            <a:ext cx="6035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把眼前的景物
</a:t>
            </a:r>
            <a:r>
              <a:rPr lang="en-US" sz="2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切成一格一格的小方格，
一格一格記下內容。
</a:t>
            </a:r>
            <a:r>
              <a:rPr lang="en-US" sz="22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每一個小格子，就是一個「像素」。
</a:t>
            </a:r>
            <a:r>
              <a:rPr lang="en-US" sz="18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今天所有的數位相機、手機拍照，做的都是同一件事！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🎮 地貌判讀挑戰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相機掃描火星地貌，你們是任務科學家：越早認出是什麼地貌，得分越高！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3291840" cy="28346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粗掃描 4×4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分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看得出來就搶答！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2103120"/>
            <a:ext cx="3291840" cy="28346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切細 8×8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8056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分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48056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特徵慢慢浮現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38160" y="2103120"/>
            <a:ext cx="3291840" cy="28346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331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再切細 16×16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3816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813816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幾乎可以確認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909" y="5471279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亂猜有風險：答錯一次 −2 分！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粗掃描・4×4</a:t>
            </a:r>
            <a:endParaRPr lang="en-US" sz="3000" dirty="0"/>
          </a:p>
        </p:txBody>
      </p:sp>
      <p:pic>
        <p:nvPicPr>
          <p:cNvPr id="11" name="Image 0" descr="slide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6" y="1371600"/>
            <a:ext cx="4114800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16 格，猜得出這是什麼地貌嗎？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切細重掃・8×8</a:t>
            </a:r>
            <a:endParaRPr lang="en-US" sz="3000" dirty="0"/>
          </a:p>
        </p:txBody>
      </p:sp>
      <p:pic>
        <p:nvPicPr>
          <p:cNvPr id="11" name="Image 0" descr="slide_v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6" y="1371600"/>
            <a:ext cx="4114800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 格了，現在呢？哪些特徵浮現了？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再切細・16×16</a:t>
            </a:r>
            <a:endParaRPr lang="en-US" sz="3000" dirty="0"/>
          </a:p>
        </p:txBody>
      </p:sp>
      <p:pic>
        <p:nvPicPr>
          <p:cNvPr id="11" name="Image 0" descr="slide_v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6" y="1371600"/>
            <a:ext cx="4114800" cy="4114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揭曉：一座火山！256 格，幾乎可以確認了。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我們發現了什麼？</a:t>
            </a:r>
            <a:endParaRPr lang="en-US" sz="3000" dirty="0"/>
          </a:p>
        </p:txBody>
      </p:sp>
      <p:pic>
        <p:nvPicPr>
          <p:cNvPr id="11" name="Image 0" descr="slide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2286000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4×4＝16 格</a:t>
            </a:r>
            <a:endParaRPr lang="en-US" sz="1500" dirty="0"/>
          </a:p>
        </p:txBody>
      </p:sp>
      <p:pic>
        <p:nvPicPr>
          <p:cNvPr id="13" name="Image 1" descr="slide_v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63040"/>
            <a:ext cx="2286000" cy="2286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8×8＝64 格</a:t>
            </a:r>
            <a:endParaRPr lang="en-US" sz="1500" dirty="0"/>
          </a:p>
        </p:txBody>
      </p:sp>
      <p:pic>
        <p:nvPicPr>
          <p:cNvPr id="15" name="Image 2" descr="slide_v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2286000" cy="2286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16×16＝256 格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218688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A93AE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5961888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A93AE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9235440" y="1463040"/>
            <a:ext cx="2377440" cy="274320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35440" y="19659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格子數＝
</a:t>
            </a:r>
            <a:r>
              <a:rPr lang="en-US" sz="30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解析度
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切得越細 → 細節越多、越好認；但要記錄的資料也越多（16 → 64 → 256 格）。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9552"/>
            <a:ext cx="40048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看看真實的情境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10</a:t>
            </a:r>
            <a:endParaRPr lang="en-US" sz="900" dirty="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22" y="1432851"/>
            <a:ext cx="1800000" cy="1800000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039" y="1382349"/>
            <a:ext cx="1800000" cy="1800000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48" y="4096065"/>
            <a:ext cx="1800000" cy="180000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0" y="4111938"/>
            <a:ext cx="1800000" cy="1800000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427" y="2053690"/>
            <a:ext cx="1800000" cy="1800000"/>
          </a:xfrm>
          <a:prstGeom prst="rect">
            <a:avLst/>
          </a:prstGeom>
        </p:spPr>
      </p:pic>
      <p:pic>
        <p:nvPicPr>
          <p:cNvPr id="28" name="漸變動畫_像素解析度_火星第一眼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557953" y="838962"/>
            <a:ext cx="5042920" cy="5752684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783493" y="3365258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10×10</a:t>
            </a:r>
            <a:endParaRPr lang="en-US" altLang="zh-TW" dirty="0"/>
          </a:p>
        </p:txBody>
      </p:sp>
      <p:sp>
        <p:nvSpPr>
          <p:cNvPr id="30" name="矩形 29"/>
          <p:cNvSpPr/>
          <p:nvPr/>
        </p:nvSpPr>
        <p:spPr>
          <a:xfrm>
            <a:off x="2857104" y="3398744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20×20</a:t>
            </a:r>
            <a:endParaRPr lang="en-US" altLang="zh-TW" dirty="0"/>
          </a:p>
        </p:txBody>
      </p:sp>
      <p:sp>
        <p:nvSpPr>
          <p:cNvPr id="31" name="矩形 30"/>
          <p:cNvSpPr/>
          <p:nvPr/>
        </p:nvSpPr>
        <p:spPr>
          <a:xfrm>
            <a:off x="783492" y="6049256"/>
            <a:ext cx="909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50×50</a:t>
            </a:r>
            <a:endParaRPr lang="en-US" altLang="zh-TW" dirty="0"/>
          </a:p>
        </p:txBody>
      </p:sp>
      <p:sp>
        <p:nvSpPr>
          <p:cNvPr id="32" name="矩形 31"/>
          <p:cNvSpPr/>
          <p:nvPr/>
        </p:nvSpPr>
        <p:spPr>
          <a:xfrm>
            <a:off x="2857104" y="6054875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100×100</a:t>
            </a:r>
            <a:endParaRPr lang="en-US" altLang="zh-TW" dirty="0"/>
          </a:p>
        </p:txBody>
      </p:sp>
      <p:sp>
        <p:nvSpPr>
          <p:cNvPr id="33" name="矩形 32"/>
          <p:cNvSpPr/>
          <p:nvPr/>
        </p:nvSpPr>
        <p:spPr>
          <a:xfrm>
            <a:off x="4606388" y="3986278"/>
            <a:ext cx="1460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1000×1000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2420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換你當維京相機：掃描記錄任務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" y="1463040"/>
            <a:ext cx="6309360" cy="42062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91640"/>
            <a:ext cx="5760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每組領取：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一張「沒有格子」的地貌圖＋三種空白紀錄卡（6×6／8×8／12×12）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任務規則：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先觀察：圖上沒有格子！小組討論要切多細，才記得下重要特徵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選一張紀錄卡：</a:t>
            </a:r>
            <a:r>
              <a:rPr lang="en-US" sz="17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格子越多越清楚、</a:t>
            </a:r>
            <a:r>
              <a:rPr lang="en-US" sz="17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要記的資料也越多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像掃描器一樣逐格記錄：塗黑＝有地貌、留白＝背景</a:t>
            </a:r>
            <a:endParaRPr lang="en-US" sz="1700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endParaRPr lang="en-US" sz="1700" dirty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endParaRPr lang="en-US" sz="1700" dirty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完成後由別組來檢驗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23760" y="1463040"/>
            <a:ext cx="4343400" cy="42062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6916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完成後自我檢核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377440"/>
            <a:ext cx="3794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□ 我們討論後才決定格子數（＿×＿）</a:t>
            </a:r>
            <a:endParaRPr lang="en-US" sz="1700" dirty="0"/>
          </a:p>
          <a:p>
            <a:pPr marL="0" indent="0">
              <a:lnSpc>
                <a:spcPts val="2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□ 我逐格記錄、沒有跳格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□ 別組能認出這是什麼地貌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</a:t>
            </a:r>
            <a:r>
              <a:rPr lang="zh-TW" altLang="en-US" sz="3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綜合活動：照片放大實驗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2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放大、再放大——和「相機會挑重點記嗎？」一起想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放大後看到的格子，</a:t>
            </a:r>
            <a:r>
              <a:rPr lang="zh-TW" altLang="en-US" sz="4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有哪一格是相機覺得不重要、就沒記的</a:t>
            </a:r>
            <a:r>
              <a:rPr lang="zh-TW" alt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zh-TW" altLang="en-US" sz="4000" b="1" dirty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94560" y="3657600"/>
            <a:ext cx="7799832" cy="1920240"/>
          </a:xfrm>
          <a:prstGeom prst="rect">
            <a:avLst/>
          </a:prstGeom>
          <a:solidFill>
            <a:srgbClr val="0D1424"/>
          </a:solidFill>
          <a:ln w="1905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886200"/>
            <a:ext cx="72511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照片放大實驗</a:t>
            </a:r>
            <a:endParaRPr lang="en-US" altLang="zh-TW" sz="2000" b="1" smtClean="0">
              <a:solidFill>
                <a:srgbClr val="5EC8F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sz="160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</a:t>
            </a:r>
            <a:r>
              <a:rPr 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掃描右邊的工具，將範例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照片不斷放大，直到看見一格一格的色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塊。</a:t>
            </a:r>
            <a:endParaRPr lang="en-US" altLang="zh-TW" sz="1600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你會發現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：找不到缺格！相機不挑重點、逐格忠實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記錄正是</a:t>
            </a:r>
            <a:r>
              <a:rPr lang="zh-TW" altLang="en-US" sz="1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掃描紀錄卡的規則，也是維京一號做的事。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12</a:t>
            </a:r>
            <a:endParaRPr lang="en-US" sz="900" dirty="0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14" y="3799093"/>
            <a:ext cx="1714739" cy="17147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8229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62179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54864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63093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09728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49377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6446520"/>
            <a:ext cx="32004" cy="3200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今日任務完成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拍照＝把景物切成像素、逐格記錄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解析度（格子數）決定細節，也決定資料量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920240" y="3383280"/>
            <a:ext cx="8348472" cy="2194560"/>
          </a:xfrm>
          <a:prstGeom prst="rect">
            <a:avLst/>
          </a:prstGeom>
          <a:solidFill>
            <a:srgbClr val="160B0E"/>
          </a:solidFill>
          <a:ln w="25400">
            <a:solidFill>
              <a:srgbClr val="FF5C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611880"/>
            <a:ext cx="7799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可是……照片還存在火星上的機器裡！
</a:t>
            </a:r>
            <a:r>
              <a:rPr lang="en-US" sz="19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地球的科學家看不到。要怎麼把它傳回 3 億公里外的地球？
</a:t>
            </a:r>
            <a:r>
              <a:rPr lang="en-US" sz="2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下一節：把照片傳回地球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01 · 火星第一眼：1976 維京一號的拍照任務　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453</Words>
  <Application>Microsoft Office PowerPoint</Application>
  <PresentationFormat>寬螢幕</PresentationFormat>
  <Paragraphs>101</Paragraphs>
  <Slides>13</Slides>
  <Notes>12</Notes>
  <HiddenSlides>0</HiddenSlides>
  <MMClips>1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Microsoft JhengHei</vt:lpstr>
      <vt:lpstr>新細明體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Wen-Yi Chang</cp:lastModifiedBy>
  <cp:revision>17</cp:revision>
  <dcterms:created xsi:type="dcterms:W3CDTF">2026-07-11T15:30:43Z</dcterms:created>
  <dcterms:modified xsi:type="dcterms:W3CDTF">2026-07-13T04:39:17Z</dcterms:modified>
</cp:coreProperties>
</file>