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8" r:id="rId11"/>
    <p:sldId id="266" r:id="rId12"/>
    <p:sldId id="269" r:id="rId19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3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5477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2344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kern="0" spc="800" dirty="0">
                <a:solidFill>
                  <a:srgbClr val="7A9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 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1737360"/>
            <a:ext cx="112745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拍下火星第一眼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維京一號的拍照任務・第一節</a:t>
            </a:r>
            <a:endParaRPr lang="en-US" sz="1800" dirty="0"/>
          </a:p>
        </p:txBody>
      </p:sp>
      <p:pic>
        <p:nvPicPr>
          <p:cNvPr id="13" name="Image 0" descr="slide_v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516" y="3794760"/>
            <a:ext cx="1645920" cy="16459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任務控制中心・廣播即將開始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40080" y="1371600"/>
            <a:ext cx="6492240" cy="448056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645920"/>
            <a:ext cx="57607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年 7 月 20 日
</a:t>
            </a:r>
            <a:r>
              <a:rPr lang="en-US" sz="22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維京一號成功登陸火星・克里斯平原！
</a:t>
            </a: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任務：拍下人類史上第一張
火星地表照片。
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406640" y="1371600"/>
            <a:ext cx="4160520" cy="448056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0" y="2103120"/>
            <a:ext cx="4160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chemeClr val="bg1"/>
                </a:solidFill>
              </a:rPr>
              <a:t>🛰</a:t>
            </a:r>
          </a:p>
        </p:txBody>
      </p:sp>
      <p:sp>
        <p:nvSpPr>
          <p:cNvPr id="15" name="Text 13"/>
          <p:cNvSpPr/>
          <p:nvPr/>
        </p:nvSpPr>
        <p:spPr>
          <a:xfrm>
            <a:off x="7589520" y="3749040"/>
            <a:ext cx="3794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 ⇄ 地球</a:t>
            </a:r>
            <a:endParaRPr lang="en-US" sz="1800" dirty="0"/>
          </a:p>
          <a:p>
            <a:pPr marL="0" indent="0" algn="ctr">
              <a:lnSpc>
                <a:spcPts val="30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距離約 3 億公里</a:t>
            </a:r>
            <a:endParaRPr lang="en-US" sz="1800" dirty="0"/>
          </a:p>
          <a:p>
            <a:pPr algn="ctr">
              <a:lnSpc>
                <a:spcPts val="3000"/>
              </a:lnSpc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光線走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這段</a:t>
            </a: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</a:t>
            </a:r>
            <a:endParaRPr lang="en-US" altLang="zh-TW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algn="ctr">
              <a:lnSpc>
                <a:spcPts val="3000"/>
              </a:lnSpc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單程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大約需要 </a:t>
            </a:r>
            <a:r>
              <a:rPr lang="en-US" altLang="zh-TW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 </a:t>
            </a:r>
            <a:r>
              <a:rPr lang="en-US" altLang="zh-TW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 </a:t>
            </a:r>
            <a:r>
              <a:rPr lang="zh-TW" altLang="en-US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2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問題來了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TW" altLang="en-US" sz="2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維京一號要</a:t>
            </a:r>
            <a:r>
              <a:rPr lang="zh-TW" altLang="en-US" sz="4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怎麼「記住」眼前的景象</a:t>
            </a:r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zh-TW" altLang="en-US" sz="4000" b="1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194560" y="3657600"/>
            <a:ext cx="7799832" cy="1920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886200"/>
            <a:ext cx="7251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小組討論 2 分鐘
</a:t>
            </a:r>
            <a:r>
              <a:rPr lang="en-US" sz="1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r>
              <a:rPr 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眼前的景像要用什麼方式儲存起來，最好的是印出來嗎？</a:t>
            </a:r>
            <a:endParaRPr lang="en-US" altLang="zh-TW" sz="16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lnSpc>
                <a:spcPts val="2800"/>
              </a:lnSpc>
              <a:buNone/>
            </a:pP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                   還是用什麼有用的工具來記錄呢？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掃描式相機的辦法</a:t>
            </a:r>
            <a:endParaRPr lang="en-US" sz="3000" dirty="0"/>
          </a:p>
        </p:txBody>
      </p:sp>
      <p:pic>
        <p:nvPicPr>
          <p:cNvPr id="11" name="Image 0" descr="slid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554480"/>
            <a:ext cx="3931920" cy="3931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05840" y="5577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由左至右、由上至下，一格一格記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486400" y="1737360"/>
            <a:ext cx="6035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24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把眼前的景物
</a:t>
            </a:r>
            <a:r>
              <a:rPr lang="en-US" sz="2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切成一格一格的小方格，
一格一格記下內容。
</a:t>
            </a:r>
            <a:r>
              <a:rPr lang="en-US" sz="22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每一個小格子，就是一個「像素」。
</a:t>
            </a:r>
            <a:r>
              <a:rPr lang="en-US" sz="18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今天所有的數位相機、手機拍照，做的都是同一件事！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🎮 地貌判讀挑戰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325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相機掃描火星地貌，你們是任務科學家：越早認出是什麼地貌，得分越高！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粗掃描 4×4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分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229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看得出來就搶答！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4805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切細 8×8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分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44805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特徵慢慢浮現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138160" y="2103120"/>
            <a:ext cx="3291840" cy="28346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0" y="2331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再切細 16×16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138160" y="29718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分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13816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幾乎可以確認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6909" y="5471279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亂猜有風險：答錯一次 −2 分！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粗掃描・4×4</a:t>
            </a:r>
            <a:endParaRPr lang="en-US" sz="3000" dirty="0"/>
          </a:p>
        </p:txBody>
      </p:sp>
      <p:pic>
        <p:nvPicPr>
          <p:cNvPr id="11" name="Image 0" descr="slide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 16 格，猜得出這是什麼地貌嗎？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切細重掃・8×8</a:t>
            </a:r>
            <a:endParaRPr lang="en-US" sz="3000" dirty="0"/>
          </a:p>
        </p:txBody>
      </p:sp>
      <p:pic>
        <p:nvPicPr>
          <p:cNvPr id="11" name="Image 0" descr="slide_v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 格了，現在呢？哪些特徵浮現了？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再切細・16×16</a:t>
            </a:r>
            <a:endParaRPr lang="en-US" sz="3000" dirty="0"/>
          </a:p>
        </p:txBody>
      </p:sp>
      <p:pic>
        <p:nvPicPr>
          <p:cNvPr id="11" name="Image 0" descr="slide_v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76" y="1371600"/>
            <a:ext cx="41148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揭曉：一座火山！256 格，幾乎可以確認了。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我們發現了什麼？</a:t>
            </a:r>
            <a:endParaRPr lang="en-US" sz="3000" dirty="0"/>
          </a:p>
        </p:txBody>
      </p:sp>
      <p:pic>
        <p:nvPicPr>
          <p:cNvPr id="11" name="Image 0" descr="slide_v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2286000" cy="2286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4×4＝16 格</a:t>
            </a:r>
            <a:endParaRPr lang="en-US" sz="1500" dirty="0"/>
          </a:p>
        </p:txBody>
      </p:sp>
      <p:pic>
        <p:nvPicPr>
          <p:cNvPr id="13" name="Image 1" descr="slide_v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463040"/>
            <a:ext cx="2286000" cy="22860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76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8×8＝64 格</a:t>
            </a:r>
            <a:endParaRPr lang="en-US" sz="1500" dirty="0"/>
          </a:p>
        </p:txBody>
      </p:sp>
      <p:pic>
        <p:nvPicPr>
          <p:cNvPr id="15" name="Image 2" descr="slide_v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463040"/>
            <a:ext cx="2286000" cy="22860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8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16×16＝256 格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3218688" y="2286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A93AE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Text 13"/>
          <p:cNvSpPr/>
          <p:nvPr/>
        </p:nvSpPr>
        <p:spPr>
          <a:xfrm>
            <a:off x="5961888" y="2286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A93AE"/>
                </a:solidFill>
              </a:rPr>
              <a:t>→</a:t>
            </a:r>
            <a:endParaRPr lang="en-US" sz="2800" dirty="0"/>
          </a:p>
        </p:txBody>
      </p:sp>
      <p:sp>
        <p:nvSpPr>
          <p:cNvPr id="19" name="Shape 14"/>
          <p:cNvSpPr/>
          <p:nvPr/>
        </p:nvSpPr>
        <p:spPr>
          <a:xfrm>
            <a:off x="9235440" y="1463040"/>
            <a:ext cx="2377440" cy="274320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235440" y="196596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400"/>
              </a:lnSpc>
              <a:buNone/>
            </a:pPr>
            <a:r>
              <a:rPr lang="en-US" sz="18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格子數＝
</a:t>
            </a:r>
            <a:r>
              <a:rPr lang="en-US" sz="3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解析度
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22960" y="4709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切得越細 → 細節越多、越好認；但要記錄的資料也越多（16 → 64 → 256 格）。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10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89552"/>
            <a:ext cx="400488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看看真實的情境</a:t>
            </a:r>
            <a:endParaRPr lang="en-US" sz="3000" dirty="0"/>
          </a:p>
        </p:txBody>
      </p:sp>
      <p:sp>
        <p:nvSpPr>
          <p:cNvPr id="23" name="Text 18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10</a:t>
            </a:r>
            <a:endParaRPr lang="en-US" sz="900" dirty="0"/>
          </a:p>
        </p:txBody>
      </p:sp>
      <p:pic>
        <p:nvPicPr>
          <p:cNvPr id="22" name="圖片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722" y="1432851"/>
            <a:ext cx="1800000" cy="1800000"/>
          </a:xfrm>
          <a:prstGeom prst="rect">
            <a:avLst/>
          </a:prstGeom>
        </p:spPr>
      </p:pic>
      <p:pic>
        <p:nvPicPr>
          <p:cNvPr id="24" name="圖片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39" y="1382349"/>
            <a:ext cx="1800000" cy="1800000"/>
          </a:xfrm>
          <a:prstGeom prst="rect">
            <a:avLst/>
          </a:prstGeom>
        </p:spPr>
      </p:pic>
      <p:pic>
        <p:nvPicPr>
          <p:cNvPr id="25" name="圖片 2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248" y="4096065"/>
            <a:ext cx="1800000" cy="1800000"/>
          </a:xfrm>
          <a:prstGeom prst="rect">
            <a:avLst/>
          </a:prstGeom>
        </p:spPr>
      </p:pic>
      <p:pic>
        <p:nvPicPr>
          <p:cNvPr id="26" name="圖片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20" y="4111938"/>
            <a:ext cx="1800000" cy="1800000"/>
          </a:xfrm>
          <a:prstGeom prst="rect">
            <a:avLst/>
          </a:prstGeom>
        </p:spPr>
      </p:pic>
      <p:pic>
        <p:nvPicPr>
          <p:cNvPr id="27" name="圖片 2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27" y="2053690"/>
            <a:ext cx="1800000" cy="1800000"/>
          </a:xfrm>
          <a:prstGeom prst="rect">
            <a:avLst/>
          </a:prstGeom>
        </p:spPr>
      </p:pic>
      <p:pic>
        <p:nvPicPr>
          <p:cNvPr id="28" name="漸變動畫_像素解析度_火星第一眼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557953" y="838962"/>
            <a:ext cx="5042920" cy="575268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783493" y="3365258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10×10</a:t>
            </a:r>
            <a:endParaRPr lang="en-US" altLang="zh-TW" dirty="0"/>
          </a:p>
        </p:txBody>
      </p:sp>
      <p:sp>
        <p:nvSpPr>
          <p:cNvPr id="30" name="矩形 29"/>
          <p:cNvSpPr/>
          <p:nvPr/>
        </p:nvSpPr>
        <p:spPr>
          <a:xfrm>
            <a:off x="2857104" y="3398744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20×20</a:t>
            </a:r>
            <a:endParaRPr lang="en-US" altLang="zh-TW" dirty="0"/>
          </a:p>
        </p:txBody>
      </p:sp>
      <p:sp>
        <p:nvSpPr>
          <p:cNvPr id="31" name="矩形 30"/>
          <p:cNvSpPr/>
          <p:nvPr/>
        </p:nvSpPr>
        <p:spPr>
          <a:xfrm>
            <a:off x="783492" y="6049256"/>
            <a:ext cx="9092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50×50</a:t>
            </a:r>
            <a:endParaRPr lang="en-US" altLang="zh-TW" dirty="0"/>
          </a:p>
        </p:txBody>
      </p:sp>
      <p:sp>
        <p:nvSpPr>
          <p:cNvPr id="32" name="矩形 31"/>
          <p:cNvSpPr/>
          <p:nvPr/>
        </p:nvSpPr>
        <p:spPr>
          <a:xfrm>
            <a:off x="2857104" y="6054875"/>
            <a:ext cx="1184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100×100</a:t>
            </a:r>
            <a:endParaRPr lang="en-US" altLang="zh-TW" dirty="0"/>
          </a:p>
        </p:txBody>
      </p:sp>
      <p:sp>
        <p:nvSpPr>
          <p:cNvPr id="33" name="矩形 32"/>
          <p:cNvSpPr/>
          <p:nvPr/>
        </p:nvSpPr>
        <p:spPr>
          <a:xfrm>
            <a:off x="4606388" y="3986278"/>
            <a:ext cx="14606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1000×1000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724200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📷 換你當維京相機：掃描記錄任務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40080" y="1463040"/>
            <a:ext cx="6309360" cy="4206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691640"/>
            <a:ext cx="57607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每組領取：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一張「沒有格子」的地貌圖＋三種空白紀錄卡（6×6／8×8／12×12）</a:t>
            </a: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endParaRPr lang="en-US" sz="18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任務規則：</a:t>
            </a:r>
            <a:endParaRPr lang="en-US" sz="18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先觀察：圖上沒有格子！小組討論要切多細，才記得下重要特徵</a:t>
            </a:r>
            <a:endParaRPr lang="en-US" sz="1800" dirty="0"/>
          </a:p>
          <a:p>
            <a:pPr marL="342900" indent="-342900">
              <a:lnSpc>
                <a:spcPts val="26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選一張紀錄卡：</a:t>
            </a:r>
            <a:r>
              <a:rPr lang="en-US" sz="17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格子越多越清楚、</a:t>
            </a:r>
            <a:r>
              <a:rPr lang="en-US" sz="17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要記的資料也越多</a:t>
            </a:r>
            <a:endParaRPr lang="en-US" sz="18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像掃描器一樣逐格記錄：塗黑＝有地貌、留白＝背景</a:t>
            </a:r>
            <a:endParaRPr lang="en-US" sz="17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endParaRPr lang="en-US" sz="17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endParaRPr lang="en-US" sz="17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完成後由別組來檢驗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23760" y="1463040"/>
            <a:ext cx="4343400" cy="4206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23760" y="16916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完成後自我檢核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498080" y="2377440"/>
            <a:ext cx="3794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我們討論後才決定格子數（＿×＿）</a:t>
            </a:r>
            <a:endParaRPr lang="en-US" sz="1700" dirty="0"/>
          </a:p>
          <a:p>
            <a:pPr marL="0" indent="0">
              <a:lnSpc>
                <a:spcPts val="260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我逐格記錄、沒有跳格</a:t>
            </a:r>
            <a:endParaRPr lang="en-US" sz="17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□ 別組能認出這是什麼地貌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11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🔍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綜合活動：照片放大實驗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TW" altLang="en-US" sz="2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放大、再放大——和「相機會挑重點記嗎？」一起想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放大後看到的格子，</a:t>
            </a:r>
            <a:r>
              <a:rPr lang="zh-TW" altLang="en-US" sz="4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有哪一格是相機覺得不重要、就沒記的</a:t>
            </a:r>
            <a:r>
              <a:rPr lang="zh-TW" altLang="en-US" sz="4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zh-TW" altLang="en-US" sz="4000" b="1" dirty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194560" y="3657600"/>
            <a:ext cx="7799832" cy="1920240"/>
          </a:xfrm>
          <a:prstGeom prst="rect">
            <a:avLst/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886200"/>
            <a:ext cx="725119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平板實驗 3 分鐘
</a:t>
            </a:r>
            <a:r>
              <a:rPr lang="en-US" sz="1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做法</a:t>
            </a:r>
            <a:r>
              <a:rPr 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把平板上的範例照片不斷放大，直到看見一格一格的色塊，逐格檢查。</a:t>
            </a:r>
            <a:endParaRPr lang="en-US" altLang="zh-TW" sz="16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>
              <a:lnSpc>
                <a:spcPts val="2800"/>
              </a:lnSpc>
              <a:buNone/>
            </a:pPr>
            <a:r>
              <a:rPr lang="zh-TW" altLang="en-US" sz="1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發現：找不到缺格！相機不挑重點、逐格忠實記錄——正是掃描紀錄卡的規則，也是維京一號做的事。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108960" y="62179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54864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961120" y="63093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338560" y="109728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0" y="49377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448056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6446520"/>
            <a:ext cx="32004" cy="32004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9D35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拍照＝把景物切成像素、逐格記錄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解析度（格子數）決定細節，也決定資料量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920240" y="3383280"/>
            <a:ext cx="8348472" cy="2194560"/>
          </a:xfrm>
          <a:prstGeom prst="rect">
            <a:avLst/>
          </a:prstGeom>
          <a:solidFill>
            <a:srgbClr val="160B0E"/>
          </a:solidFill>
          <a:ln w="25400">
            <a:solidFill>
              <a:srgbClr val="FF5C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611880"/>
            <a:ext cx="77998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可是……照片還存在火星上的機器裡！
</a:t>
            </a:r>
            <a:r>
              <a:rPr lang="en-US" sz="19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地球的科學家看不到。要怎麼把它傳回 3 億公里外的地球？
</a:t>
            </a:r>
            <a:r>
              <a:rPr lang="en-US" sz="2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下一節：把照片傳回地球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01 · 火星第一眼：1976 維京一號的拍照任務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331</Words>
  <Application>Microsoft Office PowerPoint</Application>
  <PresentationFormat>寬螢幕</PresentationFormat>
  <Paragraphs>94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16</cp:revision>
  <dcterms:created xsi:type="dcterms:W3CDTF">2026-07-11T15:30:43Z</dcterms:created>
  <dcterms:modified xsi:type="dcterms:W3CDTF">2026-07-12T05:54:30Z</dcterms:modified>
</cp:coreProperties>
</file>