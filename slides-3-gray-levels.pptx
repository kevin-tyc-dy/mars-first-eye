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2" r:id="rId9"/>
    <p:sldId id="263" r:id="rId10"/>
    <p:sldId id="264" r:id="rId11"/>
    <p:sldId id="265" r:id="rId12"/>
    <p:sldId id="270" r:id="rId13"/>
    <p:sldId id="266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934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開場前播放。上一節照片已經傳回地球，本節從觀察真實照片開始。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出示 1976.7.20 史實影像。提問：這張照片只有『亮』和『暗』兩種嗎？讓學生觀察發現深灰、淺灰、接近白的亮部。（開場討論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收斂觀察：有深灰、淺灰、接近白的亮部。追問：上一節只有 0 和 1，這些深深淺淺的灰要怎麼表示？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並排對比：只有亮暗（2 階）會變剪影；有了深淺（4 階）立體感才出現。可搭配任務三頁面的照片觀察畫面。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收斂：每格不只記有無，而是記一個「亮度數字」。補充史實：維京實機用 6 位元記 64 階，這叫位元深度——課堂用 4 階簡化。（發現亮度代碼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68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分組傳輸 5×5 圖卡。遮光是成功關鍵（拉窗簾、關靠窗燈）。干擾太大改三組傳、三組觀察再交換。時間允許才輪替第二張；8×8 為選配進階。（12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285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本節核心認知衝突。給小組 1 分鐘先想，再收集提案。（核心討論共 10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逐一評估提案：①四種亮度的光（可現場手電筒調亮度試驗，體會多階訊號不可靠、兩階最穩——數位勝過類比的理由）②閃不同次數（可行但更慢）③收斂：一格用兩個 0／1 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兩位元約定：00／01／10／11 對應 0～3。這是學生自己推理出來的結論，教師只做命名：這就是「2 位元」。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總結資料量：8×8 黑白＝64 個訊號；8×8 灰階＝64×2＝128 個訊號，翻倍了！這是第四節壓縮的最強伏筆。（總結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課後延伸挑戰（不佔課堂時間）：8 階需要幾個 0/1 訊號？答案是 3 個（000～111 共 8 種組合），對應倍增規律 3 位元＝8 階。請學生把約定表寫在筆記本，下一節開場可請人分享，直接銜接第五節 6 位元＝64 階的推理。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總結兩句話，拋出第四節懸念：資料越來越多，可是無線電這麼慢，怎麼辦？（下一節：頻寬告急）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46304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火星的深與淺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維京一號的拍照任務・第三節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0040" y="3657600"/>
            <a:ext cx="713232" cy="713232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818992" y="3657600"/>
            <a:ext cx="713232" cy="713232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7944" y="3657600"/>
            <a:ext cx="713232" cy="713232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36896" y="3657600"/>
            <a:ext cx="713232" cy="713232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95848" y="3657600"/>
            <a:ext cx="713232" cy="713232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4800" y="3657600"/>
            <a:ext cx="713232" cy="713232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13752" y="3657600"/>
            <a:ext cx="713232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72704" y="3657600"/>
            <a:ext cx="713232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0" y="55778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【任務控制中心廣播】照片傳回地球了！</a:t>
            </a:r>
            <a:endParaRPr lang="en-US" sz="2400" dirty="0"/>
          </a:p>
        </p:txBody>
      </p:sp>
      <p:pic>
        <p:nvPicPr>
          <p:cNvPr id="5" name="Image 0" descr="/mnt/user-data/uploads/國小科技課程/Viking_1_First_Image_From_Mars_1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143000"/>
            <a:ext cx="10058400" cy="3739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0" y="498348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1976.7.20・</a:t>
            </a:r>
            <a:r>
              <a:rPr 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人類第一眼看到的火星地表</a:t>
            </a:r>
            <a:r>
              <a:rPr lang="zh-TW" alt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endParaRPr lang="en-US" sz="2500" dirty="0"/>
          </a:p>
        </p:txBody>
      </p:sp>
      <p:sp>
        <p:nvSpPr>
          <p:cNvPr id="7" name="Text 3"/>
          <p:cNvSpPr/>
          <p:nvPr/>
        </p:nvSpPr>
        <p:spPr>
          <a:xfrm>
            <a:off x="0" y="54864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仔細看：這張照片，只有「亮」和「暗」兩種嗎？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你們發現了：不只亮和暗！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62456" y="1783080"/>
            <a:ext cx="91440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接近白的亮部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419856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325112" y="1783080"/>
            <a:ext cx="914400" cy="91440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19856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淺淺的灰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82512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87768" y="1783080"/>
            <a:ext cx="914400" cy="91440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82512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深深的灰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345168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50424" y="1783080"/>
            <a:ext cx="91440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68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最暗的影子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可是——上一節我們的無線電，只有 0 和 1……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0" y="47548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這些深深淺淺的灰，要怎麼表示？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同一個隕石坑：只有亮暗 vs 有深有淺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1887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59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031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603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175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319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891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459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031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603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0175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747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9319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891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6459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031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603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747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9319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891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1887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6459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031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603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0175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9319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3891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887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6459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031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5603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0175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747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9319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891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6459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21031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25603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0175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747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9319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887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6459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103120" y="41605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25603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0175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47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9319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3891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887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6459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1031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5603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30175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34747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9319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3891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31520" y="5257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</a:t>
            </a:r>
            <a:r>
              <a:rPr lang="zh-TW" alt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只有亮暗）：變成剪影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73152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7724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2296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6868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91440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6012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0584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5156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3152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7724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82296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6868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91440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012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00584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105156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152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772400" y="2331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82296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6868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1440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9601200" y="2331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0584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105156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7315200" y="27889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772400" y="27889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2296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868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91440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9601200" y="27889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10058400" y="27889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1051560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3152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77724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22960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86868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14400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6012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100584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5156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3152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7724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82296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86868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91440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96012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0584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05156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73152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77724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229600" y="41605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6868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91440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6012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100584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105156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73152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77724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82296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86868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91440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96012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100584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105156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4" name="Text 131"/>
          <p:cNvSpPr/>
          <p:nvPr/>
        </p:nvSpPr>
        <p:spPr>
          <a:xfrm>
            <a:off x="6858000" y="5257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</a:t>
            </a:r>
            <a:r>
              <a:rPr lang="zh-TW" alt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1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黑・深灰・淺灰・白）：立體感出現了</a:t>
            </a:r>
            <a:endParaRPr lang="en-US" sz="1600" dirty="0"/>
          </a:p>
        </p:txBody>
      </p:sp>
      <p:sp>
        <p:nvSpPr>
          <p:cNvPr id="135" name="Text 132"/>
          <p:cNvSpPr/>
          <p:nvPr/>
        </p:nvSpPr>
        <p:spPr>
          <a:xfrm>
            <a:off x="5486400" y="2926080"/>
            <a:ext cx="1216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新的協定「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亮度代碼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每格記一個數字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71016" y="1691640"/>
            <a:ext cx="1097280" cy="109728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457200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黑（最暗）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19856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33672" y="1691640"/>
            <a:ext cx="1097280" cy="109728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19856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419856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382512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96328" y="1691640"/>
            <a:ext cx="1097280" cy="109728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82512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382512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345168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58984" y="1691640"/>
            <a:ext cx="109728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45168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345168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白（最亮）</a:t>
            </a:r>
            <a:endParaRPr lang="en-US" sz="1500" dirty="0"/>
          </a:p>
        </p:txBody>
      </p:sp>
      <p:sp>
        <p:nvSpPr>
          <p:cNvPr id="24" name="Shape 2"/>
          <p:cNvSpPr/>
          <p:nvPr/>
        </p:nvSpPr>
        <p:spPr>
          <a:xfrm>
            <a:off x="2152164" y="4758543"/>
            <a:ext cx="9790453" cy="1506451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3" name="矩形 22"/>
          <p:cNvSpPr/>
          <p:nvPr/>
        </p:nvSpPr>
        <p:spPr>
          <a:xfrm>
            <a:off x="2368296" y="5085972"/>
            <a:ext cx="933602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4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知識點：</a:t>
            </a:r>
            <a:endParaRPr lang="en-US" altLang="zh-TW" sz="2400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這裡的顏色數量，我們稱之為「灰階」，這裡有四種顏色，稱為</a:t>
            </a:r>
            <a:r>
              <a:rPr lang="en-US" altLang="zh-TW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階。</a:t>
            </a:r>
            <a:endParaRPr lang="en-US" altLang="zh-TW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959" y="28346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讓維京一號發送更清晰的照片！</a:t>
            </a:r>
            <a:endParaRPr lang="en-US" sz="5000" dirty="0"/>
          </a:p>
        </p:txBody>
      </p:sp>
      <p:sp>
        <p:nvSpPr>
          <p:cNvPr id="9" name="Text 39"/>
          <p:cNvSpPr/>
          <p:nvPr/>
        </p:nvSpPr>
        <p:spPr>
          <a:xfrm>
            <a:off x="379923" y="1900382"/>
            <a:ext cx="4506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傳送「亮度代碼」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975963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zh-TW" alt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傳送「亮度代碼」</a:t>
            </a:r>
          </a:p>
          <a:p>
            <a:pPr marL="0" indent="0">
              <a:buNone/>
            </a:pP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199" y="1280160"/>
            <a:ext cx="11402291" cy="4434840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8073" y="1554480"/>
            <a:ext cx="10760363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任務流程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每組先擔任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：領取火星灰階地貌圖和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　在紀錄卡上逐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 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</a:t>
            </a:r>
            <a:r>
              <a:rPr lang="en-US" altLang="zh-TW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的亮度代碼，完成後傳到下一組。</a:t>
            </a:r>
            <a:endParaRPr lang="en-US" sz="3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各組收到記錄卡後化身為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，任務：讀取訊號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利用灰階小卡或是任務工具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塗格還原</a:t>
            </a:r>
            <a:endParaRPr lang="en-US" sz="3000" dirty="0" smtClean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原圖比對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，看看你的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正確格數</a:t>
            </a:r>
            <a:endParaRPr lang="en-US" sz="3000" dirty="0"/>
          </a:p>
        </p:txBody>
      </p:sp>
      <p:sp>
        <p:nvSpPr>
          <p:cNvPr id="9" name="Shape 2"/>
          <p:cNvSpPr/>
          <p:nvPr/>
        </p:nvSpPr>
        <p:spPr>
          <a:xfrm>
            <a:off x="3565237" y="5853939"/>
            <a:ext cx="8294253" cy="792988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3"/>
          <p:cNvSpPr/>
          <p:nvPr/>
        </p:nvSpPr>
        <p:spPr>
          <a:xfrm>
            <a:off x="3867727" y="6035594"/>
            <a:ext cx="7809345" cy="614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高階挑戰 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</a:t>
            </a:r>
            <a:r>
              <a:rPr lang="en-US" altLang="zh-TW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碼將維京一號拍攝的灰階照片還原訊號吧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4098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⚡ </a:t>
            </a:r>
            <a:r>
              <a:rPr lang="en-US" sz="24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困難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無線電每一瞬間，只有「有訊號」和「沒訊號」兩種。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2560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0 和 1，怎麼傳 0～3？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2721032" y="3776472"/>
            <a:ext cx="7780713" cy="1719072"/>
          </a:xfrm>
          <a:prstGeom prst="roundRect">
            <a:avLst>
              <a:gd name="adj" fmla="val 615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11763" y="3913632"/>
            <a:ext cx="71189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</a:t>
            </a: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</a:t>
            </a: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
</a:t>
            </a:r>
            <a:endParaRPr lang="en-US" sz="2500" dirty="0"/>
          </a:p>
          <a:p>
            <a:pPr marL="0" indent="0"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想一想，要如何記錄訊號，還有要如何傳送出去呢？</a:t>
            </a:r>
            <a:endParaRPr lang="en-US" sz="2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"/>
          <p:cNvSpPr/>
          <p:nvPr/>
        </p:nvSpPr>
        <p:spPr>
          <a:xfrm>
            <a:off x="2831176" y="5303520"/>
            <a:ext cx="8918864" cy="992447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辦法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🔆</a:t>
            </a:r>
          </a:p>
        </p:txBody>
      </p:sp>
      <p:sp>
        <p:nvSpPr>
          <p:cNvPr id="7" name="Text 4"/>
          <p:cNvSpPr/>
          <p:nvPr/>
        </p:nvSpPr>
        <p:spPr>
          <a:xfrm>
            <a:off x="59436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用四種亮度的光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</a:t>
            </a:r>
            <a:r>
              <a:rPr lang="en-US" sz="2500" dirty="0" err="1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接收端要分辨四級亮度</a:t>
            </a:r>
            <a:r>
              <a:rPr lang="en-US" sz="2500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，很容易誤判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✨</a:t>
            </a:r>
          </a:p>
        </p:txBody>
      </p:sp>
      <p:sp>
        <p:nvSpPr>
          <p:cNvPr id="11" name="Text 8"/>
          <p:cNvSpPr/>
          <p:nvPr/>
        </p:nvSpPr>
        <p:spPr>
          <a:xfrm>
            <a:off x="457200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閃不同的次數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0916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可行，但更慢、</a:t>
            </a:r>
            <a:endParaRPr lang="en-US" sz="2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拍子更難數</a:t>
            </a:r>
            <a:endParaRPr lang="en-US" sz="25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22225">
            <a:solidFill>
              <a:srgbClr val="5EC8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✌</a:t>
            </a:r>
          </a:p>
        </p:txBody>
      </p:sp>
      <p:sp>
        <p:nvSpPr>
          <p:cNvPr id="15" name="Text 12"/>
          <p:cNvSpPr/>
          <p:nvPr/>
        </p:nvSpPr>
        <p:spPr>
          <a:xfrm>
            <a:off x="854964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一格用兩個 0／1 訊號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868680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定和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2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兩個訊號剛好有四種組合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3104226" y="5532120"/>
            <a:ext cx="83727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4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科學家的做法：</a:t>
            </a:r>
            <a:r>
              <a:rPr lang="en-US" sz="24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一格的亮度</a:t>
            </a:r>
            <a:r>
              <a:rPr lang="en-US" sz="24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，用「兩個</a:t>
            </a: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0／1 訊號」傳送！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個數字的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</a:t>
            </a: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：四種組合，剛剛好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499616" y="2880360"/>
            <a:ext cx="640080" cy="64008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0（黑）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19856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19856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3419856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62272" y="2880360"/>
            <a:ext cx="640080" cy="64008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19856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1（深灰）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382512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382512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424928" y="2880360"/>
            <a:ext cx="640080" cy="64008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82512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2（淺灰）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345168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45168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9345168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387584" y="2880360"/>
            <a:ext cx="6400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45168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3（白）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61637" y="46177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2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2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4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457200" y="53309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咦……</a:t>
            </a:r>
            <a:r>
              <a:rPr lang="en-US" sz="2500" dirty="0" err="1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每多一個</a:t>
            </a:r>
            <a:r>
              <a:rPr lang="zh-TW" alt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</a:t>
            </a:r>
            <a:r>
              <a:rPr 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階數好像會發生什麼事？先記住這個感覺！</a:t>
            </a:r>
            <a:endParaRPr lang="en-US" sz="2500" dirty="0"/>
          </a:p>
        </p:txBody>
      </p:sp>
      <p:sp>
        <p:nvSpPr>
          <p:cNvPr id="27" name="Shape 2"/>
          <p:cNvSpPr/>
          <p:nvPr/>
        </p:nvSpPr>
        <p:spPr>
          <a:xfrm>
            <a:off x="3846022" y="5941290"/>
            <a:ext cx="7985761" cy="768466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8" name="矩形 27"/>
          <p:cNvSpPr/>
          <p:nvPr/>
        </p:nvSpPr>
        <p:spPr>
          <a:xfrm>
            <a:off x="4114800" y="6003168"/>
            <a:ext cx="8497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知識點：</a:t>
            </a:r>
            <a:endParaRPr lang="en-US" altLang="zh-TW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</a:t>
            </a:r>
            <a:r>
              <a:rPr lang="zh-TW" altLang="en-US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2 </a:t>
            </a:r>
            <a:r>
              <a:rPr lang="zh-TW" altLang="en-US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顏色，這個數字我們稱之為「位元」，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階灰階是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位元。</a:t>
            </a:r>
            <a:endParaRPr lang="en-US" altLang="zh-TW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也會增加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463040"/>
            <a:ext cx="493776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 黑白照片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</a:t>
            </a:r>
            <a:endParaRPr lang="en-US" sz="6600" dirty="0"/>
          </a:p>
        </p:txBody>
      </p:sp>
      <p:sp>
        <p:nvSpPr>
          <p:cNvPr id="8" name="Text 5"/>
          <p:cNvSpPr/>
          <p:nvPr/>
        </p:nvSpPr>
        <p:spPr>
          <a:xfrm>
            <a:off x="8229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個訊號（每格 1 個）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46520" y="1463040"/>
            <a:ext cx="493776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22225">
            <a:solidFill>
              <a:srgbClr val="FFB34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 灰階照片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4652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個訊號（每格 2 個，64×2）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照片變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r>
              <a:rPr lang="en-US" sz="20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，卻也變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」了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想要更多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細節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就要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傳送更多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</a:t>
            </a: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 綜合活動：把你的照片變黑白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2344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在平板為自己的照片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改成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黑白</a:t>
            </a: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（灰階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）</a:t>
            </a:r>
            <a:r>
              <a:rPr lang="zh-TW" altLang="en-US" sz="3000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en-US" sz="3000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照片裡有幾種灰？數得完嗎？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2474824" y="2971800"/>
            <a:ext cx="841248" cy="841248"/>
          </a:xfrm>
          <a:prstGeom prst="rect">
            <a:avLst/>
          </a:prstGeom>
          <a:solidFill>
            <a:srgbClr val="0A0A0A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9224" y="2971800"/>
            <a:ext cx="841248" cy="841248"/>
          </a:xfrm>
          <a:prstGeom prst="rect">
            <a:avLst/>
          </a:prstGeom>
          <a:solidFill>
            <a:srgbClr val="2B2B2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03624" y="2971800"/>
            <a:ext cx="841248" cy="841248"/>
          </a:xfrm>
          <a:prstGeom prst="rect">
            <a:avLst/>
          </a:prstGeom>
          <a:solidFill>
            <a:srgbClr val="474747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18024" y="2971800"/>
            <a:ext cx="841248" cy="841248"/>
          </a:xfrm>
          <a:prstGeom prst="rect">
            <a:avLst/>
          </a:prstGeom>
          <a:solidFill>
            <a:srgbClr val="666666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2424" y="2971800"/>
            <a:ext cx="841248" cy="841248"/>
          </a:xfrm>
          <a:prstGeom prst="rect">
            <a:avLst/>
          </a:prstGeom>
          <a:solidFill>
            <a:srgbClr val="89898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046824" y="2971800"/>
            <a:ext cx="841248" cy="841248"/>
          </a:xfrm>
          <a:prstGeom prst="rect">
            <a:avLst/>
          </a:prstGeom>
          <a:solidFill>
            <a:srgbClr val="ABABA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61224" y="2971800"/>
            <a:ext cx="841248" cy="841248"/>
          </a:xfrm>
          <a:prstGeom prst="rect">
            <a:avLst/>
          </a:prstGeom>
          <a:solidFill>
            <a:srgbClr val="D0D0D0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75624" y="2971800"/>
            <a:ext cx="841248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71599" y="4617720"/>
            <a:ext cx="10136909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767378" y="4846320"/>
            <a:ext cx="9464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</a:t>
            </a:r>
            <a:endParaRPr lang="en-US" sz="25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黑白照片不是只剩黑與白</a:t>
            </a: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深深淺淺的灰階層次</a:t>
            </a: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，靠的正是更多階的「亮度數字</a:t>
            </a:r>
            <a:r>
              <a:rPr 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🏠 課後延伸挑戰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2344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想一想：把灰色的色階增加為 8 種，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訊號要怎麼約定呢？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2474824" y="2971800"/>
            <a:ext cx="841248" cy="841248"/>
          </a:xfrm>
          <a:prstGeom prst="rect">
            <a:avLst/>
          </a:prstGeom>
          <a:solidFill>
            <a:srgbClr val="0A0A0A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9224" y="2971800"/>
            <a:ext cx="841248" cy="841248"/>
          </a:xfrm>
          <a:prstGeom prst="rect">
            <a:avLst/>
          </a:prstGeom>
          <a:solidFill>
            <a:srgbClr val="2B2B2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03624" y="2971800"/>
            <a:ext cx="841248" cy="841248"/>
          </a:xfrm>
          <a:prstGeom prst="rect">
            <a:avLst/>
          </a:prstGeom>
          <a:solidFill>
            <a:srgbClr val="474747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18024" y="2971800"/>
            <a:ext cx="841248" cy="841248"/>
          </a:xfrm>
          <a:prstGeom prst="rect">
            <a:avLst/>
          </a:prstGeom>
          <a:solidFill>
            <a:srgbClr val="666666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2424" y="2971800"/>
            <a:ext cx="841248" cy="841248"/>
          </a:xfrm>
          <a:prstGeom prst="rect">
            <a:avLst/>
          </a:prstGeom>
          <a:solidFill>
            <a:srgbClr val="89898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046824" y="2971800"/>
            <a:ext cx="841248" cy="841248"/>
          </a:xfrm>
          <a:prstGeom prst="rect">
            <a:avLst/>
          </a:prstGeom>
          <a:solidFill>
            <a:srgbClr val="ABABA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61224" y="2971800"/>
            <a:ext cx="841248" cy="841248"/>
          </a:xfrm>
          <a:prstGeom prst="rect">
            <a:avLst/>
          </a:prstGeom>
          <a:solidFill>
            <a:srgbClr val="D0D0D0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75624" y="2971800"/>
            <a:ext cx="841248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71599" y="4617720"/>
            <a:ext cx="10136909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767378" y="4846320"/>
            <a:ext cx="9464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endParaRPr lang="en-US" sz="25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</a:t>
            </a:r>
            <a:r>
              <a:rPr 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0／1 訊號只有 00、01、10、11 四種組合，8 </a:t>
            </a: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種亮度</a:t>
            </a: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不夠用，怎麼辦？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371600" y="1737360"/>
            <a:ext cx="9418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灰階照片＝每格一個亮度數字＝兩個 0／1 訊號
</a:t>
            </a:r>
            <a:endParaRPr lang="en-US" sz="2400" dirty="0"/>
          </a:p>
          <a:p>
            <a:pPr marL="0" indent="0" algn="ctr">
              <a:buNone/>
            </a:pP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階數越多越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清晰</a:t>
            </a:r>
            <a:r>
              <a:rPr 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資料也越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90008" y="3383280"/>
            <a:ext cx="45720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92928" y="3383280"/>
            <a:ext cx="457200" cy="45720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5848" y="3383280"/>
            <a:ext cx="457200" cy="45720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98768" y="3383280"/>
            <a:ext cx="4572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4297680"/>
            <a:ext cx="9418320" cy="1737360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19050">
            <a:solidFill>
              <a:srgbClr val="FF5C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37360" y="4453497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警報……資料越來越多，可是無線電每秒只能送幾百個訊號！
</a:t>
            </a:r>
            <a:endParaRPr lang="en-US" sz="1900" dirty="0"/>
          </a:p>
          <a:p>
            <a:pPr marL="0" indent="0" algn="ctr">
              <a:spcAft>
                <a:spcPts val="500"/>
              </a:spcAft>
              <a:buNone/>
            </a:pPr>
            <a:r>
              <a:rPr lang="en-US" sz="1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</a:t>
            </a:r>
            <a:r>
              <a:rPr lang="zh-TW" altLang="en-US" sz="1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風暴</a:t>
            </a:r>
            <a:r>
              <a:rPr lang="en-US" sz="1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將至</a:t>
            </a:r>
            <a:r>
              <a:rPr lang="en-US" sz="15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、通訊即將中斷數週，所有照片必須趕在中斷前傳完</a:t>
            </a: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
</a:t>
            </a:r>
            <a:endParaRPr lang="en-US" sz="19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下一節：頻寬告急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798</Words>
  <Application>Microsoft Office PowerPoint</Application>
  <PresentationFormat>寬螢幕</PresentationFormat>
  <Paragraphs>136</Paragraphs>
  <Slides>14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0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38</cp:revision>
  <dcterms:created xsi:type="dcterms:W3CDTF">2026-07-12T04:02:15Z</dcterms:created>
  <dcterms:modified xsi:type="dcterms:W3CDTF">2026-07-13T03:13:53Z</dcterms:modified>
</cp:coreProperties>
</file>