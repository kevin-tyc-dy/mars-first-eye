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62" r:id="rId9"/>
    <p:sldId id="263" r:id="rId10"/>
    <p:sldId id="264" r:id="rId11"/>
    <p:sldId id="265" r:id="rId12"/>
    <p:sldId id="270" r:id="rId20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0B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1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934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開場前播放。上一節照片已經傳回地球，本節從觀察真實照片開始。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出示 1976.7.20 史實影像。提問：這張照片只有『亮』和『暗』兩種嗎？讓學生觀察發現深灰、淺灰、接近白的亮部。（開場討論 6 分鐘）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收斂觀察：有深灰、淺灰、接近白的亮部。追問：上一節只有 0 和 1，這些深深淺淺的灰要怎麼表示？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並排對比：只有亮暗（2 階）會變剪影；有了深淺（4 階）立體感才出現。可搭配任務三頁面的照片觀察畫面。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收斂：每格不只記有無，而是記一個「亮度數字」。補充史實：維京實機用 6 位元記 64 階，這叫位元深度——課堂用 4 階簡化。（發現亮度代碼 6 分鐘）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開放腦力激盪，任何點子都先寫下來，不急著否定。約 3 分鐘收集想法。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682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分組傳輸 5×5 圖卡。遮光是成功關鍵（拉窗簾、關靠窗燈）。干擾太大改三組傳、三組觀察再交換。時間允許才輪替第二張；8×8 為選配進階。（12 分鐘）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859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本節核心認知衝突。給小組 1 分鐘先想，再收集提案。（核心討論共 10 分鐘）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逐一評估提案：①四種亮度的光（可現場手電筒調亮度試驗，體會多階訊號不可靠、兩階最穩——數位勝過類比的理由）②閃不同次數（可行但更慢）③收斂：一格用兩個 0／1 訊號。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兩位元約定：00／01／10／11 對應 0～3。這是學生自己推理出來的結論，教師只做命名：這就是「2 位元」。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總結資料量：8×8 黑白＝64 個訊號；8×8 灰階＝64×2＝128 個訊號，翻倍了！這是第四節壓縮的最強伏筆。（總結 6 分鐘）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課後延伸挑戰（不佔課堂時間）：8 階需要幾個 0/1 訊號？答案是 3 個（000～111 共 8 種組合），對應倍增規律 3 位元＝8 階。請學生把約定表寫在筆記本，下一節開場可請人分享，直接銜接第五節 6 位元＝64 階的推理。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總結兩句話，拋出第四節懸念：資料越來越多，可是無線電這麼慢，怎麼辦？（下一節：頻寬告急）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03 · 火星第一眼：1976 維京一號的拍照任務　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0" y="10515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600" dirty="0">
                <a:solidFill>
                  <a:srgbClr val="5EC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I S S I O N   0 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146304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火星的深與淺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0" y="2697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火星第一眼：1976 維京一號的拍照任務・第三節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060040" y="3657600"/>
            <a:ext cx="713232" cy="713232"/>
          </a:xfrm>
          <a:prstGeom prst="rect">
            <a:avLst/>
          </a:prstGeom>
          <a:solidFill>
            <a:srgbClr val="111111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818992" y="3657600"/>
            <a:ext cx="713232" cy="713232"/>
          </a:xfrm>
          <a:prstGeom prst="rect">
            <a:avLst/>
          </a:prstGeom>
          <a:solidFill>
            <a:srgbClr val="111111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7944" y="3657600"/>
            <a:ext cx="713232" cy="713232"/>
          </a:xfrm>
          <a:prstGeom prst="rect">
            <a:avLst/>
          </a:prstGeom>
          <a:solidFill>
            <a:srgbClr val="4F4F4F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36896" y="3657600"/>
            <a:ext cx="713232" cy="713232"/>
          </a:xfrm>
          <a:prstGeom prst="rect">
            <a:avLst/>
          </a:prstGeom>
          <a:solidFill>
            <a:srgbClr val="4F4F4F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95848" y="3657600"/>
            <a:ext cx="713232" cy="713232"/>
          </a:xfrm>
          <a:prstGeom prst="rect">
            <a:avLst/>
          </a:prstGeom>
          <a:solidFill>
            <a:srgbClr val="A9A9A9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4800" y="3657600"/>
            <a:ext cx="713232" cy="713232"/>
          </a:xfrm>
          <a:prstGeom prst="rect">
            <a:avLst/>
          </a:prstGeom>
          <a:solidFill>
            <a:srgbClr val="A9A9A9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13752" y="3657600"/>
            <a:ext cx="713232" cy="713232"/>
          </a:xfrm>
          <a:prstGeom prst="rect">
            <a:avLst/>
          </a:prstGeom>
          <a:solidFill>
            <a:srgbClr val="F5F1E8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72704" y="3657600"/>
            <a:ext cx="713232" cy="713232"/>
          </a:xfrm>
          <a:prstGeom prst="rect">
            <a:avLst/>
          </a:prstGeom>
          <a:solidFill>
            <a:srgbClr val="F5F1E8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0" y="55778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任務控制中心・廣播即將開始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03 · 火星第一眼：1976 維京一號的拍照任務　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【任務控制中心廣播】照片傳回地球了！</a:t>
            </a:r>
            <a:endParaRPr lang="en-US" sz="2400" dirty="0"/>
          </a:p>
        </p:txBody>
      </p:sp>
      <p:pic>
        <p:nvPicPr>
          <p:cNvPr id="5" name="Image 0" descr="/mnt/user-data/uploads/國小科技課程/Viking_1_First_Image_From_Mars_1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143000"/>
            <a:ext cx="10058400" cy="37398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0" y="49834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1976.7.20・</a:t>
            </a:r>
            <a:r>
              <a:rPr lang="en-US" sz="2500" dirty="0" smtClean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人類第一眼看到的火星地表</a:t>
            </a:r>
            <a:r>
              <a:rPr lang="zh-TW" altLang="en-US" sz="2500" dirty="0" smtClean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</a:t>
            </a:r>
            <a:endParaRPr lang="en-US" sz="2500" dirty="0"/>
          </a:p>
        </p:txBody>
      </p:sp>
      <p:sp>
        <p:nvSpPr>
          <p:cNvPr id="7" name="Text 3"/>
          <p:cNvSpPr/>
          <p:nvPr/>
        </p:nvSpPr>
        <p:spPr>
          <a:xfrm>
            <a:off x="0" y="54864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仔細看：這張照片，只有「亮」和「暗」兩種嗎？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03 · 火星第一眼：1976 維京一號的拍照任務　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你們發現了：不只亮和暗！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2724912" cy="2011680"/>
          </a:xfrm>
          <a:prstGeom prst="roundRect">
            <a:avLst>
              <a:gd name="adj" fmla="val 3636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62456" y="1783080"/>
            <a:ext cx="914400" cy="914400"/>
          </a:xfrm>
          <a:prstGeom prst="rect">
            <a:avLst/>
          </a:prstGeom>
          <a:solidFill>
            <a:srgbClr val="F5F1E8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78892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接近白的亮部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419856" y="1463040"/>
            <a:ext cx="2724912" cy="2011680"/>
          </a:xfrm>
          <a:prstGeom prst="roundRect">
            <a:avLst>
              <a:gd name="adj" fmla="val 3636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25112" y="1783080"/>
            <a:ext cx="914400" cy="914400"/>
          </a:xfrm>
          <a:prstGeom prst="rect">
            <a:avLst/>
          </a:prstGeom>
          <a:solidFill>
            <a:srgbClr val="A9A9A9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19856" y="278892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淺淺的灰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382512" y="1463040"/>
            <a:ext cx="2724912" cy="2011680"/>
          </a:xfrm>
          <a:prstGeom prst="roundRect">
            <a:avLst>
              <a:gd name="adj" fmla="val 3636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287768" y="1783080"/>
            <a:ext cx="914400" cy="914400"/>
          </a:xfrm>
          <a:prstGeom prst="rect">
            <a:avLst/>
          </a:prstGeom>
          <a:solidFill>
            <a:srgbClr val="4F4F4F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2512" y="278892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深深的灰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345168" y="1463040"/>
            <a:ext cx="2724912" cy="2011680"/>
          </a:xfrm>
          <a:prstGeom prst="roundRect">
            <a:avLst>
              <a:gd name="adj" fmla="val 3636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250424" y="1783080"/>
            <a:ext cx="9144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45168" y="278892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最暗的影子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可是——上一節我們的無線電，只有 0 和 1……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0" y="475488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這些深深淺淺的灰，要怎麼表示？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03 · 火星第一眼：1976 維京一號的拍照任務　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同一個隕石坑：只有亮暗 vs 有深有淺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188720" y="14173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645920" y="14173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103120" y="14173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60320" y="14173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17520" y="14173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4173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931920" y="14173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89120" y="14173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88720" y="18745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45920" y="18745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03120" y="18745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60320" y="18745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017520" y="18745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74720" y="18745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931920" y="18745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89120" y="18745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" y="23317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645920" y="23317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103120" y="233172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560320" y="233172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017520" y="233172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74720" y="23317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931920" y="23317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89120" y="23317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188720" y="27889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645920" y="278892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103120" y="278892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560320" y="278892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017520" y="278892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474720" y="278892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931920" y="27889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89120" y="27889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188720" y="32461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645920" y="324612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103120" y="324612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560320" y="324612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017520" y="324612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474720" y="324612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931920" y="32461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389120" y="32461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645920" y="370332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103120" y="370332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560320" y="370332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017520" y="370332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474720" y="370332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931920" y="37033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389120" y="37033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188720" y="41605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645920" y="41605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103120" y="416052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560320" y="41605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017520" y="41605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474720" y="41605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931920" y="41605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389120" y="41605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188720" y="46177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645920" y="46177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103120" y="46177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560320" y="46177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017520" y="46177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474720" y="46177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931920" y="46177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4389120" y="46177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31520" y="5257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</a:t>
            </a:r>
            <a:r>
              <a:rPr lang="zh-TW" altLang="en-US" sz="1600" b="1" dirty="0" smtClean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種顏色</a:t>
            </a:r>
            <a:r>
              <a:rPr lang="en-US" sz="1600" b="1" dirty="0" smtClean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</a:t>
            </a:r>
            <a:r>
              <a:rPr lang="en-US" sz="1600" b="1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只有亮暗）：變成剪影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7315200" y="14173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7772400" y="14173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8229600" y="14173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686800" y="14173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9144000" y="14173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9601200" y="14173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10058400" y="14173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10515600" y="14173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7315200" y="18745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7772400" y="18745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8229600" y="18745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8686800" y="18745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9144000" y="18745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9601200" y="18745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0058400" y="18745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10515600" y="18745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7315200" y="23317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7772400" y="23317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8229600" y="2331720"/>
            <a:ext cx="457200" cy="457200"/>
          </a:xfrm>
          <a:prstGeom prst="rect">
            <a:avLst/>
          </a:prstGeom>
          <a:solidFill>
            <a:srgbClr val="4F4F4F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8686800" y="2331720"/>
            <a:ext cx="457200" cy="457200"/>
          </a:xfrm>
          <a:prstGeom prst="rect">
            <a:avLst/>
          </a:prstGeom>
          <a:solidFill>
            <a:srgbClr val="4F4F4F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9144000" y="2331720"/>
            <a:ext cx="457200" cy="457200"/>
          </a:xfrm>
          <a:prstGeom prst="rect">
            <a:avLst/>
          </a:prstGeom>
          <a:solidFill>
            <a:srgbClr val="4F4F4F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9601200" y="23317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10058400" y="23317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10515600" y="23317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7315200" y="27889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7772400" y="2788920"/>
            <a:ext cx="457200" cy="457200"/>
          </a:xfrm>
          <a:prstGeom prst="rect">
            <a:avLst/>
          </a:prstGeom>
          <a:solidFill>
            <a:srgbClr val="4F4F4F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8229600" y="278892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8686800" y="278892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9144000" y="278892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9601200" y="2788920"/>
            <a:ext cx="457200" cy="457200"/>
          </a:xfrm>
          <a:prstGeom prst="rect">
            <a:avLst/>
          </a:prstGeom>
          <a:solidFill>
            <a:srgbClr val="4F4F4F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10058400" y="27889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10515600" y="2788920"/>
            <a:ext cx="457200" cy="457200"/>
          </a:xfrm>
          <a:prstGeom prst="rect">
            <a:avLst/>
          </a:prstGeom>
          <a:solidFill>
            <a:srgbClr val="F5F1E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7315200" y="32461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7772400" y="3246120"/>
            <a:ext cx="457200" cy="457200"/>
          </a:xfrm>
          <a:prstGeom prst="rect">
            <a:avLst/>
          </a:prstGeom>
          <a:solidFill>
            <a:srgbClr val="4F4F4F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8229600" y="324612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8686800" y="3246120"/>
            <a:ext cx="457200" cy="457200"/>
          </a:xfrm>
          <a:prstGeom prst="rect">
            <a:avLst/>
          </a:prstGeom>
          <a:solidFill>
            <a:srgbClr val="4F4F4F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9144000" y="324612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9601200" y="3246120"/>
            <a:ext cx="457200" cy="457200"/>
          </a:xfrm>
          <a:prstGeom prst="rect">
            <a:avLst/>
          </a:prstGeom>
          <a:solidFill>
            <a:srgbClr val="4F4F4F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10058400" y="32461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10515600" y="32461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7315200" y="37033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7772400" y="3703320"/>
            <a:ext cx="457200" cy="457200"/>
          </a:xfrm>
          <a:prstGeom prst="rect">
            <a:avLst/>
          </a:prstGeom>
          <a:solidFill>
            <a:srgbClr val="4F4F4F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8229600" y="3703320"/>
            <a:ext cx="457200" cy="457200"/>
          </a:xfrm>
          <a:prstGeom prst="rect">
            <a:avLst/>
          </a:prstGeom>
          <a:solidFill>
            <a:srgbClr val="4F4F4F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8686800" y="3703320"/>
            <a:ext cx="457200" cy="457200"/>
          </a:xfrm>
          <a:prstGeom prst="rect">
            <a:avLst/>
          </a:prstGeom>
          <a:solidFill>
            <a:srgbClr val="4F4F4F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9144000" y="3703320"/>
            <a:ext cx="457200" cy="457200"/>
          </a:xfrm>
          <a:prstGeom prst="rect">
            <a:avLst/>
          </a:prstGeom>
          <a:solidFill>
            <a:srgbClr val="4F4F4F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9601200" y="3703320"/>
            <a:ext cx="457200" cy="457200"/>
          </a:xfrm>
          <a:prstGeom prst="rect">
            <a:avLst/>
          </a:prstGeom>
          <a:solidFill>
            <a:srgbClr val="4F4F4F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10058400" y="37033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10515600" y="37033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7315200" y="41605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7772400" y="41605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8229600" y="4160520"/>
            <a:ext cx="457200" cy="457200"/>
          </a:xfrm>
          <a:prstGeom prst="rect">
            <a:avLst/>
          </a:prstGeom>
          <a:solidFill>
            <a:srgbClr val="4F4F4F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8686800" y="41605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9144000" y="41605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9601200" y="41605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10058400" y="41605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10515600" y="41605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7315200" y="46177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7772400" y="46177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8229600" y="46177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8686800" y="46177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9144000" y="46177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9601200" y="46177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10058400" y="46177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10515600" y="461772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6858000" y="5257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</a:t>
            </a:r>
            <a:r>
              <a:rPr lang="zh-TW" altLang="en-US" sz="16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種顏色</a:t>
            </a:r>
            <a:r>
              <a:rPr lang="en-US" sz="16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</a:t>
            </a:r>
            <a:r>
              <a:rPr lang="en-US" sz="1600" b="1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黑・深灰・淺灰・白）：立體感出現了</a:t>
            </a:r>
            <a:endParaRPr lang="en-US" sz="1600" dirty="0"/>
          </a:p>
        </p:txBody>
      </p:sp>
      <p:sp>
        <p:nvSpPr>
          <p:cNvPr id="135" name="Text 132"/>
          <p:cNvSpPr/>
          <p:nvPr/>
        </p:nvSpPr>
        <p:spPr>
          <a:xfrm>
            <a:off x="5486400" y="2926080"/>
            <a:ext cx="1216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03 · 火星第一眼：1976 維京一號的拍照任務　5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新的協定「</a:t>
            </a:r>
            <a:r>
              <a:rPr lang="en-US" sz="3000" b="1" dirty="0" err="1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亮度代碼</a:t>
            </a: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r>
              <a:rPr 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en-US" sz="3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每格記一個數字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2724912" cy="2834640"/>
          </a:xfrm>
          <a:prstGeom prst="roundRect">
            <a:avLst>
              <a:gd name="adj" fmla="val 2685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71016" y="1691640"/>
            <a:ext cx="1097280" cy="1097280"/>
          </a:xfrm>
          <a:prstGeom prst="rect">
            <a:avLst/>
          </a:prstGeom>
          <a:solidFill>
            <a:srgbClr val="111111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880360"/>
            <a:ext cx="2724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57200" y="356616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黑（最暗）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19856" y="1371600"/>
            <a:ext cx="2724912" cy="2834640"/>
          </a:xfrm>
          <a:prstGeom prst="roundRect">
            <a:avLst>
              <a:gd name="adj" fmla="val 2685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33672" y="1691640"/>
            <a:ext cx="1097280" cy="1097280"/>
          </a:xfrm>
          <a:prstGeom prst="rect">
            <a:avLst/>
          </a:prstGeom>
          <a:solidFill>
            <a:srgbClr val="4F4F4F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19856" y="2880360"/>
            <a:ext cx="2724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3419856" y="356616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深灰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382512" y="1371600"/>
            <a:ext cx="2724912" cy="2834640"/>
          </a:xfrm>
          <a:prstGeom prst="roundRect">
            <a:avLst>
              <a:gd name="adj" fmla="val 2685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96328" y="1691640"/>
            <a:ext cx="1097280" cy="1097280"/>
          </a:xfrm>
          <a:prstGeom prst="rect">
            <a:avLst/>
          </a:prstGeom>
          <a:solidFill>
            <a:srgbClr val="A9A9A9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82512" y="2880360"/>
            <a:ext cx="2724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6382512" y="356616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345168" y="1371600"/>
            <a:ext cx="2724912" cy="2834640"/>
          </a:xfrm>
          <a:prstGeom prst="roundRect">
            <a:avLst>
              <a:gd name="adj" fmla="val 2685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158984" y="1691640"/>
            <a:ext cx="1097280" cy="1097280"/>
          </a:xfrm>
          <a:prstGeom prst="rect">
            <a:avLst/>
          </a:prstGeom>
          <a:solidFill>
            <a:srgbClr val="F5F1E8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45168" y="2880360"/>
            <a:ext cx="2724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9345168" y="356616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白（最亮）</a:t>
            </a:r>
            <a:endParaRPr lang="en-US" sz="1500" dirty="0"/>
          </a:p>
        </p:txBody>
      </p:sp>
      <p:sp>
        <p:nvSpPr>
          <p:cNvPr id="24" name="Shape 2"/>
          <p:cNvSpPr/>
          <p:nvPr/>
        </p:nvSpPr>
        <p:spPr>
          <a:xfrm>
            <a:off x="2152164" y="4758543"/>
            <a:ext cx="9790453" cy="1506451"/>
          </a:xfrm>
          <a:prstGeom prst="roundRect">
            <a:avLst>
              <a:gd name="adj" fmla="val 2685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3" name="矩形 22"/>
          <p:cNvSpPr/>
          <p:nvPr/>
        </p:nvSpPr>
        <p:spPr>
          <a:xfrm>
            <a:off x="2368296" y="5085972"/>
            <a:ext cx="93360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知識點：</a:t>
            </a:r>
            <a:endParaRPr lang="en-US" altLang="zh-TW" sz="2400" b="1" dirty="0" smtClean="0">
              <a:solidFill>
                <a:schemeClr val="accent2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zh-TW" altLang="en-US" sz="24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這裡的顏色數量，我們稱之為「灰階」，這裡有四種顏色，稱為</a:t>
            </a:r>
            <a:r>
              <a:rPr lang="en-US" altLang="zh-TW" sz="24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r>
              <a:rPr lang="zh-TW" altLang="en-US" sz="24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階。</a:t>
            </a:r>
            <a:endParaRPr lang="en-US" altLang="zh-TW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02 · 火星第一眼：1976 維京一號的拍照任務　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959" y="28346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5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讓維</a:t>
            </a:r>
            <a:r>
              <a:rPr lang="zh-TW" altLang="en-US" sz="5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京</a:t>
            </a:r>
            <a:r>
              <a:rPr lang="zh-TW" altLang="en-US" sz="5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一號發送更清晰的照片！</a:t>
            </a:r>
            <a:endParaRPr lang="en-US" sz="5000" dirty="0"/>
          </a:p>
        </p:txBody>
      </p:sp>
      <p:sp>
        <p:nvSpPr>
          <p:cNvPr id="9" name="Text 39"/>
          <p:cNvSpPr/>
          <p:nvPr/>
        </p:nvSpPr>
        <p:spPr>
          <a:xfrm>
            <a:off x="379923" y="1900382"/>
            <a:ext cx="45061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2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傳送「亮度代碼」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75963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02 · 火星第一眼：1976 維京一號的拍照任務　8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</a:t>
            </a:r>
            <a:r>
              <a:rPr 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</a:t>
            </a:r>
            <a:r>
              <a:rPr lang="zh-TW" altLang="en-US" sz="3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傳送「亮度代碼」</a:t>
            </a:r>
          </a:p>
          <a:p>
            <a:pPr marL="0" indent="0">
              <a:buNone/>
            </a:pP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199" y="1280160"/>
            <a:ext cx="11402291" cy="4434840"/>
          </a:xfrm>
          <a:prstGeom prst="roundRect">
            <a:avLst>
              <a:gd name="adj" fmla="val 1649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8073" y="1554480"/>
            <a:ext cx="10760363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🔦 任務流程</a:t>
            </a:r>
            <a:r>
              <a:rPr lang="en-US" sz="18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
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組先擔任</a:t>
            </a:r>
            <a:r>
              <a:rPr lang="zh-TW" altLang="en-US" sz="3000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火星</a:t>
            </a:r>
            <a:r>
              <a:rPr lang="en-US" sz="3000" b="1" dirty="0" err="1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訊號官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zh-TW" altLang="en-US" sz="30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：領取火星灰階地貌圖和</a:t>
            </a:r>
            <a:r>
              <a:rPr lang="zh-TW" altLang="en-US" sz="30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　在紀錄卡上逐</a:t>
            </a:r>
            <a:r>
              <a:rPr lang="zh-TW" altLang="en-US" sz="30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 </a:t>
            </a:r>
            <a:r>
              <a:rPr lang="en-US" altLang="zh-TW" sz="30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r>
              <a:rPr lang="zh-TW" altLang="en-US" sz="30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～</a:t>
            </a:r>
            <a:r>
              <a:rPr lang="en-US" altLang="zh-TW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的亮度代碼，完成後傳到下一組。</a:t>
            </a:r>
            <a:endParaRPr lang="en-US" sz="3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各組收到記錄卡後化身為</a:t>
            </a:r>
            <a:r>
              <a:rPr lang="zh-TW" altLang="en-US" sz="3000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地球</a:t>
            </a:r>
            <a:r>
              <a:rPr lang="zh-TW" altLang="en-US" sz="3000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訊號官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，任務：讀取訊號</a:t>
            </a:r>
            <a:r>
              <a:rPr lang="en-US" altLang="zh-TW" sz="30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利用灰階小卡或是任務工具</a:t>
            </a:r>
            <a:r>
              <a:rPr lang="en-US" sz="3000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塗格還原</a:t>
            </a:r>
            <a:endParaRPr lang="en-US" sz="3000" dirty="0" smtClean="0">
              <a:solidFill>
                <a:srgbClr val="F2E3C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最後和</a:t>
            </a:r>
            <a:r>
              <a:rPr lang="en-US" sz="3000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原圖比對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，看看你的</a:t>
            </a:r>
            <a:r>
              <a:rPr lang="en-US" sz="3000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正確格數</a:t>
            </a:r>
            <a:endParaRPr lang="en-US" sz="3000" dirty="0"/>
          </a:p>
        </p:txBody>
      </p:sp>
      <p:sp>
        <p:nvSpPr>
          <p:cNvPr id="9" name="Shape 2"/>
          <p:cNvSpPr/>
          <p:nvPr/>
        </p:nvSpPr>
        <p:spPr>
          <a:xfrm>
            <a:off x="3565237" y="5853939"/>
            <a:ext cx="8294253" cy="792988"/>
          </a:xfrm>
          <a:prstGeom prst="roundRect">
            <a:avLst>
              <a:gd name="adj" fmla="val 1649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3"/>
          <p:cNvSpPr/>
          <p:nvPr/>
        </p:nvSpPr>
        <p:spPr>
          <a:xfrm>
            <a:off x="3867727" y="6035594"/>
            <a:ext cx="7809345" cy="614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30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🔦 </a:t>
            </a:r>
            <a:r>
              <a:rPr lang="zh-TW" altLang="en-US" sz="30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高階挑戰 </a:t>
            </a:r>
            <a:r>
              <a:rPr lang="zh-TW" altLang="en-US" sz="2000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</a:t>
            </a:r>
            <a:r>
              <a:rPr lang="en-US" altLang="zh-TW" sz="2000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QR</a:t>
            </a:r>
            <a:r>
              <a:rPr lang="zh-TW" altLang="en-US" sz="2000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碼將維京一號拍攝的灰階照片還原訊號吧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098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03 · 火星第一眼：1976 維京一號的拍照任務　7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⚡ </a:t>
            </a:r>
            <a:r>
              <a:rPr lang="en-US" sz="2400" b="1" dirty="0" err="1" smtClean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</a:t>
            </a:r>
            <a:r>
              <a:rPr lang="zh-TW" altLang="en-US" sz="2400" b="1" dirty="0" smtClean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困難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0" y="19202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無線電每一瞬間，只有「有訊號」和「沒訊號」兩種。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 0 和 1，怎麼傳 0～3？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2721032" y="3776472"/>
            <a:ext cx="7780713" cy="1719072"/>
          </a:xfrm>
          <a:prstGeom prst="roundRect">
            <a:avLst>
              <a:gd name="adj" fmla="val 6154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11763" y="3913632"/>
            <a:ext cx="71189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500" b="1" dirty="0" err="1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小組討論</a:t>
            </a:r>
            <a:r>
              <a:rPr lang="en-US" sz="25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25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</a:t>
            </a:r>
            <a:r>
              <a:rPr lang="en-US" sz="25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分鐘
</a:t>
            </a:r>
            <a:endParaRPr lang="en-US" sz="2500" dirty="0"/>
          </a:p>
          <a:p>
            <a:pPr marL="0" indent="0">
              <a:buNone/>
            </a:pPr>
            <a:r>
              <a:rPr lang="zh-TW" altLang="en-US" sz="25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想一想，要如何記錄訊號，還有要如何傳送出去呢？</a:t>
            </a:r>
            <a:endParaRPr lang="en-US" sz="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2"/>
          <p:cNvSpPr/>
          <p:nvPr/>
        </p:nvSpPr>
        <p:spPr>
          <a:xfrm>
            <a:off x="2831176" y="5303520"/>
            <a:ext cx="8918864" cy="992447"/>
          </a:xfrm>
          <a:prstGeom prst="roundRect">
            <a:avLst>
              <a:gd name="adj" fmla="val 2162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03 · 火星第一眼：1976 維京一號的拍照任務　8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我們的</a:t>
            </a:r>
            <a:r>
              <a:rPr lang="en-US" sz="3000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辦法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554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bg1"/>
                </a:solidFill>
              </a:rPr>
              <a:t>🔆</a:t>
            </a:r>
          </a:p>
        </p:txBody>
      </p:sp>
      <p:sp>
        <p:nvSpPr>
          <p:cNvPr id="7" name="Text 4"/>
          <p:cNvSpPr/>
          <p:nvPr/>
        </p:nvSpPr>
        <p:spPr>
          <a:xfrm>
            <a:off x="594360" y="22402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用四種亮度的光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500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</a:t>
            </a:r>
            <a:r>
              <a:rPr lang="en-US" sz="2500" dirty="0" err="1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接收端要分辨四級亮度</a:t>
            </a:r>
            <a:r>
              <a:rPr lang="en-US" sz="2500" dirty="0" err="1" smtClean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，很容易誤判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4434840" y="132588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34840" y="1554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bg1"/>
                </a:solidFill>
              </a:rPr>
              <a:t>✨</a:t>
            </a:r>
          </a:p>
        </p:txBody>
      </p:sp>
      <p:sp>
        <p:nvSpPr>
          <p:cNvPr id="11" name="Text 8"/>
          <p:cNvSpPr/>
          <p:nvPr/>
        </p:nvSpPr>
        <p:spPr>
          <a:xfrm>
            <a:off x="4572000" y="22402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閃不同的次數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4709160" y="28346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500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可行，但更慢、</a:t>
            </a:r>
            <a:endParaRPr lang="en-US" sz="2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500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拍子更難數</a:t>
            </a:r>
            <a:endParaRPr lang="en-US" sz="2500" dirty="0"/>
          </a:p>
        </p:txBody>
      </p:sp>
      <p:sp>
        <p:nvSpPr>
          <p:cNvPr id="13" name="Shape 10"/>
          <p:cNvSpPr/>
          <p:nvPr/>
        </p:nvSpPr>
        <p:spPr>
          <a:xfrm>
            <a:off x="8412480" y="132588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0D1424"/>
          </a:solidFill>
          <a:ln w="22225">
            <a:solidFill>
              <a:srgbClr val="5EC8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0" y="1554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bg1"/>
                </a:solidFill>
              </a:rPr>
              <a:t>✌</a:t>
            </a:r>
          </a:p>
        </p:txBody>
      </p:sp>
      <p:sp>
        <p:nvSpPr>
          <p:cNvPr id="15" name="Text 12"/>
          <p:cNvSpPr/>
          <p:nvPr/>
        </p:nvSpPr>
        <p:spPr>
          <a:xfrm>
            <a:off x="8549640" y="22402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一格用兩個 0／1 訊號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8686800" y="28346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500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</a:t>
            </a:r>
            <a:r>
              <a:rPr lang="zh-TW" altLang="en-US" sz="2500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</a:t>
            </a:r>
            <a:r>
              <a:rPr lang="en-US" sz="2500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穩</a:t>
            </a:r>
            <a:r>
              <a:rPr lang="zh-TW" altLang="en-US" sz="2500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定和</a:t>
            </a:r>
            <a:r>
              <a:rPr lang="en-US" sz="2500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</a:t>
            </a:r>
            <a:r>
              <a:rPr lang="zh-TW" altLang="en-US" sz="2500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</a:t>
            </a:r>
            <a:r>
              <a:rPr lang="en-US" sz="2500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！</a:t>
            </a:r>
            <a:endParaRPr lang="en-US" sz="2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500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兩個訊號剛好有四種組合</a:t>
            </a:r>
            <a:endParaRPr lang="en-US" sz="2500" dirty="0"/>
          </a:p>
        </p:txBody>
      </p:sp>
      <p:sp>
        <p:nvSpPr>
          <p:cNvPr id="17" name="Text 14"/>
          <p:cNvSpPr/>
          <p:nvPr/>
        </p:nvSpPr>
        <p:spPr>
          <a:xfrm>
            <a:off x="3104226" y="5532120"/>
            <a:ext cx="83727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4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科學家的做法：</a:t>
            </a:r>
            <a:r>
              <a:rPr lang="en-US" sz="2400" b="1" dirty="0" err="1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一格的亮度</a:t>
            </a:r>
            <a:r>
              <a:rPr lang="en-US" sz="2400" b="1" dirty="0" err="1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，用「兩個</a:t>
            </a:r>
            <a:r>
              <a:rPr lang="en-US" sz="24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0／1 訊號」傳送！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03 · 火星第一眼：1976 維京一號的拍照任務　9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</a:t>
            </a: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個數字的</a:t>
            </a:r>
            <a:r>
              <a:rPr lang="en-US" sz="3000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約定</a:t>
            </a:r>
            <a:r>
              <a:rPr lang="en-US" sz="3000" b="1" dirty="0" err="1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：四種組合，剛剛好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2724912" cy="3108960"/>
          </a:xfrm>
          <a:prstGeom prst="roundRect">
            <a:avLst>
              <a:gd name="adj" fmla="val 2685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600200"/>
            <a:ext cx="2724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EC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237744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499616" y="2880360"/>
            <a:ext cx="64008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61188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0（黑）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419856" y="1371600"/>
            <a:ext cx="2724912" cy="3108960"/>
          </a:xfrm>
          <a:prstGeom prst="roundRect">
            <a:avLst>
              <a:gd name="adj" fmla="val 2685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19856" y="1600200"/>
            <a:ext cx="2724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EC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3419856" y="237744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462272" y="2880360"/>
            <a:ext cx="640080" cy="640080"/>
          </a:xfrm>
          <a:prstGeom prst="rect">
            <a:avLst/>
          </a:prstGeom>
          <a:solidFill>
            <a:srgbClr val="4F4F4F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19856" y="361188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1（深灰）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382512" y="1371600"/>
            <a:ext cx="2724912" cy="3108960"/>
          </a:xfrm>
          <a:prstGeom prst="roundRect">
            <a:avLst>
              <a:gd name="adj" fmla="val 2685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82512" y="1600200"/>
            <a:ext cx="2724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EC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6382512" y="237744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7424928" y="2880360"/>
            <a:ext cx="640080" cy="640080"/>
          </a:xfrm>
          <a:prstGeom prst="rect">
            <a:avLst/>
          </a:prstGeom>
          <a:solidFill>
            <a:srgbClr val="A9A9A9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82512" y="361188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2（淺灰）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9345168" y="1371600"/>
            <a:ext cx="2724912" cy="3108960"/>
          </a:xfrm>
          <a:prstGeom prst="roundRect">
            <a:avLst>
              <a:gd name="adj" fmla="val 2685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45168" y="1600200"/>
            <a:ext cx="2724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EC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4000" dirty="0"/>
          </a:p>
        </p:txBody>
      </p:sp>
      <p:sp>
        <p:nvSpPr>
          <p:cNvPr id="22" name="Text 19"/>
          <p:cNvSpPr/>
          <p:nvPr/>
        </p:nvSpPr>
        <p:spPr>
          <a:xfrm>
            <a:off x="9345168" y="237744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10387584" y="2880360"/>
            <a:ext cx="640080" cy="640080"/>
          </a:xfrm>
          <a:prstGeom prst="rect">
            <a:avLst/>
          </a:prstGeom>
          <a:solidFill>
            <a:srgbClr val="F5F1E8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345168" y="361188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3（白）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61637" y="46177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</a:t>
            </a:r>
            <a:r>
              <a:rPr lang="zh-TW" altLang="en-US" sz="24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個數字</a:t>
            </a:r>
            <a:r>
              <a:rPr lang="en-US" sz="24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24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2 </a:t>
            </a:r>
            <a:r>
              <a:rPr lang="zh-TW" altLang="en-US" sz="24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種顏色</a:t>
            </a:r>
            <a:r>
              <a:rPr lang="en-US" sz="24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2 </a:t>
            </a:r>
            <a:r>
              <a:rPr lang="zh-TW" altLang="en-US" sz="24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個數字</a:t>
            </a:r>
            <a:r>
              <a:rPr lang="en-US" sz="24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24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4 </a:t>
            </a:r>
            <a:r>
              <a:rPr lang="zh-TW" altLang="en-US" sz="24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種顏色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457200" y="533095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咦……</a:t>
            </a:r>
            <a:r>
              <a:rPr lang="en-US" sz="2500" dirty="0" err="1" smtClean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每多一個</a:t>
            </a:r>
            <a:r>
              <a:rPr lang="zh-TW" altLang="en-US" sz="2500" dirty="0" smtClean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</a:t>
            </a:r>
            <a:r>
              <a:rPr lang="en-US" sz="2500" dirty="0" smtClean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en-US" sz="25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階數好像會發生什麼事？先記住這個感覺！</a:t>
            </a:r>
            <a:endParaRPr lang="en-US" sz="2500" dirty="0"/>
          </a:p>
        </p:txBody>
      </p:sp>
      <p:sp>
        <p:nvSpPr>
          <p:cNvPr id="27" name="Shape 2"/>
          <p:cNvSpPr/>
          <p:nvPr/>
        </p:nvSpPr>
        <p:spPr>
          <a:xfrm>
            <a:off x="3846022" y="5941290"/>
            <a:ext cx="7985761" cy="768466"/>
          </a:xfrm>
          <a:prstGeom prst="roundRect">
            <a:avLst>
              <a:gd name="adj" fmla="val 2685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8" name="矩形 27"/>
          <p:cNvSpPr/>
          <p:nvPr/>
        </p:nvSpPr>
        <p:spPr>
          <a:xfrm>
            <a:off x="4114800" y="6003168"/>
            <a:ext cx="84974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知識點：</a:t>
            </a:r>
            <a:endParaRPr lang="en-US" altLang="zh-TW" b="1" dirty="0" smtClean="0">
              <a:solidFill>
                <a:schemeClr val="accent2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en-US" altLang="zh-TW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</a:t>
            </a:r>
            <a:r>
              <a:rPr lang="zh-TW" altLang="en-US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個數字</a:t>
            </a:r>
            <a:r>
              <a:rPr lang="en-US" altLang="zh-TW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2 </a:t>
            </a:r>
            <a:r>
              <a:rPr lang="zh-TW" altLang="en-US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</a:t>
            </a:r>
            <a:r>
              <a:rPr lang="zh-TW" altLang="en-US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顏色，這個數字</a:t>
            </a:r>
            <a:r>
              <a:rPr lang="zh-TW" altLang="en-US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我們稱之為「位元」，</a:t>
            </a:r>
            <a:r>
              <a:rPr lang="en-US" altLang="zh-TW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r>
              <a:rPr lang="zh-TW" altLang="en-US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階灰階是</a:t>
            </a:r>
            <a:r>
              <a:rPr lang="en-US" altLang="zh-TW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r>
              <a:rPr lang="zh-TW" altLang="en-US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位元。</a:t>
            </a:r>
            <a:endParaRPr lang="en-US" altLang="zh-TW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03 · 火星第一眼：1976 維京一號的拍照任務　10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資料量</a:t>
            </a: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也會增加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463040"/>
            <a:ext cx="4937760" cy="3108960"/>
          </a:xfrm>
          <a:prstGeom prst="roundRect">
            <a:avLst>
              <a:gd name="adj" fmla="val 235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8×8 黑白照片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2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660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個訊號（每格 1 個）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46520" y="1463040"/>
            <a:ext cx="4937760" cy="3108960"/>
          </a:xfrm>
          <a:prstGeom prst="roundRect">
            <a:avLst>
              <a:gd name="adj" fmla="val 2353"/>
            </a:avLst>
          </a:prstGeom>
          <a:solidFill>
            <a:srgbClr val="0D1424"/>
          </a:solidFill>
          <a:ln w="22225">
            <a:solidFill>
              <a:srgbClr val="FFB3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8×8 灰階照片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46520" y="22860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endParaRPr lang="en-US" sz="6600" dirty="0"/>
          </a:p>
        </p:txBody>
      </p:sp>
      <p:sp>
        <p:nvSpPr>
          <p:cNvPr id="12" name="Text 9"/>
          <p:cNvSpPr/>
          <p:nvPr/>
        </p:nvSpPr>
        <p:spPr>
          <a:xfrm>
            <a:off x="6446520" y="3566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個訊號（每格 2 個，64×2）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4892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照片變</a:t>
            </a:r>
            <a:r>
              <a:rPr lang="zh-TW" altLang="en-US" sz="20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清楚</a:t>
            </a:r>
            <a:r>
              <a:rPr lang="en-US" sz="2000" b="1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了</a:t>
            </a:r>
            <a:r>
              <a:rPr lang="en-US" sz="2000" b="1" dirty="0" err="1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，卻也變</a:t>
            </a:r>
            <a:r>
              <a:rPr lang="en-US" sz="20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</a:t>
            </a:r>
            <a:r>
              <a:rPr lang="zh-TW" altLang="en-US" sz="20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</a:t>
            </a:r>
            <a:r>
              <a:rPr lang="en-US" sz="20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」了</a:t>
            </a:r>
            <a:r>
              <a:rPr lang="zh-TW" altLang="en-US" sz="20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en-US" sz="2000" b="1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想要更多</a:t>
            </a:r>
            <a:r>
              <a:rPr lang="zh-TW" altLang="en-US" sz="20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細節</a:t>
            </a:r>
            <a:r>
              <a:rPr lang="en-US" sz="20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en-US" sz="2000" b="1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就要</a:t>
            </a:r>
            <a:r>
              <a:rPr lang="zh-TW" altLang="en-US" sz="20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傳送更多</a:t>
            </a:r>
            <a:r>
              <a:rPr lang="en-US" sz="2000" b="1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</a:t>
            </a:r>
            <a:r>
              <a:rPr lang="en-US" sz="2000" b="1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03 · 火星第一眼：1976 維京一號的拍照任務　12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📱 綜合活動：把你的照片變黑白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0" y="123444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在平板為自己的照片套上黑白（灰階）濾鏡，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0" y="196596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照片裡有幾種灰？數得完嗎？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2474824" y="2971800"/>
            <a:ext cx="841248" cy="841248"/>
          </a:xfrm>
          <a:prstGeom prst="rect">
            <a:avLst/>
          </a:prstGeom>
          <a:solidFill>
            <a:srgbClr val="0A0A0A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89224" y="2971800"/>
            <a:ext cx="841248" cy="841248"/>
          </a:xfrm>
          <a:prstGeom prst="rect">
            <a:avLst/>
          </a:prstGeom>
          <a:solidFill>
            <a:srgbClr val="2B2B2B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03624" y="2971800"/>
            <a:ext cx="841248" cy="841248"/>
          </a:xfrm>
          <a:prstGeom prst="rect">
            <a:avLst/>
          </a:prstGeom>
          <a:solidFill>
            <a:srgbClr val="4747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218024" y="2971800"/>
            <a:ext cx="841248" cy="841248"/>
          </a:xfrm>
          <a:prstGeom prst="rect">
            <a:avLst/>
          </a:prstGeom>
          <a:solidFill>
            <a:srgbClr val="666666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32424" y="2971800"/>
            <a:ext cx="841248" cy="841248"/>
          </a:xfrm>
          <a:prstGeom prst="rect">
            <a:avLst/>
          </a:prstGeom>
          <a:solidFill>
            <a:srgbClr val="898989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046824" y="2971800"/>
            <a:ext cx="841248" cy="841248"/>
          </a:xfrm>
          <a:prstGeom prst="rect">
            <a:avLst/>
          </a:prstGeom>
          <a:solidFill>
            <a:srgbClr val="ABABAB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961224" y="2971800"/>
            <a:ext cx="841248" cy="841248"/>
          </a:xfrm>
          <a:prstGeom prst="rect">
            <a:avLst/>
          </a:prstGeom>
          <a:solidFill>
            <a:srgbClr val="D0D0D0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875624" y="2971800"/>
            <a:ext cx="841248" cy="841248"/>
          </a:xfrm>
          <a:prstGeom prst="rect">
            <a:avLst/>
          </a:prstGeom>
          <a:solidFill>
            <a:srgbClr val="F5F1E8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371599" y="4617720"/>
            <a:ext cx="10136909" cy="1371600"/>
          </a:xfrm>
          <a:prstGeom prst="roundRect">
            <a:avLst>
              <a:gd name="adj" fmla="val 533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767378" y="4846320"/>
            <a:ext cx="9464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5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</a:t>
            </a:r>
            <a:endParaRPr lang="en-US" sz="2500" dirty="0" smtClean="0">
              <a:solidFill>
                <a:srgbClr val="C9D6E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22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黑白照片不是只剩黑與白——深深淺淺的灰階層次，靠的正是更多階的「亮度數字」。</a:t>
            </a:r>
            <a:r>
              <a:rPr lang="en-US" sz="22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r>
              <a:rPr lang="en-US" sz="22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r>
              <a:rPr lang="en-US" sz="22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r>
              <a:rPr lang="zh-TW" altLang="en-US" sz="22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03 · 火星第一眼：1976 維京一號的拍照任務　11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🏠 課後延伸挑戰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0" y="123444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想一想：把灰色的色階增加為 8 種，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0" y="196596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訊號要怎麼約定呢？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2474824" y="2971800"/>
            <a:ext cx="841248" cy="841248"/>
          </a:xfrm>
          <a:prstGeom prst="rect">
            <a:avLst/>
          </a:prstGeom>
          <a:solidFill>
            <a:srgbClr val="0A0A0A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89224" y="2971800"/>
            <a:ext cx="841248" cy="841248"/>
          </a:xfrm>
          <a:prstGeom prst="rect">
            <a:avLst/>
          </a:prstGeom>
          <a:solidFill>
            <a:srgbClr val="2B2B2B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03624" y="2971800"/>
            <a:ext cx="841248" cy="841248"/>
          </a:xfrm>
          <a:prstGeom prst="rect">
            <a:avLst/>
          </a:prstGeom>
          <a:solidFill>
            <a:srgbClr val="474747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218024" y="2971800"/>
            <a:ext cx="841248" cy="841248"/>
          </a:xfrm>
          <a:prstGeom prst="rect">
            <a:avLst/>
          </a:prstGeom>
          <a:solidFill>
            <a:srgbClr val="666666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32424" y="2971800"/>
            <a:ext cx="841248" cy="841248"/>
          </a:xfrm>
          <a:prstGeom prst="rect">
            <a:avLst/>
          </a:prstGeom>
          <a:solidFill>
            <a:srgbClr val="898989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046824" y="2971800"/>
            <a:ext cx="841248" cy="841248"/>
          </a:xfrm>
          <a:prstGeom prst="rect">
            <a:avLst/>
          </a:prstGeom>
          <a:solidFill>
            <a:srgbClr val="ABABAB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961224" y="2971800"/>
            <a:ext cx="841248" cy="841248"/>
          </a:xfrm>
          <a:prstGeom prst="rect">
            <a:avLst/>
          </a:prstGeom>
          <a:solidFill>
            <a:srgbClr val="D0D0D0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875624" y="2971800"/>
            <a:ext cx="841248" cy="841248"/>
          </a:xfrm>
          <a:prstGeom prst="rect">
            <a:avLst/>
          </a:prstGeom>
          <a:solidFill>
            <a:srgbClr val="F5F1E8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371599" y="4617720"/>
            <a:ext cx="10136909" cy="1371600"/>
          </a:xfrm>
          <a:prstGeom prst="roundRect">
            <a:avLst>
              <a:gd name="adj" fmla="val 533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767378" y="4846320"/>
            <a:ext cx="9464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5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</a:t>
            </a:r>
            <a:endParaRPr lang="en-US" sz="2500" dirty="0" smtClean="0">
              <a:solidFill>
                <a:srgbClr val="C9D6E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22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</a:t>
            </a:r>
            <a:r>
              <a:rPr lang="en-US" sz="22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22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0／1 訊號只有 00、01、10、11 四種組合，8 </a:t>
            </a:r>
            <a:r>
              <a:rPr lang="en-US" sz="22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種亮度</a:t>
            </a:r>
            <a:r>
              <a:rPr lang="zh-TW" altLang="en-US" sz="22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不夠用，怎麼辦？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03 · 火星第一眼：1976 維京一號的拍照任務　12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0" y="73152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今日任務完成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371600" y="1737360"/>
            <a:ext cx="9418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灰階照片＝每格一個亮度數字＝兩個 0／1 訊號
</a:t>
            </a:r>
            <a:endParaRPr lang="en-US" sz="2400" dirty="0"/>
          </a:p>
          <a:p>
            <a:pPr marL="0" indent="0" algn="ctr">
              <a:buNone/>
            </a:pPr>
            <a:r>
              <a:rPr lang="en-US" sz="20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階數越多越</a:t>
            </a:r>
            <a:r>
              <a:rPr lang="zh-TW" altLang="en-US" sz="20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清晰</a:t>
            </a:r>
            <a:r>
              <a:rPr lang="en-US" sz="20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en-US" sz="20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資料也越</a:t>
            </a:r>
            <a:r>
              <a:rPr lang="zh-TW" altLang="en-US" sz="20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90008" y="3383280"/>
            <a:ext cx="4572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92928" y="3383280"/>
            <a:ext cx="457200" cy="457200"/>
          </a:xfrm>
          <a:prstGeom prst="rect">
            <a:avLst/>
          </a:prstGeom>
          <a:solidFill>
            <a:srgbClr val="4F4F4F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95848" y="3383280"/>
            <a:ext cx="457200" cy="457200"/>
          </a:xfrm>
          <a:prstGeom prst="rect">
            <a:avLst/>
          </a:prstGeom>
          <a:solidFill>
            <a:srgbClr val="A9A9A9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98768" y="3383280"/>
            <a:ext cx="457200" cy="457200"/>
          </a:xfrm>
          <a:prstGeom prst="rect">
            <a:avLst/>
          </a:prstGeom>
          <a:solidFill>
            <a:srgbClr val="F5F1E8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71600" y="4297680"/>
            <a:ext cx="9418320" cy="1737360"/>
          </a:xfrm>
          <a:prstGeom prst="roundRect">
            <a:avLst>
              <a:gd name="adj" fmla="val 4211"/>
            </a:avLst>
          </a:prstGeom>
          <a:solidFill>
            <a:srgbClr val="1A0D10"/>
          </a:solidFill>
          <a:ln w="19050">
            <a:solidFill>
              <a:srgbClr val="FF5C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37360" y="4453497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警報……資料越來越多，可是無線電每秒只能送幾百個訊號！
</a:t>
            </a:r>
            <a:endParaRPr lang="en-US" sz="1900" dirty="0"/>
          </a:p>
          <a:p>
            <a:pPr marL="0" indent="0" algn="ctr">
              <a:spcAft>
                <a:spcPts val="500"/>
              </a:spcAft>
              <a:buNone/>
            </a:pPr>
            <a:r>
              <a:rPr lang="en-US" sz="1500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太陽</a:t>
            </a:r>
            <a:r>
              <a:rPr lang="zh-TW" altLang="en-US" sz="15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風暴</a:t>
            </a:r>
            <a:r>
              <a:rPr lang="en-US" sz="1500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將至</a:t>
            </a:r>
            <a:r>
              <a:rPr lang="en-US" sz="1500" dirty="0" err="1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、通訊即將中斷數週，所有照片必須趕在中斷前傳完</a:t>
            </a:r>
            <a:r>
              <a:rPr lang="en-US" sz="15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
</a:t>
            </a:r>
            <a:endParaRPr lang="en-US" sz="19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下一節：頻寬告急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767</Words>
  <Application>Microsoft Office PowerPoint</Application>
  <PresentationFormat>寬螢幕</PresentationFormat>
  <Paragraphs>130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Microsoft JhengHei</vt:lpstr>
      <vt:lpstr>新細明體</vt:lpstr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Wen-Yi Chang</cp:lastModifiedBy>
  <cp:revision>36</cp:revision>
  <dcterms:created xsi:type="dcterms:W3CDTF">2026-07-12T04:02:15Z</dcterms:created>
  <dcterms:modified xsi:type="dcterms:W3CDTF">2026-07-12T05:31:49Z</dcterms:modified>
</cp:coreProperties>
</file>